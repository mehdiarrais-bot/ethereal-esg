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se situe 4 points au-dessus du score global (66/100). Rapportées au chiffre d'affaires, les émissions représentent 171 t CO2e par million d'euros, une intensité satisfaisante pour le secteur selon la grille du diagnostic.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a:t>
            </a:r>
          </a:p>
          <a:p/>
          <a:p>
            <a:r>
              <a:t>Le plan d'action retient un levier pour ce pilier : augmenter la part d'énergie renouvelable à 50 % (objectif : 50 % d'énergie renouvelable dans le mix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55/100, le pilier social se situe 11 points en dessous du score global (66/100).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un résultat fragile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a:t>
            </a:r>
          </a:p>
          <a:p/>
          <a:p>
            <a:r>
              <a:t>Le plan d'action retient un levier pour ce pilier : définir des objectifs chiffrés de parité femme-homme (objectif : cible de mixité définie et suivie annuellement ; échéance : 2026).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9 points au-dessus du score global (66/100).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5 axes de progrès, examine la couverture de 7 exigences de reporting (dont 2 encore ouvertes) et hiérarchise 4 risques majeurs (dont 2 de priorité 1).</a:t>
            </a:r>
          </a:p>
          <a:p/>
          <a:p>
            <a:r>
              <a:t>Le positionnement ci-dessous compare les trois piliers entre eux, sans référence externe : il indique où se concentre la marge de progression de l'entreprise.</a:t>
            </a:r>
          </a:p>
          <a:p/>
          <a:p>
            <a:r>
              <a:t>Le tableau ci-dessous examine 7 exigences de reporting du référentiel CSRD / ESRS : 4 sont couvertes par les données de l'exercice, 2 restent ouvertes ou partiellement couvertes.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2 sont classés en priorité 1 et appellent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8.png"/><Relationship Id="rId7"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66</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66</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+10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(66/100, A), porté par la gouvernance (75/100) ; le social (55/100)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8" name="Rounded Rectangle 17"/>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1" name="TextBox 20"/>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55</a:t>
            </a:r>
          </a:p>
        </p:txBody>
      </p:sp>
      <p:sp>
        <p:nvSpPr>
          <p:cNvPr id="22" name="Rounded Rectangle 21"/>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0" y="4873752"/>
            <a:ext cx="1709928"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5" name="TextBox 24"/>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6" name="Rounded Rectangle 25"/>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20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Indépendance du conseil (AFEP-MEDEF, appliquer ou expliquer)</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AFEP-MEDEF</a:t>
            </a:r>
          </a:p>
        </p:txBody>
      </p:sp>
      <p:sp>
        <p:nvSpPr>
          <p:cNvPr id="31" name="Rounded Rectangle 30"/>
          <p:cNvSpPr/>
          <p:nvPr/>
        </p:nvSpPr>
        <p:spPr>
          <a:xfrm>
            <a:off x="7178040" y="3941064"/>
            <a:ext cx="1600200" cy="36576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Sous le seuil</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45 % d'administrateurs indépendants</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6" name="Rounded Rectangle 35"/>
          <p:cNvSpPr/>
          <p:nvPr/>
        </p:nvSpPr>
        <p:spPr>
          <a:xfrm>
            <a:off x="7178040" y="456285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9" name="Rectangle 38"/>
          <p:cNvSpPr/>
          <p:nvPr/>
        </p:nvSpPr>
        <p:spPr>
          <a:xfrm>
            <a:off x="274320" y="5056632"/>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5120640"/>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41" name="TextBox 40"/>
          <p:cNvSpPr txBox="1"/>
          <p:nvPr/>
        </p:nvSpPr>
        <p:spPr>
          <a:xfrm>
            <a:off x="5349240" y="5202936"/>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42" name="Rounded Rectangle 41"/>
          <p:cNvSpPr/>
          <p:nvPr/>
        </p:nvSpPr>
        <p:spPr>
          <a:xfrm>
            <a:off x="7178040" y="5184648"/>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78040" y="5239512"/>
            <a:ext cx="1600200" cy="274320"/>
          </a:xfrm>
          <a:prstGeom prst="rect">
            <a:avLst/>
          </a:prstGeom>
          <a:noFill/>
        </p:spPr>
        <p:txBody>
          <a:bodyPr wrap="square">
            <a:spAutoFit/>
          </a:bodyPr>
          <a:lstStyle/>
          <a:p>
            <a:pPr algn="ctr"/>
            <a:r>
              <a:rPr sz="1050" b="1" i="0">
                <a:solidFill>
                  <a:srgbClr val="FFFFFF"/>
                </a:solidFill>
                <a:latin typeface="Segoe UI"/>
              </a:rPr>
              <a:t>Non couvert par ce reporting</a:t>
            </a:r>
          </a:p>
        </p:txBody>
      </p:sp>
      <p:sp>
        <p:nvSpPr>
          <p:cNvPr id="44" name="TextBox 43"/>
          <p:cNvSpPr txBox="1"/>
          <p:nvPr/>
        </p:nvSpPr>
        <p:spPr>
          <a:xfrm>
            <a:off x="8961120" y="5120640"/>
            <a:ext cx="2926080" cy="530352"/>
          </a:xfrm>
          <a:prstGeom prst="rect">
            <a:avLst/>
          </a:prstGeom>
          <a:noFill/>
        </p:spPr>
        <p:txBody>
          <a:bodyPr wrap="square">
            <a:spAutoFit/>
          </a:bodyPr>
          <a:lstStyle/>
          <a:p>
            <a:pPr algn="l"/>
            <a:r>
              <a:rPr sz="1000" b="0" i="0">
                <a:solidFill>
                  <a:srgbClr val="1E2B26"/>
                </a:solidFill>
                <a:latin typeface="Segoe UI"/>
              </a:rPr>
              <a:t>Cibles climatiques non documentées dans ce reporting</a:t>
            </a:r>
          </a:p>
        </p:txBody>
      </p:sp>
      <p:sp>
        <p:nvSpPr>
          <p:cNvPr id="45" name="TextBox 4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sécurité au travail (TF 6,2), priorité à traiter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55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sociale en construction : parité et sécurité au travail appellent des objectifs chiffrés pour fidéliser les talents.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Segoe U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5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opérationnel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5</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objectif 50 %)</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Taux de fréquence des accidents élevé (TF 6,2)</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2" name="Oval 31"/>
          <p:cNvSpPr/>
          <p:nvPr/>
        </p:nvSpPr>
        <p:spPr>
          <a:xfrm>
            <a:off x="6537960" y="5623560"/>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67144" y="5550408"/>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4" name="TextBox 3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463040"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463040" cy="237744"/>
          </a:xfrm>
          <a:prstGeom prst="rect">
            <a:avLst/>
          </a:prstGeom>
          <a:noFill/>
        </p:spPr>
        <p:txBody>
          <a:bodyPr wrap="square">
            <a:spAutoFit/>
          </a:bodyPr>
          <a:lstStyle/>
          <a:p>
            <a:pPr algn="ctr"/>
            <a:r>
              <a:rPr sz="950" b="1" i="0">
                <a:solidFill>
                  <a:srgbClr val="FFFFFF"/>
                </a:solidFill>
                <a:latin typeface="Segoe UI"/>
              </a:rPr>
              <a:t>Opérationnel</a:t>
            </a:r>
          </a:p>
        </p:txBody>
      </p:sp>
      <p:sp>
        <p:nvSpPr>
          <p:cNvPr id="18" name="Oval 17"/>
          <p:cNvSpPr/>
          <p:nvPr/>
        </p:nvSpPr>
        <p:spPr>
          <a:xfrm>
            <a:off x="5257800" y="342900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Sinistralité élevée : risque humain et social</a:t>
            </a:r>
          </a:p>
        </p:txBody>
      </p:sp>
      <p:sp>
        <p:nvSpPr>
          <p:cNvPr id="21" name="Rounded Rectangle 20"/>
          <p:cNvSpPr/>
          <p:nvPr/>
        </p:nvSpPr>
        <p:spPr>
          <a:xfrm>
            <a:off x="548640" y="438912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Intensité carbone élevée : marge exposée à la tarification du carbone</a:t>
            </a:r>
          </a:p>
        </p:txBody>
      </p:sp>
      <p:sp>
        <p:nvSpPr>
          <p:cNvPr id="26" name="Rounded Rectangle 25"/>
          <p:cNvSpPr/>
          <p:nvPr/>
        </p:nvSpPr>
        <p:spPr>
          <a:xfrm>
            <a:off x="548640" y="5349240"/>
            <a:ext cx="1563624"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563624" cy="237744"/>
          </a:xfrm>
          <a:prstGeom prst="rect">
            <a:avLst/>
          </a:prstGeom>
          <a:noFill/>
        </p:spPr>
        <p:txBody>
          <a:bodyPr wrap="square">
            <a:spAutoFit/>
          </a:bodyPr>
          <a:lstStyle/>
          <a:p>
            <a:pPr algn="ctr"/>
            <a:r>
              <a:rPr sz="950" b="1" i="0">
                <a:solidFill>
                  <a:srgbClr val="FFFFFF"/>
                </a:solidFill>
                <a:latin typeface="Segoe UI"/>
              </a:rPr>
              <a:t>Réglementaire</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Parité sous la cible : risque réglementaire et d'attractivité</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50 %</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désormais requise par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50 %</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(66/100, A), porté par la gouvernance (75/100) ; le social (55/100)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50 %</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