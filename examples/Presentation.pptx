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88952" cy="19202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RAPPORT ESG — SYNTHÈSE EXÉCUTIVE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8412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ACME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429000"/>
            <a:ext cx="182880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6576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AEC6E8"/>
                </a:solidFill>
                <a:latin typeface="Calibri"/>
              </a:rPr>
              <a:t>Une performance ESG solide et engagée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989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6E8"/>
                </a:solidFill>
                <a:latin typeface="Calibri"/>
              </a:rPr>
              <a:t>Exercice 2025   |   Industrie manufacturière   |   France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89204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200" b="1" i="0">
                <a:solidFill>
                  <a:srgbClr val="F39C12"/>
                </a:solidFill>
                <a:latin typeface="Calibri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72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EC6E8"/>
                </a:solidFill>
                <a:latin typeface="Calibri"/>
              </a:rPr>
              <a:t>/100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5074920"/>
            <a:ext cx="1417320" cy="8686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0" y="5193792"/>
            <a:ext cx="1417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B3A6B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8"/>
                </a:solidFill>
                <a:latin typeface="Calibri"/>
              </a:rPr>
              <a:t>Présenté par J. Martin — Directrice Générale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480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C3E50"/>
                </a:solidFill>
                <a:latin typeface="Calibri"/>
              </a:rPr>
              <a:t>Rapport ESG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C93"/>
                </a:solidFill>
                <a:latin typeface="Calibri"/>
              </a:rPr>
              <a:t>Acme Industries  •  Industrie manufacturière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39C12"/>
                </a:solidFill>
                <a:latin typeface="Calibri"/>
              </a:rPr>
              <a:t>LE MOT DE LA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EBF2FB"/>
                </a:solidFill>
                <a:latin typeface="Calibri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03120"/>
            <a:ext cx="88971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  <a:latin typeface="Calibri"/>
              </a:rPr>
              <a:t>« La performance durable est au cœur de notre stratégie industrielle : chaque euro investi doit créer de la valeur pour nos clients et pour la planète. »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8676" y="5212080"/>
            <a:ext cx="1371600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440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EC6E8"/>
                </a:solidFill>
                <a:latin typeface="Calibri"/>
              </a:rPr>
              <a:t>J. Martin — Directrice Générale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C3E50"/>
                </a:solidFill>
                <a:latin typeface="Calibri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SITUATION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Synthèse Exécutive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Environnemental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Pilier Gouvernance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DIAGNOSTIC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Positionnement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Risques &amp; Opportunités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Analyse Stratégique ESG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1920240"/>
            <a:ext cx="3611880" cy="4206240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1488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06324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PLAN D'ACTION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3520440"/>
            <a:ext cx="2971800" cy="182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3703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Recommandations Prioritaires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25196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Un plan d'action ESG sur 12 mois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80060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Alignement — ODD &amp; Cadres de Référence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534924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—  Conclusion &amp; Engagements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43400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70248" y="0"/>
            <a:ext cx="7315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SYNTHÈSE ESG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691640"/>
            <a:ext cx="39776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0" b="1" i="0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611880"/>
            <a:ext cx="39776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EC6E8"/>
                </a:solidFill>
                <a:latin typeface="Calibri"/>
              </a:rPr>
              <a:t>/ 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4343400"/>
            <a:ext cx="1508760" cy="7772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448056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B3A6B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534924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EC6E8"/>
                </a:solidFill>
                <a:latin typeface="Calibri"/>
              </a:rPr>
              <a:t>SCORE ESG GLOBAL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576072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CAF50"/>
                </a:solidFill>
                <a:latin typeface="Calibri"/>
              </a:rPr>
              <a:t>+10 pts  vs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9436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C3E50"/>
                </a:solidFill>
                <a:latin typeface="Calibri"/>
              </a:rPr>
              <a:t>Synthèse Exécutive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82312" y="1481328"/>
            <a:ext cx="146304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737360"/>
            <a:ext cx="7178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Acme Industries affiche un profil ESG solide (66/100, A), porté par la gouvernance (75/100) ; le social (55/100) concentre le potentiel de progression.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PERFORMANCE PAR PILIER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0332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Environnement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70332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7AE60"/>
                </a:solidFill>
                <a:latin typeface="Calibri"/>
              </a:rPr>
              <a:t>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032504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4032504"/>
            <a:ext cx="2176272" cy="15544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54456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Social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544568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86C1"/>
                </a:solidFill>
                <a:latin typeface="Calibri"/>
              </a:rPr>
              <a:t>55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873752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0" y="4873752"/>
            <a:ext cx="1709928" cy="155448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538581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858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E44AD"/>
                </a:solidFill>
                <a:latin typeface="Calibri"/>
              </a:rPr>
              <a:t>75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5715000"/>
            <a:ext cx="3108960" cy="15544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0" y="5715000"/>
            <a:ext cx="2331720" cy="155448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L'ANALYSE DU CONSULTANT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2C3E50"/>
                </a:solidFill>
                <a:latin typeface="Calibri"/>
              </a:rPr>
              <a:t>La priorité 2026 est la fiabilisation du reporting énergie avant l'audit de certification prévu au troisième trimestre.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J. Martin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Où vous situez-vous, et face à qui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La gouvernance est le point fort d'Acme Industries, le social sa priorité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6858000" cy="421982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600200"/>
            <a:ext cx="4434840" cy="21488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2360" y="1600200"/>
            <a:ext cx="82296" cy="2148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1764792"/>
            <a:ext cx="3977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14884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3E50"/>
                </a:solidFill>
                <a:latin typeface="Calibri"/>
              </a:rPr>
              <a:t>20 points séparent votre pilier le plus solide du plus fragile — l'écart interne à réduire en priorité.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402336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  <a:latin typeface="Calibri"/>
              </a:rPr>
              <a:t>MATURITÉ ESG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8472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4584" y="4434840"/>
            <a:ext cx="841248" cy="457200"/>
          </a:xfrm>
          <a:prstGeom prst="roundRect">
            <a:avLst/>
          </a:prstGeom>
          <a:solidFill>
            <a:srgbClr val="F39C1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44584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0696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0696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36808" y="4434840"/>
            <a:ext cx="841248" cy="45720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36808" y="4480560"/>
            <a:ext cx="841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029200"/>
            <a:ext cx="4434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Structurée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440680"/>
            <a:ext cx="4434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Pour franchir le cap suivant : faire auditer le reporting.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TRAJECTOIRE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ESG mesurée exercice après exercice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52089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30936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93"/>
                </a:solidFill>
                <a:latin typeface="Calibri"/>
              </a:rPr>
              <a:t>Évolution pluriannuelle du score ESG (global et par pilier)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POSITIONNEMENT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Analyse des écarts réglementaires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Bilan GES Scopes 1 &amp;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472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453896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50876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38988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Émissions mesurées et publiées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Émissions de la chaîne de valeur (Scope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09397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07568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13055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01168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Scope 3 mesuré et publié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69464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3347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Vérification du reporting par un tiers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1576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CSRD (assurance limitée)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2697480"/>
            <a:ext cx="16002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75234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Non conforme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633472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Aucune assurance externe à 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5526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Supervision de la durabilité par la gouvernance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3337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2 GOV-1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3319272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337413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255264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Comité de durabilité en place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13048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87705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Indépendance du conseil (seuil 50 %)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95935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AFEP-MEDEF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941064"/>
            <a:ext cx="160020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399592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Partiel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877056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45 % d'administrateurs indépendants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4988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Publication des indicateurs Taxonomie 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45811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Règlement (UE) 2020/852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78040" y="4562856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78040" y="461772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4498848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Parts alignées publiées (CA/CapEx/OpEx)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056632"/>
            <a:ext cx="11640312" cy="621792"/>
          </a:xfrm>
          <a:prstGeom prst="rect">
            <a:avLst/>
          </a:prstGeom>
          <a:solidFill>
            <a:srgbClr val="EB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120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C3E50"/>
                </a:solidFill>
                <a:latin typeface="Calibri"/>
              </a:rPr>
              <a:t>Objectifs climatiques chiffrés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52029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C93"/>
                </a:solidFill>
                <a:latin typeface="Calibri"/>
              </a:rPr>
              <a:t>ESRS E1-4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78040" y="5184648"/>
            <a:ext cx="1600200" cy="3657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78040" y="523951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Conforme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5120640"/>
            <a:ext cx="2926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Trajectoire -42 % à 2030 définie (réf. SBTi)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8895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0" b="1" i="0">
                <a:solidFill>
                  <a:srgbClr val="F39C12"/>
                </a:solidFill>
                <a:latin typeface="Calibri"/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052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9204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EC6E8"/>
                </a:solidFill>
                <a:latin typeface="Calibri"/>
              </a:rPr>
              <a:t>des émissions relèvent du Scope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1516" y="5623560"/>
            <a:ext cx="16459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5852160"/>
            <a:ext cx="8897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Calibri"/>
              </a:rPr>
              <a:t>La chaîne de valeur, principal terrain d'action climat.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ENVIRONNEMENTAL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Un bilan carbone complet, socle de la trajectoire climat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8,200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Émissions CO2 totales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Énergie renouvelable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21,500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Consommation (MWh)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7AE60"/>
                </a:solidFill>
                <a:latin typeface="Calibri"/>
              </a:rPr>
              <a:t>120,000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Eau prélevée (m3)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environnementale solide ; l'intensité carbone reste le principal levier de création de valeur durable.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72" b="1" i="0">
                <a:solidFill>
                  <a:srgbClr val="FFFFFF"/>
                </a:solidFill>
                <a:latin typeface="Calibri"/>
              </a:rPr>
              <a:t>La sécurité au travail (TF 6.2), priorité à traiter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Effectif 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dans l'effectif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22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Formation / 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86C1"/>
                </a:solidFill>
                <a:latin typeface="Calibri"/>
              </a:rPr>
              <a:t>6.2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Taux fréquence accidents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86C1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Performance sociale en construction : parité et sécurité au travail appellent des objectifs chiffrés pour fidéliser les talents.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14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8328" y="384048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PILIER GOUVERNANCE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84" b="1" i="0">
                <a:solidFill>
                  <a:srgbClr val="FFFFFF"/>
                </a:solidFill>
                <a:latin typeface="Calibri"/>
              </a:rPr>
              <a:t>L'assurance ESG indépendante, priorité de la gouvernance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3434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482803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 /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7C93"/>
                </a:solidFill>
                <a:latin typeface="Calibri"/>
              </a:rPr>
              <a:t>INDICATEURS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932688"/>
            <a:ext cx="1280160" cy="411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1655064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Membres du Conseil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234440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399032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40496" y="1481328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1655064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55480" y="1453896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44%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205740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Femmes au 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4573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172968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6072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986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Administrateurs indépendants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752344"/>
            <a:ext cx="3566160" cy="1298448"/>
          </a:xfrm>
          <a:prstGeom prst="roundRect">
            <a:avLst/>
          </a:prstGeom>
          <a:solidFill>
            <a:srgbClr val="EBF2FB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916936"/>
            <a:ext cx="54864" cy="9692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0496" y="2999232"/>
            <a:ext cx="822960" cy="82296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232" y="3172968"/>
            <a:ext cx="475488" cy="4754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555480" y="297180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8E44AD"/>
                </a:solidFill>
                <a:latin typeface="Calibri"/>
              </a:rPr>
              <a:t>Non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4624" y="357530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B7C93"/>
                </a:solidFill>
                <a:latin typeface="Calibri"/>
              </a:rPr>
              <a:t>Audit ESG indépendant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434840"/>
            <a:ext cx="7360920" cy="1847088"/>
          </a:xfrm>
          <a:prstGeom prst="roundRect">
            <a:avLst/>
          </a:prstGeom>
          <a:solidFill>
            <a:srgbClr val="EBF2FB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4434840"/>
            <a:ext cx="100584" cy="18470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10328" y="4654296"/>
            <a:ext cx="6720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8E44AD"/>
                </a:solidFill>
                <a:latin typeface="Calibri"/>
              </a:rPr>
              <a:t>LECTURE MÉTIER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0328" y="5093208"/>
            <a:ext cx="662940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Gouvernance exemplaire : indépendance, audit et supervision ESG inspirent confiance aux investisseurs.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PRIORISATION DES ENJEUX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Le changement climatique concentre les enjeux ESG prioritaires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7394055" cy="44805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828800"/>
            <a:ext cx="3337560" cy="402336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49640" y="1828800"/>
            <a:ext cx="82296" cy="4023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201168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46888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Enjeux positionnés selon leur exposition estimée et leur sensibilité économique, à partir des données déclarées.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OBJECTIFS &amp; TRAJECTOIRE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trajectoire de -42 % des émissions d'ici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39C12"/>
                </a:solidFill>
                <a:latin typeface="Calibri"/>
              </a:rPr>
              <a:t>-42%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Réduction des émissions CO₂ visée d'ici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Objectif 2030 : 4,756 t CO₂e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4892040" cy="16916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82296" cy="1691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646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30368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Trajectoire alignée sur l'objectif 1,5°C de l'Accord de Paris (méthodologie Science Based Targets), avec un suivi annuel piloté par la gouvernance ESG.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03120"/>
            <a:ext cx="6035040" cy="2981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TAXONOMIE EUROPÉENNE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52 % des investissements (CapEx) déjà alignés à la Taxonomie 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27AE60"/>
                </a:solidFill>
                <a:latin typeface="Calibri"/>
              </a:rPr>
              <a:t>52%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Part maximale d'activités alignées à la Taxonomie 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97680"/>
            <a:ext cx="4892040" cy="210312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82296" cy="2103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622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7AE60"/>
                </a:solidFill>
                <a:latin typeface="Calibri"/>
              </a:rPr>
              <a:t>LECTURE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4434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Ces indicateurs traduisent une contribution substantielle à un objectif environnemental, dans le respect du principe DNSH et des garanties minimales sociales. Le CapEx aligné reflète la trajectoire d'investissement bas-carbone.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6000"/>
            <a:ext cx="6126480" cy="27284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ANALYSE STRATÉGIQUE ESG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5 forces établies, 5 leviers de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7AE60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POINTS FORTS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770632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Excellente performance environnementale globale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483864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Comité de durabilité opérationnel au niveau du CA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4197096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Parité exemplaire au Conseil d'Administration (44%)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4910328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837176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Gouvernance de haute qualité et transparente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5623560"/>
            <a:ext cx="146304" cy="14630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550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complet des émissions Scope 1, 2 et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1325880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74C3C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15727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AXES D'AMÉLIORATION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9672" y="24231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770632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67144" y="2697480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Énergie renouvelable à renforcer (actuellement 42%, objectif 50%)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83864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67144" y="341071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Déséquilibre de genre dans les effectifs (34% de femmes)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4197096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67144" y="4123944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Taux de fréquence des accidents élevé (TF 6.2)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4910328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67144" y="4837176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Une violation de données — cybersécurité à renforcer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5623560"/>
            <a:ext cx="146304" cy="146304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67144" y="5550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Absence d'audit ESG indépendant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RISQUES &amp; OPPORTUNITÉS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16" b="1" i="0">
                <a:solidFill>
                  <a:srgbClr val="FFFFFF"/>
                </a:solidFill>
                <a:latin typeface="Calibri"/>
              </a:rPr>
              <a:t>Où se concentrent vos risques et vos leviers de valeur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RISQUES MAJEURS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120640" cy="182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468880"/>
            <a:ext cx="1161288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161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Fiabilité</a:t>
            </a:r>
          </a:p>
        </p:txBody>
      </p:sp>
      <p:sp>
        <p:nvSpPr>
          <p:cNvPr id="14" name="Oval 13"/>
          <p:cNvSpPr/>
          <p:nvPr/>
        </p:nvSpPr>
        <p:spPr>
          <a:xfrm>
            <a:off x="5257800" y="246888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49631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Reporting non audité : crédibilité limitée auprès des investisseurs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463040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472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Opérationnel</a:t>
            </a:r>
          </a:p>
        </p:txBody>
      </p:sp>
      <p:sp>
        <p:nvSpPr>
          <p:cNvPr id="19" name="Oval 18"/>
          <p:cNvSpPr/>
          <p:nvPr/>
        </p:nvSpPr>
        <p:spPr>
          <a:xfrm>
            <a:off x="5257800" y="3429000"/>
            <a:ext cx="384048" cy="2743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345643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Sinistralité élevée : risque humain et social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89120"/>
            <a:ext cx="1261872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07408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Transition</a:t>
            </a:r>
          </a:p>
        </p:txBody>
      </p:sp>
      <p:sp>
        <p:nvSpPr>
          <p:cNvPr id="24" name="Oval 23"/>
          <p:cNvSpPr/>
          <p:nvPr/>
        </p:nvSpPr>
        <p:spPr>
          <a:xfrm>
            <a:off x="5257800" y="438912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Intensité carbone élevée : marge exposée à la tarification du carbone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49240"/>
            <a:ext cx="1563624" cy="2743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67528"/>
            <a:ext cx="1563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Réglementaire</a:t>
            </a:r>
          </a:p>
        </p:txBody>
      </p:sp>
      <p:sp>
        <p:nvSpPr>
          <p:cNvPr id="29" name="Oval 28"/>
          <p:cNvSpPr/>
          <p:nvPr/>
        </p:nvSpPr>
        <p:spPr>
          <a:xfrm>
            <a:off x="5257800" y="5349240"/>
            <a:ext cx="384048" cy="2743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800" y="5376672"/>
            <a:ext cx="3840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Parité sous la cible : risque réglementaire et d'attractivité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1143000"/>
            <a:ext cx="5669280" cy="5257800"/>
          </a:xfrm>
          <a:prstGeom prst="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19672" y="1371600"/>
            <a:ext cx="566928" cy="56692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9672" y="140817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14813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OPPORTUNITÉS MAJEURES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19672" y="2194560"/>
            <a:ext cx="512064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9672" y="2468880"/>
            <a:ext cx="1362456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2487168"/>
            <a:ext cx="1362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Financement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9672" y="281635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Gouvernance solide : accès facilité aux financements ESG (green bonds, prêts indexés)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19672" y="3429000"/>
            <a:ext cx="1362456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3447288"/>
            <a:ext cx="1362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Financement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37764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Activités alignées Taxonomie : éligibilité aux financements verts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19672" y="4389120"/>
            <a:ext cx="758952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9672" y="4407408"/>
            <a:ext cx="758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Coûts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672" y="473659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Mix renouvelable engagé : réduction des coûts énergétiques à terme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19672" y="5349240"/>
            <a:ext cx="960120" cy="2743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19672" y="536752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Talents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9672" y="569671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Politique sociale : marque employeur et rétention des talents renforcées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>
                <a:solidFill>
                  <a:srgbClr val="EBF2FB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PLAN D'ACTION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20116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EC6E8"/>
                </a:solidFill>
                <a:latin typeface="Calibri"/>
              </a:rPr>
              <a:t>Quoi faire, dans quel ordre, sous quel horizon.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PRIORISATION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Par où commencer : l'effort au regard de l'impact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8412480" cy="489644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00200"/>
            <a:ext cx="2971800" cy="420624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00200"/>
            <a:ext cx="82296" cy="4206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71432" y="17830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194560"/>
            <a:ext cx="2514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Trois actions combinent fort impact et effort limité — les actions 2, 3 et 4 — et peuvent être lancées immédiatement à moyens constants. Le chantier structurant du quadrant haut-droit justifie un budget et un responsable dédiés : il porte l'essentiel du potentiel de progression du score.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Recommandations Prioritaires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C93"/>
                </a:solidFill>
                <a:latin typeface="Calibri"/>
              </a:rPr>
              <a:t>Plan d'action priorisé — chaque levier, son bénéfice attendu et son horizon de mise en œuvre.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002536"/>
            <a:ext cx="502920" cy="5029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9280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Réduit les émissions Scope 2 et l'exposition aux prix de l'énergie ; contribue directement à la trajectoire SBTi.  —  Direction des opérations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2039112"/>
            <a:ext cx="1554480" cy="420624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1810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535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346704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la diversité des équipes et l'attractivité employeur ; améliore la fidélisation des talents.  —  Direction des ressources humaines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29800" y="3099816"/>
            <a:ext cx="1554480" cy="420624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316382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04488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4123944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788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01421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407408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Apporte l'assurance d'un tiers désormais requise par la CSRD ; renforce la confiance des investisseurs.  —  Direction générale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4160520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42245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Annuel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65192"/>
            <a:ext cx="11064240" cy="932688"/>
          </a:xfrm>
          <a:prstGeom prst="rect">
            <a:avLst/>
          </a:prstGeom>
          <a:solidFill>
            <a:srgbClr val="EBF2FB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395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07492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46811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93"/>
                </a:solidFill>
                <a:latin typeface="Calibri"/>
              </a:rPr>
              <a:t>Renforce l'alignement sur les cadres de référence (ODD, TCFD) et la comparabilité du reporting.  —  Direction RSE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5221224"/>
            <a:ext cx="1554480" cy="42062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52852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Continu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FEUILLE DE ROUTE 12 MOIS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40" b="1" i="0">
                <a:solidFill>
                  <a:srgbClr val="FFFFFF"/>
                </a:solidFill>
                <a:latin typeface="Calibri"/>
              </a:rPr>
              <a:t>Un plan d'action ESG sur 12 mois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0-3 mois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Quick wins &amp; fondations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487168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2072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3-6 mois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Structuration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9392" y="2487168"/>
            <a:ext cx="64008" cy="60350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21424" y="2907792"/>
            <a:ext cx="1051560" cy="2377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292608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B3A6B"/>
                </a:solidFill>
                <a:latin typeface="Calibri"/>
              </a:rPr>
              <a:t>QUICK WIN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9392" y="3310128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3419856"/>
            <a:ext cx="64008" cy="6035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341985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Aligner la stratégie ESG sur les ODD &amp; la TCFD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1371600"/>
            <a:ext cx="3703320" cy="82296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1463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39C12"/>
                </a:solidFill>
                <a:latin typeface="Calibri"/>
              </a:rPr>
              <a:t>6-12 mois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7344" y="1874519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EC6E8"/>
                </a:solidFill>
                <a:latin typeface="Calibri"/>
              </a:rPr>
              <a:t>Deploiement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38744" y="2377440"/>
            <a:ext cx="3703320" cy="822960"/>
          </a:xfrm>
          <a:prstGeom prst="roundRect">
            <a:avLst/>
          </a:prstGeom>
          <a:solidFill>
            <a:srgbClr val="EBF2FB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38744" y="2487168"/>
            <a:ext cx="64008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94776" y="24871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64008" cy="5715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8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ALIGNEMENT — ODD &amp; CADRES DE RÉFÉRENCE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84048"/>
            <a:ext cx="11612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28" b="1" i="0">
                <a:solidFill>
                  <a:srgbClr val="FFFFFF"/>
                </a:solidFill>
                <a:latin typeface="Calibri"/>
              </a:rPr>
              <a:t>Une stratégie ESG ancrée dans les ODD de l'ONU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657600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Énergie propre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657600" cy="1463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Travail décent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280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8745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Inégalités réduites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Conso. responsable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Action climatique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834640"/>
            <a:ext cx="3657600" cy="14630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926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ODD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520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Paix &amp; Institutions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572000"/>
            <a:ext cx="11640312" cy="2743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709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3E50"/>
                </a:solidFill>
                <a:latin typeface="Calibri"/>
              </a:rPr>
              <a:t>Cadres reportés : GRI Standards  |  TCFD  |  CSRD / DPEF  |  SFDR  |  ISO 14001 / 26000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5349240"/>
            <a:ext cx="11640312" cy="1143000"/>
          </a:xfrm>
          <a:prstGeom prst="roundRect">
            <a:avLst/>
          </a:prstGeom>
          <a:solidFill>
            <a:srgbClr val="EBF2FB"/>
          </a:solidFill>
          <a:ln w="15875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5349240"/>
            <a:ext cx="82296" cy="1143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0468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LECTURE MÉTIER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L'alignement sur les ODD et les cadres GRI, TCFD et CSRD garantit la comparabilité du reporting et répond aux attentes des investisseurs et des régulateurs.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Conclusion &amp; Engagements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481328"/>
            <a:ext cx="164592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Acme Industries affiche un profil ESG solide (66/100, A), porté par la gouvernance (75/100) ; le social (55/100) concentre le potentiel de progression.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NOS ENGAGEMENTS PRIORITAIRES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947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Augmenter la part d'énergie renouvelable à 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38679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4453128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581144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6268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Définir des objectifs chiffrés de parité femme-homme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46542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5239512"/>
            <a:ext cx="10149840" cy="10972"/>
          </a:xfrm>
          <a:prstGeom prst="rect">
            <a:avLst/>
          </a:prstGeom>
          <a:solidFill>
            <a:srgbClr val="555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36752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39C12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132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Commander un audit ESG indépendant annuel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5440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AEC6E8"/>
                </a:solidFill>
                <a:latin typeface="Calibri"/>
              </a:rPr>
              <a:t>Annuel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EC6E8"/>
                </a:solidFill>
                <a:latin typeface="Calibri"/>
              </a:rPr>
              <a:t>© 2025 Acme Industries — Document confidentiel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C93"/>
                </a:solidFill>
                <a:latin typeface="Calibri"/>
              </a:rPr>
              <a:t>Acme Industries   | 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