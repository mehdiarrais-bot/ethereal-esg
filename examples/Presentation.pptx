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Acme Industries présente son rapport de durabilité pour l'exercice 2025. Acteur du secteur industrie manufacturière (France), l'entreprise emploie 320 collaborateurs et a réalisé un chiffre d'affaires de 48 millions d'euros sur l'exercice.</a:t>
            </a:r>
          </a:p>
          <a:p/>
          <a:p>
            <a:r>
              <a:t>Le diagnostic suit 29 indicateurs répartis entre l'environnement, le social et la gouvernance ; 20 sont renseignés pour cet exercice, soit un taux de complétude de 69 %. La lecture des piliers est fiable sur les indicateurs renseignés ; les données manquantes sont signalées section par section.</a:t>
            </a:r>
          </a:p>
          <a:p/>
          <a:p>
            <a:r>
              <a:t>Le rapport suit trois temps. La situation présente la performance de chaque pilier et les indicateurs qui la fondent. Le diagnostic confronte ces résultats aux exigences de reporting du référentiel CSRD / ESRS, aux risques et aux opportunités identifiés. Le plan d'action traduit ces constats en recommandations priorisées et en feuille de route sur douze mois. Les objectifs de l'entreprise sont fixés à l'horizon 2030.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dossier d'Acme Industries fait ressortir 2 enjeux et un point d'appui. Les enjeux repérés relèvent surtout du pilier de gouvernance : l'intégrité et la sécurité de l'information et le pilotage de la démarche. C'est là que le plan d'action doit porter en premier.</a:t>
            </a:r>
          </a:p>
          <a:p/>
          <a:p>
            <a:r>
              <a:t>Les points d'appui sont la maîtrise des risques professionnels : ce sont eux qui donnent de la crédibilité au plan d'action.</a:t>
            </a:r>
          </a:p>
          <a:p/>
          <a:p>
            <a:r>
              <a:t>Des incidents d'intégrité déclarés. Une violation de données a été déclarée sur l'exercice. Chaque violation de données entame la confiance des clients.</a:t>
            </a:r>
          </a:p>
          <a:p/>
          <a:p>
            <a:r>
              <a:t>Des données ESG non vérifiées. Les indicateurs publiés n'ont été contrôlés par aucun tiers. Les chiffres publiés restent exposés à la contestation des partenaires financiers et des grands clients, qui accordent davantage de crédit à une information vérifiée.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Avec 70/100, le pilier environnemental est aligné sur le score global. Rapportées au chiffre d'affaires, les émissions représentent 171 t CO2e par million d'euros, une intensité satisfaisante selon la grille interne du diagnostic, différenciée par famille de secteurs. La part d'énergie renouvelable atteint 42 %, un niveau satisfaisant selon la grille de lecture du diagnostic. 63 % des déchets sont valorisés, ce que la grille du diagnostic classe comme solide.</a:t>
            </a:r>
          </a:p>
          <a:p/>
          <a:p>
            <a:r>
              <a:t>La consommation d'énergie atteint 21 500 MWh, soit 67,2 MWh par salarié. La consommation d'eau de l'exercice est de 120 000 m3. Restent à documenter : le volume de déchets et les initiatives en faveur de la biodiversité. Leur collecte, au prochain exercice, fiabilisera la lecture de ce pilier. L'entreprise s'est fixé, à horizon 2030, les cibles suivantes : part d'énergie renouvelable : 60 % (42 % sur l'exercice, soit 18 points à gagner d'ici 2030).</a:t>
            </a:r>
          </a:p>
          <a:p/>
          <a:p>
            <a:r>
              <a:t>Le plan d'action retient un levier pour ce pilier : atteindre la cible de 60 % d'énergie renouvelable fixée pour 2030 (objectif : cible de l'entreprise : 60 % en 2030 ; échéance : 2027).</a:t>
            </a:r>
          </a:p>
          <a:p/>
          <a:p>
            <a:r>
              <a:t>L'empreinte mesurée s'élève à 8 200 t CO2e sur les scopes renseignés. Le Scope 3 en concentre la plus grande part (60 %) : c'est le périmètre sur lequel les leviers de réduction auront le plus d'effet. Rapportées à l'effectif, les émissions représentent 25,6 t CO2e par salarié.</a:t>
            </a:r>
          </a:p>
          <a:p/>
          <a:p>
            <a:r>
              <a:t>Où se forme l'empreinte carbone — Sur les 8 200 t CO2e mesurées sur les scopes renseignés, le Scope 3 en représente 60 %, le Scope 2, 26 % et le Scope 1, 15 %. La majeure partie de l'empreinte se situe hors des murs, dans la chaîne de valeur : chez un industriel, elle recouvre matières premières et composants achetés, transport amont et aval, et parfois usage et fin de vie des produits vendus. L'entreprise ne peut la réduire seule : elle dépend des choix de ses fournisseurs, de la conception de ses offres et de l'usage qu'en font ses clients. Elle en porte pourtant le risque, car une hausse du coût du carbone chez les fournisseurs finit par se retrouver dans les prix d'achat. Le chantier commence par les données : identifier les fournisseurs et les catégories d'achat qui pèsent le plus, obtenir leurs propres bilans, puis intégrer un critère carbone aux consultations.</a:t>
            </a:r>
          </a:p>
          <a:p/>
          <a:p>
            <a:r>
              <a:t>Intensité carbone : ce que dit le ratio — Rapportées à l'activité, les 8 200 t CO2e déclarées représentent 171 t par million d'euros de chiffre d'affaires, soit 25,6 t par salarié. Pour un industriel, la grille sectorielle du diagnostic classe ce niveau comme satisfaisant. L'entreprise n'est ni en avance ni en retard sur les acteurs comparables. C'est pourtant une position exposée à moyen terme : les attentes se déplacent, et ce qui est dans la moyenne aujourd'hui deviendra un retard dès que les concurrents auront engagé leur propre décarbonation.</a:t>
            </a:r>
          </a:p>
          <a:p/>
          <a:p>
            <a:r>
              <a:t>Énergie : sobriété, efficacité, origine — L'entreprise a consommé 21 500 MWh sur l'exercice, soit 67,2 MWh par salarié et 448 MWh par million d'euros de chiffre d'affaires. 42 % de l'énergie consommée est d'origine renouvelable, un niveau satisfaisant selon la grille du diagnostic. Le niveau atteint montre qu'une politique d'achat existe ; il reste à la sécuriser dans la durée, par des contrats pluriannuels et une traçabilité de l'origine de l'énergie. Dans l'industrie, les gisements d'efficacité se cachent souvent dans les utilités — air comprimé, froid, vapeur — et dans les moteurs, où la variation de vitesse et la chasse aux fuites produisent des gains rapides. Dans une démarche bien ordonnée, la sobriété précède l'efficacité, qui précède le verdissement : chaque mégawattheure évité est un gain à la fois économique et climatique, alors qu'un mégawattheure verdi reste une dépense.</a:t>
            </a:r>
          </a:p>
          <a:p/>
          <a:p>
            <a:r>
              <a:t>Déchets et ressources — Chez un industriel, les gisements principaux sont en général les chutes de production, les emballages des matières premières, les déchets dangereux (huiles, solvants) et les rebuts de qualité. 63 % des déchets sont valorisés, un taux solide selon la grille du diagnostic. Le tri et les filières sont en place. L'enjeu suivant est la réduction à la source, car un déchet bien recyclé reste une matière achetée puis perdue.</a:t>
            </a:r>
          </a:p>
          <a:p/>
          <a:p>
            <a:r>
              <a:t>Eau — 120 000 m³ d'eau ont été consommés sur l'exercice, soit 375 m³ par salarié. Chez un industriel, l'eau sert principalement à le refroidissement, le lavage des pièces et certains procédés. Le diagnostic ne classe pas ce volume, faute de grille sectorielle défendable. Il invite en revanche à le suivre site par site : un même volume n'a pas le même enjeu dans un bassin en tension hydrique et dans un bassin excédentaire, et c'est cette géographie qui détermine le risque d'approvisionnement.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Où se forme l'empreinte carbone — Sur les 8 200 t CO2e mesurées sur les scopes renseignés, le Scope 3 en représente 60 %, le Scope 2, 26 % et le Scope 1, 15 %. La majeure partie de l'empreinte se situe hors des murs, dans la chaîne de valeur : chez un industriel, elle recouvre matières premières et composants achetés, transport amont et aval, et parfois usage et fin de vie des produits vendus. L'entreprise ne peut la réduire seule : elle dépend des choix de ses fournisseurs, de la conception de ses offres et de l'usage qu'en font ses clients. Elle en porte pourtant le risque, car une hausse du coût du carbone chez les fournisseurs finit par se retrouver dans les prix d'achat. Le chantier commence par les données : identifier les fournisseurs et les catégories d'achat qui pèsent le plus, obtenir leurs propres bilans, puis intégrer un critère carbone aux consultations.</a:t>
            </a:r>
          </a:p>
          <a:p/>
          <a:p>
            <a:r>
              <a:t>Intensité carbone : ce que dit le ratio — Rapportées à l'activité, les 8 200 t CO2e déclarées représentent 171 t par million d'euros de chiffre d'affaires, soit 25,6 t par salarié. Pour un industriel, la grille sectorielle du diagnostic classe ce niveau comme satisfaisant. L'entreprise n'est ni en avance ni en retard sur les acteurs comparables. C'est pourtant une position exposée à moyen terme : les attentes se déplacent, et ce qui est dans la moyenne aujourd'hui deviendra un retard dès que les concurrents auront engagé leur propre décarbonation.</a:t>
            </a:r>
          </a:p>
          <a:p/>
          <a:p>
            <a:r>
              <a:t>Énergie : sobriété, efficacité, origine — L'entreprise a consommé 21 500 MWh sur l'exercice, soit 67,2 MWh par salarié et 448 MWh par million d'euros de chiffre d'affaires. 42 % de l'énergie consommée est d'origine renouvelable, un niveau satisfaisant selon la grille du diagnostic. Le niveau atteint montre qu'une politique d'achat existe ; il reste à la sécuriser dans la durée, par des contrats pluriannuels et une traçabilité de l'origine de l'énergie. Dans l'industrie, les gisements d'efficacité se cachent souvent dans les utilités — air comprimé, froid, vapeur — et dans les moteurs, où la variation de vitesse et la chasse aux fuites produisent des gains rapides. Dans une démarche bien ordonnée, la sobriété précède l'efficacité, qui précède le verdissement : chaque mégawattheure évité est un gain à la fois économique et climatique, alors qu'un mégawattheure verdi reste une dépense.</a:t>
            </a:r>
          </a:p>
          <a:p/>
          <a:p>
            <a:r>
              <a:t>Déchets et ressources — Chez un industriel, les gisements principaux sont en général les chutes de production, les emballages des matières premières, les déchets dangereux (huiles, solvants) et les rebuts de qualité. 63 % des déchets sont valorisés, un taux solide selon la grille du diagnostic. Le tri et les filières sont en place. L'enjeu suivant est la réduction à la source, car un déchet bien recyclé reste une matière achetée puis perdue.</a:t>
            </a:r>
          </a:p>
          <a:p/>
          <a:p>
            <a:r>
              <a:t>Eau — 120 000 m³ d'eau ont été consommés sur l'exercice, soit 375 m³ par salarié. Chez un industriel, l'eau sert principalement à le refroidissement, le lavage des pièces et certains procédés. Le diagnostic ne classe pas ce volume, faute de grille sectorielle défendable. Il invite en revanche à le suivre site par site : un même volume n'a pas le même enjeu dans un bassin en tension hydrique et dans un bassin excédentaire, et c'est cette géographie qui détermine le risque d'approvisionnement.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Avec 65/100, le pilier social se situe 4 points en dessous du score global (70/100). Les femmes représentent 34 % de l'effectif, une situation satisfaisante selon la grille de lecture retenue. Chaque salarié a suivi en moyenne 22 h de formation sur l'exercice, un effort satisfaisant au regard de la grille du diagnostic. Le taux de fréquence des accidents s'établit à 6,2 (moyenne nationale publiée par l'Assurance Maladie pour 2024 : 16,0), un résultat solide selon la grille de lecture retenue. Le taux de rotation du personnel est de 11 %, un niveau satisfaisant selon la grille du diagnostic.</a:t>
            </a:r>
          </a:p>
          <a:p/>
          <a:p>
            <a:r>
              <a:t>L'effectif s'établit à 320 collaborateurs sur l'exercice. Restent à documenter : le nombre d'accidents du travail, l'investissement communautaire, la part d'achats locaux, la satisfaction client et l'emploi de personnes en situation de handicap. Leur collecte, au prochain exercice, fiabilisera la lecture de ce pilier. L'entreprise s'est fixé, à horizon 2030, les cibles suivantes : heures de formation par salarié : 30 h (22 h sur l'exercice, soit 8 h à gagner d'ici 2030).</a:t>
            </a:r>
          </a:p>
          <a:p/>
          <a:p>
            <a:r>
              <a:t>Le plan d'action retient un levier pour ce pilier : définir des objectifs chiffrés de parité femme-homme (objectif : cible de mixité définie et suivie annuellement ; échéance : 2026).</a:t>
            </a:r>
          </a:p>
          <a:p/>
          <a:p>
            <a:r>
              <a:t>Santé et sécurité au travail — Le taux de fréquence des accidents s'établit à 6,2, moins de la moitié de la moyenne nationale publiée par l'Assurance Maladie pour 2024 (16,0). Chez un industriel, la manutention, les machines, les chutes et les interventions de maintenance concentrent traditionnellement l'essentiel des risques. Ce résultat témoigne d'une prévention installée. Il doit être protégé : un bon taux de fréquence peut coexister avec des risques graves mais rares, ou avec des troubles musculosquelettiques qui ne se traduisent pas immédiatement en arrêts. Le suivi de la gravité et des presque-accidents complète utilement l'indicateur.</a:t>
            </a:r>
          </a:p>
          <a:p/>
          <a:p>
            <a:r>
              <a:t>Fidélisation et compétences — Avec un taux de rotation de 11 %, l'entreprise a vu partir l'équivalent d'environ 35 salariés sur l'exercice. Chaque salarié a suivi en moyenne 22 h de formation, soit de l'ordre de 7 040 heures au total. Aucun des deux indicateurs n'appelle d'alerte, sans que l'un ou l'autre constitue un avantage distinctif. Les suivre par métier et par site permettrait de repérer les poches de fragilité que la moyenne masque.</a:t>
            </a:r>
          </a:p>
          <a:p/>
          <a:p>
            <a:r>
              <a:t>Mixité des équipes — Les femmes représentent 34 % de l'effectif, soit environ 109 salariées. C'est en deçà du repère interne de 40 % retenu par ce diagnostic — un repère d'analyse, non une obligation légale. L'industrie reste un secteur historiquement très masculin, en particulier dans les métiers de la production et de la maintenance. Le déséquilibre relève en partie des filières de formation, mais il réduit d'autant le vivier accessible pour des postes souvent difficiles à pourvoir. Un effectif déséquilibré se prive d'une partie des candidats, et donc de compétences, au moment où les recrutements se tendent. Fait notable, le conseil (44 % de femmes) est plus féminisé que l'effectif : la gouvernance donne un signal que l'organisation ne suit pas encore.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Santé et sécurité au travail — Le taux de fréquence des accidents s'établit à 6,2, moins de la moitié de la moyenne nationale publiée par l'Assurance Maladie pour 2024 (16,0). Chez un industriel, la manutention, les machines, les chutes et les interventions de maintenance concentrent traditionnellement l'essentiel des risques. Ce résultat témoigne d'une prévention installée. Il doit être protégé : un bon taux de fréquence peut coexister avec des risques graves mais rares, ou avec des troubles musculosquelettiques qui ne se traduisent pas immédiatement en arrêts. Le suivi de la gravité et des presque-accidents complète utilement l'indicateur.</a:t>
            </a:r>
          </a:p>
          <a:p/>
          <a:p>
            <a:r>
              <a:t>Fidélisation et compétences — Avec un taux de rotation de 11 %, l'entreprise a vu partir l'équivalent d'environ 35 salariés sur l'exercice. Chaque salarié a suivi en moyenne 22 h de formation, soit de l'ordre de 7 040 heures au total. Aucun des deux indicateurs n'appelle d'alerte, sans que l'un ou l'autre constitue un avantage distinctif. Les suivre par métier et par site permettrait de repérer les poches de fragilité que la moyenne masque.</a:t>
            </a:r>
          </a:p>
          <a:p/>
          <a:p>
            <a:r>
              <a:t>Mixité des équipes — Les femmes représentent 34 % de l'effectif, soit environ 109 salariées. C'est en deçà du repère interne de 40 % retenu par ce diagnostic — un repère d'analyse, non une obligation légale. L'industrie reste un secteur historiquement très masculin, en particulier dans les métiers de la production et de la maintenance. Le déséquilibre relève en partie des filières de formation, mais il réduit d'autant le vivier accessible pour des postes souvent difficiles à pourvoir. Un effectif déséquilibré se prive d'une partie des candidats, et donc de compétences, au moment où les recrutements se tendent. Fait notable, le conseil (44 % de femmes) est plus féminisé que l'effectif : la gouvernance donne un signal que l'organisation ne suit pas encore.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Avec 75/100, le pilier de gouvernance se situe 6 points au-dessus du score global (70/100). Les administrateurs indépendants représentent 45 % du conseil, une proportion satisfaisante selon la grille du diagnostic. Les femmes occupent 44 % des sièges du conseil, une représentation exemplaire selon la grille de lecture retenue.</a:t>
            </a:r>
          </a:p>
          <a:p/>
          <a:p>
            <a:r>
              <a:t>Le conseil compte 9 membres. Un comité de durabilité est en place : il donne un cadre de pilotage aux engagements présentés dans ce rapport. Aucun audit ESG indépendant n'a été conduit sur l'exercice. Aucun manquement éthique n'a été enregistré. Un incident de cybersécurité a été déclaré. Restent à documenter : les cas de corruption et le budget RSE. Leur collecte, au prochain exercice, fiabilisera la lecture de ce pilier.</a:t>
            </a:r>
          </a:p>
          <a:p/>
          <a:p>
            <a:r>
              <a:t>Le plan d'action retient 2 leviers pour ce pilier : commander un audit ESG indépendant annuel (objectif : assurance limitée obtenue sur le reporting ; échéance : annuel); aligner la stratégie ESG sur les ODD &amp; la TCFD (objectif : alignement ODD / TCFD documenté ; échéance : continu).</a:t>
            </a:r>
          </a:p>
          <a:p/>
          <a:p>
            <a:r>
              <a:t>Pilotage de la démarche de durabilité — Un comité de durabilité existe, mais les données ESG ne font pas l'objet d'une vérification externe. Le pilotage repose donc sur des chiffres que personne d'extérieur n'a contrôlés : c'est une fragilité face aux banques, aux investisseurs et aux grands clients, qui accordent plus de crédit à une information vérifiée. Une revue externe ciblée sur quelques indicateurs clés constitue une première étape proportionnée.</a:t>
            </a:r>
          </a:p>
          <a:p/>
          <a:p>
            <a:r>
              <a:t>Le conseil d'administration — Le conseil compte 9 membres, dont 4 indépendants (45 %) et 4 femmes (44 %). Cette taille permet de réunir des compétences variées sans alourdir les délibérations.</a:t>
            </a:r>
          </a:p>
          <a:p/>
          <a:p>
            <a:r>
              <a:t>Éthique, intégrité et sécurité de l'information — Une violation de données a été déclarée. Chaque incident expose l'entreprise à des coûts de remédiation, à une perte de confiance des clients et, le cas échéant, à des obligations de notification. L'analyse des causes — erreur humaine, faille technique, prestataire — doit orienter le plan : sensibilisation, correctifs, exigences contractuelles envers les sous-traitants.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Pilotage de la démarche de durabilité — Un comité de durabilité existe, mais les données ESG ne font pas l'objet d'une vérification externe. Le pilotage repose donc sur des chiffres que personne d'extérieur n'a contrôlés : c'est une fragilité face aux banques, aux investisseurs et aux grands clients, qui accordent plus de crédit à une information vérifiée. Une revue externe ciblée sur quelques indicateurs clés constitue une première étape proportionnée.</a:t>
            </a:r>
          </a:p>
          <a:p/>
          <a:p>
            <a:r>
              <a:t>Le conseil d'administration — Le conseil compte 9 membres, dont 4 indépendants (45 %) et 4 femmes (44 %). Cette taille permet de réunir des compétences variées sans alourdir les délibérations.</a:t>
            </a:r>
          </a:p>
          <a:p/>
          <a:p>
            <a:r>
              <a:t>Éthique, intégrité et sécurité de l'information — Une violation de données a été déclarée. Chaque incident expose l'entreprise à des coûts de remédiation, à une perte de confiance des clients et, le cas échéant, à des obligations de notification. L'analyse des causes — erreur humaine, faille technique, prestataire — doit orienter le plan : sensibilisation, correctifs, exigences contractuelles envers les sous-traitants.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chapitre met en regard les résultats et leurs causes. Il identifie 5 forces et 4 axes de progrès, examine la couverture de 6 exigences de reporting (dont 1 encore ouverte) et hiérarchise 4 risques majeurs (dont 1 de priorité 1).</a:t>
            </a:r>
          </a:p>
          <a:p/>
          <a:p>
            <a:r>
              <a:t>Par rapport à l'exercice 2024, 17 indicateurs sont comparables : 7 en progrès, 1 en recul, 5 stables, 4 sans sens de lecture défini. Principales évolutions : les incidents de cybersécurité de 0 à 1 (+1) ; le taux de fréquence des accidents de 8,1 à 6,2 (-1,9) ; les heures de formation de 18 h à 22 h (+4 h) ; la part d'énergie renouvelable de 35 % à 42 % (+7 pts).</a:t>
            </a:r>
          </a:p>
          <a:p/>
          <a:p>
            <a:r>
              <a:t>Le positionnement ci-dessous compare les trois piliers entre eux, sans référence externe : il indique où se concentre la marge de progression de l'entreprise.</a:t>
            </a:r>
          </a:p>
          <a:p/>
          <a:p>
            <a:r>
              <a:t>Le tableau ci-dessous examine 6 exigences de reporting du référentiel CSRD / ESRS : 5 sont couvertes par les données de l'exercice, 1 reste ouverte ou partiellement couverte. Chaque ligne indique la référence concernée et ce qui manque pour la couvrir.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L'analyse retient 4 risques majeurs. Leur priorité combine l'impact estimé et la probabilité d'occurrence : 1 est classé en priorité 1 et appelle une action dans les douze prochains mois.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chapitre traduit le diagnostic en actions. Il propose 4 recommandations, dont 2 gains rapides, et les ordonne dans une feuille de route en trois phases sur douze mois, en cohérence avec l'horizon 2030 fixé par l'entreprise.</a:t>
            </a:r>
          </a:p>
          <a:p/>
          <a:p>
            <a:r>
              <a:t>Les recommandations sont ordonnées par priorité. Elles se répartissent entre l'environnement (1), le social (1) et la gouvernance (2) ; chacune précise un objectif, un responsable et une échéance.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feuille de route répartit les actions en trois phases. 0-3 mois : 1 action, 3-6 mois : 2 actions et 6-12 mois : 1 action. Les gains rapides, signalés dans le tableau, peuvent être engagés sans attendre les chantiers structurants.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capitaliser : un taux de fréquence de 6,2, bien en dessous de la moyenne nationale. Un acquis à protéger et à faire valoir auprès des clients et des candidats.</a:t>
            </a:r>
          </a:p>
          <a:p/>
          <a:p>
            <a:r>
              <a:t>À traiter en priorité : des incidents d'intégrité déclarés. Chaque violation de données entame la confiance des clients.</a:t>
            </a:r>
          </a:p>
          <a:p/>
          <a:p>
            <a:r>
              <a:t>Sans action, les tendances observées cette année se prolongeront.</a:t>
            </a:r>
          </a:p>
          <a:p/>
          <a:p>
            <a:r>
              <a:t>Pour l'intégrité et la sécurité de l'information, chaque nouvel incident sera lu comme le signe d'un défaut de contrôle, avec des conséquences croissantes sur la réputation et les relations d'affaires.</a:t>
            </a:r>
          </a:p>
          <a:p/>
          <a:p>
            <a:r>
              <a:t>Pour le pilotage de la démarche, la démarche restera dépendante de quelques personnes et difficile à rendre crédible à l'extérieur.</a:t>
            </a:r>
          </a:p>
          <a:p/>
          <a:p>
            <a:r>
              <a:t>Ces décisions permettent d'engager le plan sans attendre les chantiers structurants :</a:t>
            </a:r>
          </a:p>
          <a:p/>
          <a:p>
            <a:r>
              <a:t>Analyser les causes de chaque incident et vérifier que le dispositif d'alerte, les contrôles internes et la sensibilisation couvrent les situations rencontrées.</a:t>
            </a:r>
          </a:p>
          <a:p/>
          <a:p>
            <a:r>
              <a:t>Faire revoir par un tiers deux ou trois indicateurs clés avant la prochaine publication.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14.png"/><Relationship Id="rId6" Type="http://schemas.openxmlformats.org/officeDocument/2006/relationships/image" Target="../media/image22.png"/><Relationship Id="rId7"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3D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9D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937760"/>
            <a:ext cx="12188952" cy="1920240"/>
          </a:xfrm>
          <a:prstGeom prst="rect">
            <a:avLst/>
          </a:prstGeom>
          <a:solidFill>
            <a:srgbClr val="1F3D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051560"/>
            <a:ext cx="8229600" cy="457200"/>
          </a:xfrm>
          <a:prstGeom prst="rect">
            <a:avLst/>
          </a:prstGeom>
          <a:noFill/>
        </p:spPr>
        <p:txBody>
          <a:bodyPr wrap="square">
            <a:spAutoFit/>
          </a:bodyPr>
          <a:lstStyle/>
          <a:p>
            <a:pPr algn="l"/>
            <a:r>
              <a:rPr sz="1500" b="1" i="0">
                <a:solidFill>
                  <a:srgbClr val="C9D8C5"/>
                </a:solidFill>
                <a:latin typeface="Segoe UI"/>
              </a:rPr>
              <a:t>RAPPORT ESG — SYNTHÈSE EXÉCUTIVE</a:t>
            </a:r>
          </a:p>
        </p:txBody>
      </p:sp>
      <p:sp>
        <p:nvSpPr>
          <p:cNvPr id="6" name="TextBox 5"/>
          <p:cNvSpPr txBox="1"/>
          <p:nvPr/>
        </p:nvSpPr>
        <p:spPr>
          <a:xfrm>
            <a:off x="548640" y="1600200"/>
            <a:ext cx="8412480" cy="1737360"/>
          </a:xfrm>
          <a:prstGeom prst="rect">
            <a:avLst/>
          </a:prstGeom>
          <a:noFill/>
        </p:spPr>
        <p:txBody>
          <a:bodyPr wrap="square">
            <a:spAutoFit/>
          </a:bodyPr>
          <a:lstStyle/>
          <a:p>
            <a:pPr algn="l"/>
            <a:r>
              <a:rPr sz="5200" b="1" i="0">
                <a:solidFill>
                  <a:srgbClr val="F3F0E8"/>
                </a:solidFill>
                <a:latin typeface="Georgia"/>
              </a:rPr>
              <a:t>ACME INDUSTRIES</a:t>
            </a:r>
          </a:p>
        </p:txBody>
      </p:sp>
      <p:sp>
        <p:nvSpPr>
          <p:cNvPr id="7" name="Rectangle 6"/>
          <p:cNvSpPr/>
          <p:nvPr/>
        </p:nvSpPr>
        <p:spPr>
          <a:xfrm>
            <a:off x="594360" y="3429000"/>
            <a:ext cx="1828800" cy="54864"/>
          </a:xfrm>
          <a:prstGeom prst="rect">
            <a:avLst/>
          </a:prstGeom>
          <a:solidFill>
            <a:srgbClr val="C9D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657600"/>
            <a:ext cx="7772400" cy="640080"/>
          </a:xfrm>
          <a:prstGeom prst="rect">
            <a:avLst/>
          </a:prstGeom>
          <a:noFill/>
        </p:spPr>
        <p:txBody>
          <a:bodyPr wrap="square">
            <a:spAutoFit/>
          </a:bodyPr>
          <a:lstStyle/>
          <a:p>
            <a:pPr algn="l"/>
            <a:r>
              <a:rPr sz="2100" b="0" i="1">
                <a:solidFill>
                  <a:srgbClr val="C9D8C5"/>
                </a:solidFill>
                <a:latin typeface="Segoe UI"/>
              </a:rPr>
              <a:t>Une performance ESG solide et engagée</a:t>
            </a:r>
          </a:p>
        </p:txBody>
      </p:sp>
      <p:sp>
        <p:nvSpPr>
          <p:cNvPr id="9" name="TextBox 8"/>
          <p:cNvSpPr txBox="1"/>
          <p:nvPr/>
        </p:nvSpPr>
        <p:spPr>
          <a:xfrm>
            <a:off x="594360" y="5989320"/>
            <a:ext cx="7315200" cy="457200"/>
          </a:xfrm>
          <a:prstGeom prst="rect">
            <a:avLst/>
          </a:prstGeom>
          <a:noFill/>
        </p:spPr>
        <p:txBody>
          <a:bodyPr wrap="square">
            <a:spAutoFit/>
          </a:bodyPr>
          <a:lstStyle/>
          <a:p>
            <a:pPr algn="l"/>
            <a:r>
              <a:rPr sz="1300" b="0" i="0">
                <a:solidFill>
                  <a:srgbClr val="C9D8C5"/>
                </a:solidFill>
                <a:latin typeface="Segoe UI"/>
              </a:rPr>
              <a:t>Exercice 2025   |   Industrie manufacturière   |   France</a:t>
            </a:r>
          </a:p>
        </p:txBody>
      </p:sp>
      <p:sp>
        <p:nvSpPr>
          <p:cNvPr id="10" name="TextBox 9"/>
          <p:cNvSpPr txBox="1"/>
          <p:nvPr/>
        </p:nvSpPr>
        <p:spPr>
          <a:xfrm>
            <a:off x="7818120" y="4892040"/>
            <a:ext cx="2194560" cy="1463040"/>
          </a:xfrm>
          <a:prstGeom prst="rect">
            <a:avLst/>
          </a:prstGeom>
          <a:noFill/>
        </p:spPr>
        <p:txBody>
          <a:bodyPr wrap="square">
            <a:spAutoFit/>
          </a:bodyPr>
          <a:lstStyle/>
          <a:p>
            <a:pPr algn="r"/>
            <a:r>
              <a:rPr sz="8200" b="1" i="0">
                <a:solidFill>
                  <a:srgbClr val="C9D8C5"/>
                </a:solidFill>
                <a:latin typeface="Georgia"/>
              </a:rPr>
              <a:t>70</a:t>
            </a:r>
          </a:p>
        </p:txBody>
      </p:sp>
      <p:sp>
        <p:nvSpPr>
          <p:cNvPr id="11" name="TextBox 10"/>
          <p:cNvSpPr txBox="1"/>
          <p:nvPr/>
        </p:nvSpPr>
        <p:spPr>
          <a:xfrm>
            <a:off x="7818120" y="6172200"/>
            <a:ext cx="2194560" cy="365760"/>
          </a:xfrm>
          <a:prstGeom prst="rect">
            <a:avLst/>
          </a:prstGeom>
          <a:noFill/>
        </p:spPr>
        <p:txBody>
          <a:bodyPr wrap="square">
            <a:spAutoFit/>
          </a:bodyPr>
          <a:lstStyle/>
          <a:p>
            <a:pPr algn="r"/>
            <a:r>
              <a:rPr sz="1400" b="0" i="0">
                <a:solidFill>
                  <a:srgbClr val="C9D8C5"/>
                </a:solidFill>
                <a:latin typeface="Segoe UI"/>
              </a:rPr>
              <a:t>/100</a:t>
            </a:r>
          </a:p>
        </p:txBody>
      </p:sp>
      <p:sp>
        <p:nvSpPr>
          <p:cNvPr id="12" name="Rounded Rectangle 11"/>
          <p:cNvSpPr/>
          <p:nvPr/>
        </p:nvSpPr>
        <p:spPr>
          <a:xfrm>
            <a:off x="10241280" y="5074920"/>
            <a:ext cx="1417320" cy="868680"/>
          </a:xfrm>
          <a:prstGeom prst="roundRect">
            <a:avLst/>
          </a:prstGeom>
          <a:solidFill>
            <a:srgbClr val="C9D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0" y="5193792"/>
            <a:ext cx="1417320" cy="640080"/>
          </a:xfrm>
          <a:prstGeom prst="rect">
            <a:avLst/>
          </a:prstGeom>
          <a:noFill/>
        </p:spPr>
        <p:txBody>
          <a:bodyPr wrap="square">
            <a:spAutoFit/>
          </a:bodyPr>
          <a:lstStyle/>
          <a:p>
            <a:pPr algn="ctr"/>
            <a:r>
              <a:rPr sz="3200" b="1" i="0">
                <a:solidFill>
                  <a:srgbClr val="1F3D33"/>
                </a:solidFill>
                <a:latin typeface="Georgia"/>
              </a:rPr>
              <a:t>A</a:t>
            </a:r>
          </a:p>
        </p:txBody>
      </p:sp>
      <p:sp>
        <p:nvSpPr>
          <p:cNvPr id="14" name="TextBox 13"/>
          <p:cNvSpPr txBox="1"/>
          <p:nvPr/>
        </p:nvSpPr>
        <p:spPr>
          <a:xfrm>
            <a:off x="640080" y="5989320"/>
            <a:ext cx="10881360" cy="365760"/>
          </a:xfrm>
          <a:prstGeom prst="rect">
            <a:avLst/>
          </a:prstGeom>
          <a:noFill/>
        </p:spPr>
        <p:txBody>
          <a:bodyPr wrap="square">
            <a:spAutoFit/>
          </a:bodyPr>
          <a:lstStyle/>
          <a:p>
            <a:pPr algn="l"/>
            <a:r>
              <a:rPr sz="1200" b="0" i="1">
                <a:solidFill>
                  <a:srgbClr val="C9D8C5"/>
                </a:solidFill>
                <a:latin typeface="Segoe UI"/>
              </a:rPr>
              <a:t>Présenté par J. Martin — Directrice Générale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tretch>
            <a:fillRect/>
          </a:stretch>
        </p:blipFill>
        <p:spPr>
          <a:xfrm>
            <a:off x="0" y="0"/>
            <a:ext cx="12188952" cy="4023360"/>
          </a:xfrm>
          <a:prstGeom prst="rect">
            <a:avLst/>
          </a:prstGeom>
        </p:spPr>
      </p:pic>
      <p:sp>
        <p:nvSpPr>
          <p:cNvPr id="4" name="TextBox 3"/>
          <p:cNvSpPr txBox="1"/>
          <p:nvPr/>
        </p:nvSpPr>
        <p:spPr>
          <a:xfrm>
            <a:off x="640080" y="4480560"/>
            <a:ext cx="10881360" cy="822960"/>
          </a:xfrm>
          <a:prstGeom prst="rect">
            <a:avLst/>
          </a:prstGeom>
          <a:noFill/>
        </p:spPr>
        <p:txBody>
          <a:bodyPr wrap="square">
            <a:spAutoFit/>
          </a:bodyPr>
          <a:lstStyle/>
          <a:p>
            <a:pPr algn="l"/>
            <a:r>
              <a:rPr sz="3200" b="1" i="0">
                <a:solidFill>
                  <a:srgbClr val="1E2B26"/>
                </a:solidFill>
                <a:latin typeface="Georgia"/>
              </a:rPr>
              <a:t>Rapport ESG 2025</a:t>
            </a:r>
          </a:p>
        </p:txBody>
      </p:sp>
      <p:sp>
        <p:nvSpPr>
          <p:cNvPr id="5" name="TextBox 4"/>
          <p:cNvSpPr txBox="1"/>
          <p:nvPr/>
        </p:nvSpPr>
        <p:spPr>
          <a:xfrm>
            <a:off x="640080" y="5394960"/>
            <a:ext cx="10881360" cy="457200"/>
          </a:xfrm>
          <a:prstGeom prst="rect">
            <a:avLst/>
          </a:prstGeom>
          <a:noFill/>
        </p:spPr>
        <p:txBody>
          <a:bodyPr wrap="square">
            <a:spAutoFit/>
          </a:bodyPr>
          <a:lstStyle/>
          <a:p>
            <a:pPr algn="l"/>
            <a:r>
              <a:rPr sz="1500" b="0" i="0">
                <a:solidFill>
                  <a:srgbClr val="5F6B64"/>
                </a:solidFill>
                <a:latin typeface="Segoe UI"/>
              </a:rPr>
              <a:t>Acme Industries  •  Industrie manufacturière</a:t>
            </a:r>
          </a:p>
        </p:txBody>
      </p:sp>
      <p:sp>
        <p:nvSpPr>
          <p:cNvPr id="6" name="TextBox 5"/>
          <p:cNvSpPr txBox="1"/>
          <p:nvPr/>
        </p:nvSpPr>
        <p:spPr>
          <a:xfrm>
            <a:off x="8778240" y="6537960"/>
            <a:ext cx="3200400" cy="274320"/>
          </a:xfrm>
          <a:prstGeom prst="rect">
            <a:avLst/>
          </a:prstGeom>
          <a:noFill/>
        </p:spPr>
        <p:txBody>
          <a:bodyPr wrap="square">
            <a:spAutoFit/>
          </a:bodyPr>
          <a:lstStyle/>
          <a:p>
            <a:pPr algn="r"/>
            <a:r>
              <a:rPr sz="800" b="0" i="0">
                <a:solidFill>
                  <a:srgbClr val="5F6B64"/>
                </a:solidFill>
                <a:latin typeface="Segoe UI"/>
              </a:rPr>
              <a:t>Acme Industries   |   2 / 28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3D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88952" cy="109728"/>
          </a:xfrm>
          <a:prstGeom prst="rect">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914400"/>
            <a:ext cx="12188952" cy="411480"/>
          </a:xfrm>
          <a:prstGeom prst="rect">
            <a:avLst/>
          </a:prstGeom>
          <a:noFill/>
        </p:spPr>
        <p:txBody>
          <a:bodyPr wrap="square">
            <a:spAutoFit/>
          </a:bodyPr>
          <a:lstStyle/>
          <a:p>
            <a:pPr algn="ctr"/>
            <a:r>
              <a:rPr sz="1300" b="1" i="0">
                <a:solidFill>
                  <a:srgbClr val="2E5A4B"/>
                </a:solidFill>
                <a:latin typeface="Segoe UI"/>
              </a:rPr>
              <a:t>LE MOT DE LA DIRECTION</a:t>
            </a:r>
          </a:p>
        </p:txBody>
      </p:sp>
      <p:sp>
        <p:nvSpPr>
          <p:cNvPr id="5" name="TextBox 4"/>
          <p:cNvSpPr txBox="1"/>
          <p:nvPr/>
        </p:nvSpPr>
        <p:spPr>
          <a:xfrm>
            <a:off x="822960" y="914400"/>
            <a:ext cx="2743200" cy="2286000"/>
          </a:xfrm>
          <a:prstGeom prst="rect">
            <a:avLst/>
          </a:prstGeom>
          <a:noFill/>
        </p:spPr>
        <p:txBody>
          <a:bodyPr wrap="square">
            <a:spAutoFit/>
          </a:bodyPr>
          <a:lstStyle/>
          <a:p>
            <a:pPr algn="l"/>
            <a:r>
              <a:rPr sz="16000" b="1" i="0">
                <a:solidFill>
                  <a:srgbClr val="E6E6DC"/>
                </a:solidFill>
                <a:latin typeface="Georgia"/>
              </a:rPr>
              <a:t>“</a:t>
            </a:r>
          </a:p>
        </p:txBody>
      </p:sp>
      <p:sp>
        <p:nvSpPr>
          <p:cNvPr id="6" name="TextBox 5"/>
          <p:cNvSpPr txBox="1"/>
          <p:nvPr/>
        </p:nvSpPr>
        <p:spPr>
          <a:xfrm>
            <a:off x="1645920" y="2103120"/>
            <a:ext cx="8897112" cy="2926080"/>
          </a:xfrm>
          <a:prstGeom prst="rect">
            <a:avLst/>
          </a:prstGeom>
          <a:noFill/>
        </p:spPr>
        <p:txBody>
          <a:bodyPr wrap="square">
            <a:spAutoFit/>
          </a:bodyPr>
          <a:lstStyle/>
          <a:p>
            <a:pPr algn="ctr"/>
            <a:r>
              <a:rPr sz="2400" b="0" i="1">
                <a:solidFill>
                  <a:srgbClr val="F3F0E8"/>
                </a:solidFill>
                <a:latin typeface="Georgia"/>
              </a:rPr>
              <a:t>« La performance durable est au cœur de notre stratégie industrielle : chaque euro investi doit créer de la valeur pour nos clients et pour la planète. »</a:t>
            </a:r>
          </a:p>
        </p:txBody>
      </p:sp>
      <p:sp>
        <p:nvSpPr>
          <p:cNvPr id="7" name="Rectangle 6"/>
          <p:cNvSpPr/>
          <p:nvPr/>
        </p:nvSpPr>
        <p:spPr>
          <a:xfrm>
            <a:off x="5408676" y="5212080"/>
            <a:ext cx="1371600" cy="36576"/>
          </a:xfrm>
          <a:prstGeom prst="rect">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5440680"/>
            <a:ext cx="12188952" cy="457200"/>
          </a:xfrm>
          <a:prstGeom prst="rect">
            <a:avLst/>
          </a:prstGeom>
          <a:noFill/>
        </p:spPr>
        <p:txBody>
          <a:bodyPr wrap="square">
            <a:spAutoFit/>
          </a:bodyPr>
          <a:lstStyle/>
          <a:p>
            <a:pPr algn="ctr"/>
            <a:r>
              <a:rPr sz="1400" b="1" i="0">
                <a:solidFill>
                  <a:srgbClr val="C9D8C5"/>
                </a:solidFill>
                <a:latin typeface="Segoe UI"/>
              </a:rPr>
              <a:t>J. Martin — Directrice Générale</a:t>
            </a:r>
          </a:p>
        </p:txBody>
      </p:sp>
      <p:sp>
        <p:nvSpPr>
          <p:cNvPr id="9" name="TextBox 8"/>
          <p:cNvSpPr txBox="1"/>
          <p:nvPr/>
        </p:nvSpPr>
        <p:spPr>
          <a:xfrm>
            <a:off x="8778240" y="6537960"/>
            <a:ext cx="3200400" cy="274320"/>
          </a:xfrm>
          <a:prstGeom prst="rect">
            <a:avLst/>
          </a:prstGeom>
          <a:noFill/>
        </p:spPr>
        <p:txBody>
          <a:bodyPr wrap="square">
            <a:spAutoFit/>
          </a:bodyPr>
          <a:lstStyle/>
          <a:p>
            <a:pPr algn="r"/>
            <a:r>
              <a:rPr sz="800" b="0" i="0">
                <a:solidFill>
                  <a:srgbClr val="5F6B64"/>
                </a:solidFill>
                <a:latin typeface="Segoe UI"/>
              </a:rPr>
              <a:t>Acme Industries   |   3 / 28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502920"/>
            <a:ext cx="7315200" cy="731520"/>
          </a:xfrm>
          <a:prstGeom prst="rect">
            <a:avLst/>
          </a:prstGeom>
          <a:noFill/>
        </p:spPr>
        <p:txBody>
          <a:bodyPr wrap="square">
            <a:spAutoFit/>
          </a:bodyPr>
          <a:lstStyle/>
          <a:p>
            <a:pPr algn="l"/>
            <a:r>
              <a:rPr sz="3600" b="1" i="0">
                <a:solidFill>
                  <a:srgbClr val="1E2B26"/>
                </a:solidFill>
                <a:latin typeface="Georgia"/>
              </a:rPr>
              <a:t>SOMMAIRE</a:t>
            </a:r>
          </a:p>
        </p:txBody>
      </p:sp>
      <p:sp>
        <p:nvSpPr>
          <p:cNvPr id="5" name="Rectangle 4"/>
          <p:cNvSpPr/>
          <p:nvPr/>
        </p:nvSpPr>
        <p:spPr>
          <a:xfrm>
            <a:off x="640080" y="1325880"/>
            <a:ext cx="1645920" cy="54864"/>
          </a:xfrm>
          <a:prstGeom prst="rect">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920240"/>
            <a:ext cx="3611880" cy="4206240"/>
          </a:xfrm>
          <a:prstGeom prst="rect">
            <a:avLst/>
          </a:prstGeom>
          <a:solidFill>
            <a:srgbClr val="E6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48840"/>
            <a:ext cx="1828800" cy="822960"/>
          </a:xfrm>
          <a:prstGeom prst="rect">
            <a:avLst/>
          </a:prstGeom>
          <a:noFill/>
        </p:spPr>
        <p:txBody>
          <a:bodyPr wrap="square">
            <a:spAutoFit/>
          </a:bodyPr>
          <a:lstStyle/>
          <a:p>
            <a:pPr algn="l"/>
            <a:r>
              <a:rPr sz="4400" b="1" i="0">
                <a:solidFill>
                  <a:srgbClr val="2E5A4B"/>
                </a:solidFill>
                <a:latin typeface="Georgia"/>
              </a:rPr>
              <a:t>01</a:t>
            </a:r>
          </a:p>
        </p:txBody>
      </p:sp>
      <p:sp>
        <p:nvSpPr>
          <p:cNvPr id="8" name="TextBox 7"/>
          <p:cNvSpPr txBox="1"/>
          <p:nvPr/>
        </p:nvSpPr>
        <p:spPr>
          <a:xfrm>
            <a:off x="914400" y="3063240"/>
            <a:ext cx="3063240" cy="411480"/>
          </a:xfrm>
          <a:prstGeom prst="rect">
            <a:avLst/>
          </a:prstGeom>
          <a:noFill/>
        </p:spPr>
        <p:txBody>
          <a:bodyPr wrap="square">
            <a:spAutoFit/>
          </a:bodyPr>
          <a:lstStyle/>
          <a:p>
            <a:pPr algn="l"/>
            <a:r>
              <a:rPr sz="1500" b="1" i="0">
                <a:solidFill>
                  <a:srgbClr val="1E2B26"/>
                </a:solidFill>
                <a:latin typeface="Segoe UI"/>
              </a:rPr>
              <a:t>SITUATION</a:t>
            </a:r>
          </a:p>
        </p:txBody>
      </p:sp>
      <p:sp>
        <p:nvSpPr>
          <p:cNvPr id="9" name="Rectangle 8"/>
          <p:cNvSpPr/>
          <p:nvPr/>
        </p:nvSpPr>
        <p:spPr>
          <a:xfrm>
            <a:off x="914400" y="3520440"/>
            <a:ext cx="2971800" cy="18288"/>
          </a:xfrm>
          <a:prstGeom prst="rect">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703320"/>
            <a:ext cx="3063240" cy="502920"/>
          </a:xfrm>
          <a:prstGeom prst="rect">
            <a:avLst/>
          </a:prstGeom>
          <a:noFill/>
        </p:spPr>
        <p:txBody>
          <a:bodyPr wrap="square">
            <a:spAutoFit/>
          </a:bodyPr>
          <a:lstStyle/>
          <a:p>
            <a:pPr algn="l"/>
            <a:r>
              <a:rPr sz="1200" b="0" i="0">
                <a:solidFill>
                  <a:srgbClr val="1E2B26"/>
                </a:solidFill>
                <a:latin typeface="Segoe UI"/>
              </a:rPr>
              <a:t>—  Synthèse Exécutive</a:t>
            </a:r>
          </a:p>
        </p:txBody>
      </p:sp>
      <p:sp>
        <p:nvSpPr>
          <p:cNvPr id="11" name="TextBox 10"/>
          <p:cNvSpPr txBox="1"/>
          <p:nvPr/>
        </p:nvSpPr>
        <p:spPr>
          <a:xfrm>
            <a:off x="914400" y="4251960"/>
            <a:ext cx="3063240" cy="502920"/>
          </a:xfrm>
          <a:prstGeom prst="rect">
            <a:avLst/>
          </a:prstGeom>
          <a:noFill/>
        </p:spPr>
        <p:txBody>
          <a:bodyPr wrap="square">
            <a:spAutoFit/>
          </a:bodyPr>
          <a:lstStyle/>
          <a:p>
            <a:pPr algn="l"/>
            <a:r>
              <a:rPr sz="1200" b="0" i="0">
                <a:solidFill>
                  <a:srgbClr val="1E2B26"/>
                </a:solidFill>
                <a:latin typeface="Segoe UI"/>
              </a:rPr>
              <a:t>—  Pilier Environnemental</a:t>
            </a:r>
          </a:p>
        </p:txBody>
      </p:sp>
      <p:sp>
        <p:nvSpPr>
          <p:cNvPr id="12" name="TextBox 11"/>
          <p:cNvSpPr txBox="1"/>
          <p:nvPr/>
        </p:nvSpPr>
        <p:spPr>
          <a:xfrm>
            <a:off x="914400" y="4800600"/>
            <a:ext cx="3063240" cy="502920"/>
          </a:xfrm>
          <a:prstGeom prst="rect">
            <a:avLst/>
          </a:prstGeom>
          <a:noFill/>
        </p:spPr>
        <p:txBody>
          <a:bodyPr wrap="square">
            <a:spAutoFit/>
          </a:bodyPr>
          <a:lstStyle/>
          <a:p>
            <a:pPr algn="l"/>
            <a:r>
              <a:rPr sz="1200" b="0" i="0">
                <a:solidFill>
                  <a:srgbClr val="1E2B26"/>
                </a:solidFill>
                <a:latin typeface="Segoe UI"/>
              </a:rPr>
              <a:t>—  Pilier Social</a:t>
            </a:r>
          </a:p>
        </p:txBody>
      </p:sp>
      <p:sp>
        <p:nvSpPr>
          <p:cNvPr id="13" name="TextBox 12"/>
          <p:cNvSpPr txBox="1"/>
          <p:nvPr/>
        </p:nvSpPr>
        <p:spPr>
          <a:xfrm>
            <a:off x="914400" y="5349240"/>
            <a:ext cx="3063240" cy="502920"/>
          </a:xfrm>
          <a:prstGeom prst="rect">
            <a:avLst/>
          </a:prstGeom>
          <a:noFill/>
        </p:spPr>
        <p:txBody>
          <a:bodyPr wrap="square">
            <a:spAutoFit/>
          </a:bodyPr>
          <a:lstStyle/>
          <a:p>
            <a:pPr algn="l"/>
            <a:r>
              <a:rPr sz="1200" b="0" i="0">
                <a:solidFill>
                  <a:srgbClr val="1E2B26"/>
                </a:solidFill>
                <a:latin typeface="Segoe UI"/>
              </a:rPr>
              <a:t>—  Pilier Gouvernance</a:t>
            </a:r>
          </a:p>
        </p:txBody>
      </p:sp>
      <p:sp>
        <p:nvSpPr>
          <p:cNvPr id="14" name="Rectangle 13"/>
          <p:cNvSpPr/>
          <p:nvPr/>
        </p:nvSpPr>
        <p:spPr>
          <a:xfrm>
            <a:off x="4434840" y="1920240"/>
            <a:ext cx="3611880" cy="4206240"/>
          </a:xfrm>
          <a:prstGeom prst="rect">
            <a:avLst/>
          </a:prstGeom>
          <a:solidFill>
            <a:srgbClr val="E6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0" y="2148840"/>
            <a:ext cx="1828800" cy="822960"/>
          </a:xfrm>
          <a:prstGeom prst="rect">
            <a:avLst/>
          </a:prstGeom>
          <a:noFill/>
        </p:spPr>
        <p:txBody>
          <a:bodyPr wrap="square">
            <a:spAutoFit/>
          </a:bodyPr>
          <a:lstStyle/>
          <a:p>
            <a:pPr algn="l"/>
            <a:r>
              <a:rPr sz="4400" b="1" i="0">
                <a:solidFill>
                  <a:srgbClr val="2E5A4B"/>
                </a:solidFill>
                <a:latin typeface="Georgia"/>
              </a:rPr>
              <a:t>02</a:t>
            </a:r>
          </a:p>
        </p:txBody>
      </p:sp>
      <p:sp>
        <p:nvSpPr>
          <p:cNvPr id="16" name="TextBox 15"/>
          <p:cNvSpPr txBox="1"/>
          <p:nvPr/>
        </p:nvSpPr>
        <p:spPr>
          <a:xfrm>
            <a:off x="4754880" y="3063240"/>
            <a:ext cx="3063240" cy="411480"/>
          </a:xfrm>
          <a:prstGeom prst="rect">
            <a:avLst/>
          </a:prstGeom>
          <a:noFill/>
        </p:spPr>
        <p:txBody>
          <a:bodyPr wrap="square">
            <a:spAutoFit/>
          </a:bodyPr>
          <a:lstStyle/>
          <a:p>
            <a:pPr algn="l"/>
            <a:r>
              <a:rPr sz="1500" b="1" i="0">
                <a:solidFill>
                  <a:srgbClr val="1E2B26"/>
                </a:solidFill>
                <a:latin typeface="Segoe UI"/>
              </a:rPr>
              <a:t>DIAGNOSTIC</a:t>
            </a:r>
          </a:p>
        </p:txBody>
      </p:sp>
      <p:sp>
        <p:nvSpPr>
          <p:cNvPr id="17" name="Rectangle 16"/>
          <p:cNvSpPr/>
          <p:nvPr/>
        </p:nvSpPr>
        <p:spPr>
          <a:xfrm>
            <a:off x="4754880" y="3520440"/>
            <a:ext cx="2971800" cy="18288"/>
          </a:xfrm>
          <a:prstGeom prst="rect">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3703320"/>
            <a:ext cx="3063240" cy="502920"/>
          </a:xfrm>
          <a:prstGeom prst="rect">
            <a:avLst/>
          </a:prstGeom>
          <a:noFill/>
        </p:spPr>
        <p:txBody>
          <a:bodyPr wrap="square">
            <a:spAutoFit/>
          </a:bodyPr>
          <a:lstStyle/>
          <a:p>
            <a:pPr algn="l"/>
            <a:r>
              <a:rPr sz="1200" b="0" i="0">
                <a:solidFill>
                  <a:srgbClr val="1E2B26"/>
                </a:solidFill>
                <a:latin typeface="Segoe UI"/>
              </a:rPr>
              <a:t>—  Positionnement</a:t>
            </a:r>
          </a:p>
        </p:txBody>
      </p:sp>
      <p:sp>
        <p:nvSpPr>
          <p:cNvPr id="19" name="TextBox 18"/>
          <p:cNvSpPr txBox="1"/>
          <p:nvPr/>
        </p:nvSpPr>
        <p:spPr>
          <a:xfrm>
            <a:off x="4754880" y="4251960"/>
            <a:ext cx="3063240" cy="502920"/>
          </a:xfrm>
          <a:prstGeom prst="rect">
            <a:avLst/>
          </a:prstGeom>
          <a:noFill/>
        </p:spPr>
        <p:txBody>
          <a:bodyPr wrap="square">
            <a:spAutoFit/>
          </a:bodyPr>
          <a:lstStyle/>
          <a:p>
            <a:pPr algn="l"/>
            <a:r>
              <a:rPr sz="1200" b="0" i="0">
                <a:solidFill>
                  <a:srgbClr val="1E2B26"/>
                </a:solidFill>
                <a:latin typeface="Segoe UI"/>
              </a:rPr>
              <a:t>—  Risques &amp; Opportunités</a:t>
            </a:r>
          </a:p>
        </p:txBody>
      </p:sp>
      <p:sp>
        <p:nvSpPr>
          <p:cNvPr id="20" name="TextBox 19"/>
          <p:cNvSpPr txBox="1"/>
          <p:nvPr/>
        </p:nvSpPr>
        <p:spPr>
          <a:xfrm>
            <a:off x="4754880" y="4800600"/>
            <a:ext cx="3063240" cy="502920"/>
          </a:xfrm>
          <a:prstGeom prst="rect">
            <a:avLst/>
          </a:prstGeom>
          <a:noFill/>
        </p:spPr>
        <p:txBody>
          <a:bodyPr wrap="square">
            <a:spAutoFit/>
          </a:bodyPr>
          <a:lstStyle/>
          <a:p>
            <a:pPr algn="l"/>
            <a:r>
              <a:rPr sz="1200" b="0" i="0">
                <a:solidFill>
                  <a:srgbClr val="1E2B26"/>
                </a:solidFill>
                <a:latin typeface="Segoe UI"/>
              </a:rPr>
              <a:t>—  Analyse Stratégique ESG</a:t>
            </a:r>
          </a:p>
        </p:txBody>
      </p:sp>
      <p:sp>
        <p:nvSpPr>
          <p:cNvPr id="21" name="Rectangle 20"/>
          <p:cNvSpPr/>
          <p:nvPr/>
        </p:nvSpPr>
        <p:spPr>
          <a:xfrm>
            <a:off x="8275320" y="1920240"/>
            <a:ext cx="3611880" cy="4206240"/>
          </a:xfrm>
          <a:prstGeom prst="rect">
            <a:avLst/>
          </a:prstGeom>
          <a:solidFill>
            <a:srgbClr val="E6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95360" y="2148840"/>
            <a:ext cx="1828800" cy="822960"/>
          </a:xfrm>
          <a:prstGeom prst="rect">
            <a:avLst/>
          </a:prstGeom>
          <a:noFill/>
        </p:spPr>
        <p:txBody>
          <a:bodyPr wrap="square">
            <a:spAutoFit/>
          </a:bodyPr>
          <a:lstStyle/>
          <a:p>
            <a:pPr algn="l"/>
            <a:r>
              <a:rPr sz="4400" b="1" i="0">
                <a:solidFill>
                  <a:srgbClr val="2E5A4B"/>
                </a:solidFill>
                <a:latin typeface="Georgia"/>
              </a:rPr>
              <a:t>03</a:t>
            </a:r>
          </a:p>
        </p:txBody>
      </p:sp>
      <p:sp>
        <p:nvSpPr>
          <p:cNvPr id="23" name="TextBox 22"/>
          <p:cNvSpPr txBox="1"/>
          <p:nvPr/>
        </p:nvSpPr>
        <p:spPr>
          <a:xfrm>
            <a:off x="8595360" y="3063240"/>
            <a:ext cx="3063240" cy="411480"/>
          </a:xfrm>
          <a:prstGeom prst="rect">
            <a:avLst/>
          </a:prstGeom>
          <a:noFill/>
        </p:spPr>
        <p:txBody>
          <a:bodyPr wrap="square">
            <a:spAutoFit/>
          </a:bodyPr>
          <a:lstStyle/>
          <a:p>
            <a:pPr algn="l"/>
            <a:r>
              <a:rPr sz="1500" b="1" i="0">
                <a:solidFill>
                  <a:srgbClr val="1E2B26"/>
                </a:solidFill>
                <a:latin typeface="Segoe UI"/>
              </a:rPr>
              <a:t>PLAN D'ACTION</a:t>
            </a:r>
          </a:p>
        </p:txBody>
      </p:sp>
      <p:sp>
        <p:nvSpPr>
          <p:cNvPr id="24" name="Rectangle 23"/>
          <p:cNvSpPr/>
          <p:nvPr/>
        </p:nvSpPr>
        <p:spPr>
          <a:xfrm>
            <a:off x="8595360" y="3520440"/>
            <a:ext cx="2971800" cy="18288"/>
          </a:xfrm>
          <a:prstGeom prst="rect">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60" y="3703320"/>
            <a:ext cx="3063240" cy="502920"/>
          </a:xfrm>
          <a:prstGeom prst="rect">
            <a:avLst/>
          </a:prstGeom>
          <a:noFill/>
        </p:spPr>
        <p:txBody>
          <a:bodyPr wrap="square">
            <a:spAutoFit/>
          </a:bodyPr>
          <a:lstStyle/>
          <a:p>
            <a:pPr algn="l"/>
            <a:r>
              <a:rPr sz="1200" b="0" i="0">
                <a:solidFill>
                  <a:srgbClr val="1E2B26"/>
                </a:solidFill>
                <a:latin typeface="Segoe UI"/>
              </a:rPr>
              <a:t>—  Recommandations Prioritaires</a:t>
            </a:r>
          </a:p>
        </p:txBody>
      </p:sp>
      <p:sp>
        <p:nvSpPr>
          <p:cNvPr id="26" name="TextBox 25"/>
          <p:cNvSpPr txBox="1"/>
          <p:nvPr/>
        </p:nvSpPr>
        <p:spPr>
          <a:xfrm>
            <a:off x="8595360" y="4251960"/>
            <a:ext cx="3063240" cy="502920"/>
          </a:xfrm>
          <a:prstGeom prst="rect">
            <a:avLst/>
          </a:prstGeom>
          <a:noFill/>
        </p:spPr>
        <p:txBody>
          <a:bodyPr wrap="square">
            <a:spAutoFit/>
          </a:bodyPr>
          <a:lstStyle/>
          <a:p>
            <a:pPr algn="l"/>
            <a:r>
              <a:rPr sz="1200" b="0" i="0">
                <a:solidFill>
                  <a:srgbClr val="1E2B26"/>
                </a:solidFill>
                <a:latin typeface="Segoe UI"/>
              </a:rPr>
              <a:t>—  Un plan d'action ESG sur 12 mois</a:t>
            </a:r>
          </a:p>
        </p:txBody>
      </p:sp>
      <p:sp>
        <p:nvSpPr>
          <p:cNvPr id="27" name="TextBox 26"/>
          <p:cNvSpPr txBox="1"/>
          <p:nvPr/>
        </p:nvSpPr>
        <p:spPr>
          <a:xfrm>
            <a:off x="8595360" y="4800600"/>
            <a:ext cx="3063240" cy="502920"/>
          </a:xfrm>
          <a:prstGeom prst="rect">
            <a:avLst/>
          </a:prstGeom>
          <a:noFill/>
        </p:spPr>
        <p:txBody>
          <a:bodyPr wrap="square">
            <a:spAutoFit/>
          </a:bodyPr>
          <a:lstStyle/>
          <a:p>
            <a:pPr algn="l"/>
            <a:r>
              <a:rPr sz="1200" b="0" i="0">
                <a:solidFill>
                  <a:srgbClr val="1E2B26"/>
                </a:solidFill>
                <a:latin typeface="Segoe UI"/>
              </a:rPr>
              <a:t>—  Conclusion &amp; Engagements</a:t>
            </a:r>
          </a:p>
        </p:txBody>
      </p:sp>
      <p:sp>
        <p:nvSpPr>
          <p:cNvPr id="28" name="TextBox 27"/>
          <p:cNvSpPr txBox="1"/>
          <p:nvPr/>
        </p:nvSpPr>
        <p:spPr>
          <a:xfrm>
            <a:off x="8778240" y="6537960"/>
            <a:ext cx="3200400" cy="274320"/>
          </a:xfrm>
          <a:prstGeom prst="rect">
            <a:avLst/>
          </a:prstGeom>
          <a:noFill/>
        </p:spPr>
        <p:txBody>
          <a:bodyPr wrap="square">
            <a:spAutoFit/>
          </a:bodyPr>
          <a:lstStyle/>
          <a:p>
            <a:pPr algn="r"/>
            <a:r>
              <a:rPr sz="800" b="0" i="0">
                <a:solidFill>
                  <a:srgbClr val="5F6B64"/>
                </a:solidFill>
                <a:latin typeface="Segoe UI"/>
              </a:rPr>
              <a:t>Acme Industries   |   4 / 28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43400" cy="6858000"/>
          </a:xfrm>
          <a:prstGeom prst="rect">
            <a:avLst/>
          </a:prstGeom>
          <a:solidFill>
            <a:srgbClr val="1F3D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270248" y="0"/>
            <a:ext cx="73152" cy="6858000"/>
          </a:xfrm>
          <a:prstGeom prst="rect">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85800"/>
            <a:ext cx="3566160" cy="457200"/>
          </a:xfrm>
          <a:prstGeom prst="rect">
            <a:avLst/>
          </a:prstGeom>
          <a:noFill/>
        </p:spPr>
        <p:txBody>
          <a:bodyPr wrap="square">
            <a:spAutoFit/>
          </a:bodyPr>
          <a:lstStyle/>
          <a:p>
            <a:pPr algn="l"/>
            <a:r>
              <a:rPr sz="1300" b="1" i="0">
                <a:solidFill>
                  <a:srgbClr val="2E5A4B"/>
                </a:solidFill>
                <a:latin typeface="Segoe UI"/>
              </a:rPr>
              <a:t>SYNTHÈSE ESG 2025</a:t>
            </a:r>
          </a:p>
        </p:txBody>
      </p:sp>
      <p:sp>
        <p:nvSpPr>
          <p:cNvPr id="6" name="TextBox 5"/>
          <p:cNvSpPr txBox="1"/>
          <p:nvPr/>
        </p:nvSpPr>
        <p:spPr>
          <a:xfrm>
            <a:off x="182880" y="1691640"/>
            <a:ext cx="3977639" cy="1920240"/>
          </a:xfrm>
          <a:prstGeom prst="rect">
            <a:avLst/>
          </a:prstGeom>
          <a:noFill/>
        </p:spPr>
        <p:txBody>
          <a:bodyPr wrap="square">
            <a:spAutoFit/>
          </a:bodyPr>
          <a:lstStyle/>
          <a:p>
            <a:pPr algn="ctr"/>
            <a:r>
              <a:rPr sz="12500" b="1" i="0">
                <a:solidFill>
                  <a:srgbClr val="FFFFFF"/>
                </a:solidFill>
                <a:latin typeface="Georgia"/>
              </a:rPr>
              <a:t>70</a:t>
            </a:r>
          </a:p>
        </p:txBody>
      </p:sp>
      <p:sp>
        <p:nvSpPr>
          <p:cNvPr id="7" name="TextBox 6"/>
          <p:cNvSpPr txBox="1"/>
          <p:nvPr/>
        </p:nvSpPr>
        <p:spPr>
          <a:xfrm>
            <a:off x="182880" y="3611880"/>
            <a:ext cx="3977639" cy="502920"/>
          </a:xfrm>
          <a:prstGeom prst="rect">
            <a:avLst/>
          </a:prstGeom>
          <a:noFill/>
        </p:spPr>
        <p:txBody>
          <a:bodyPr wrap="square">
            <a:spAutoFit/>
          </a:bodyPr>
          <a:lstStyle/>
          <a:p>
            <a:pPr algn="ctr"/>
            <a:r>
              <a:rPr sz="2200" b="0" i="0">
                <a:solidFill>
                  <a:srgbClr val="C9D8C5"/>
                </a:solidFill>
                <a:latin typeface="Segoe UI"/>
              </a:rPr>
              <a:t>/ 100</a:t>
            </a:r>
          </a:p>
        </p:txBody>
      </p:sp>
      <p:sp>
        <p:nvSpPr>
          <p:cNvPr id="8" name="Rounded Rectangle 7"/>
          <p:cNvSpPr/>
          <p:nvPr/>
        </p:nvSpPr>
        <p:spPr>
          <a:xfrm>
            <a:off x="1417320" y="4343400"/>
            <a:ext cx="1508760" cy="777240"/>
          </a:xfrm>
          <a:prstGeom prst="roundRect">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17320" y="4480560"/>
            <a:ext cx="1508760" cy="548640"/>
          </a:xfrm>
          <a:prstGeom prst="rect">
            <a:avLst/>
          </a:prstGeom>
          <a:noFill/>
        </p:spPr>
        <p:txBody>
          <a:bodyPr wrap="square">
            <a:spAutoFit/>
          </a:bodyPr>
          <a:lstStyle/>
          <a:p>
            <a:pPr algn="ctr"/>
            <a:r>
              <a:rPr sz="3000" b="1" i="0">
                <a:solidFill>
                  <a:srgbClr val="1F3D33"/>
                </a:solidFill>
                <a:latin typeface="Georgia"/>
              </a:rPr>
              <a:t>A</a:t>
            </a:r>
          </a:p>
        </p:txBody>
      </p:sp>
      <p:sp>
        <p:nvSpPr>
          <p:cNvPr id="10" name="TextBox 9"/>
          <p:cNvSpPr txBox="1"/>
          <p:nvPr/>
        </p:nvSpPr>
        <p:spPr>
          <a:xfrm>
            <a:off x="182880" y="5349240"/>
            <a:ext cx="3977639" cy="365760"/>
          </a:xfrm>
          <a:prstGeom prst="rect">
            <a:avLst/>
          </a:prstGeom>
          <a:noFill/>
        </p:spPr>
        <p:txBody>
          <a:bodyPr wrap="square">
            <a:spAutoFit/>
          </a:bodyPr>
          <a:lstStyle/>
          <a:p>
            <a:pPr algn="ctr"/>
            <a:r>
              <a:rPr sz="1200" b="1" i="0">
                <a:solidFill>
                  <a:srgbClr val="C9D8C5"/>
                </a:solidFill>
                <a:latin typeface="Segoe UI"/>
              </a:rPr>
              <a:t>SCORE ESG GLOBAL</a:t>
            </a:r>
          </a:p>
        </p:txBody>
      </p:sp>
      <p:sp>
        <p:nvSpPr>
          <p:cNvPr id="11" name="TextBox 10"/>
          <p:cNvSpPr txBox="1"/>
          <p:nvPr/>
        </p:nvSpPr>
        <p:spPr>
          <a:xfrm>
            <a:off x="182880" y="5760720"/>
            <a:ext cx="3977639" cy="365760"/>
          </a:xfrm>
          <a:prstGeom prst="rect">
            <a:avLst/>
          </a:prstGeom>
          <a:noFill/>
        </p:spPr>
        <p:txBody>
          <a:bodyPr wrap="square">
            <a:spAutoFit/>
          </a:bodyPr>
          <a:lstStyle/>
          <a:p>
            <a:pPr algn="ctr"/>
            <a:r>
              <a:rPr sz="1400" b="1" i="0">
                <a:solidFill>
                  <a:srgbClr val="4CAF50"/>
                </a:solidFill>
                <a:latin typeface="Segoe UI"/>
              </a:rPr>
              <a:t>+6 pts  vs 2024</a:t>
            </a:r>
          </a:p>
        </p:txBody>
      </p:sp>
      <p:sp>
        <p:nvSpPr>
          <p:cNvPr id="12" name="TextBox 11"/>
          <p:cNvSpPr txBox="1"/>
          <p:nvPr/>
        </p:nvSpPr>
        <p:spPr>
          <a:xfrm>
            <a:off x="4754880" y="594360"/>
            <a:ext cx="7223760" cy="822960"/>
          </a:xfrm>
          <a:prstGeom prst="rect">
            <a:avLst/>
          </a:prstGeom>
          <a:noFill/>
        </p:spPr>
        <p:txBody>
          <a:bodyPr wrap="square">
            <a:spAutoFit/>
          </a:bodyPr>
          <a:lstStyle/>
          <a:p>
            <a:pPr algn="l"/>
            <a:r>
              <a:rPr sz="3400" b="1" i="0">
                <a:solidFill>
                  <a:srgbClr val="1E2B26"/>
                </a:solidFill>
                <a:latin typeface="Georgia"/>
              </a:rPr>
              <a:t>Synthèse Exécutive</a:t>
            </a:r>
          </a:p>
        </p:txBody>
      </p:sp>
      <p:sp>
        <p:nvSpPr>
          <p:cNvPr id="13" name="Rectangle 12"/>
          <p:cNvSpPr/>
          <p:nvPr/>
        </p:nvSpPr>
        <p:spPr>
          <a:xfrm>
            <a:off x="4782312" y="1481328"/>
            <a:ext cx="1463040" cy="54864"/>
          </a:xfrm>
          <a:prstGeom prst="rect">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0" y="1737360"/>
            <a:ext cx="7178040" cy="1371600"/>
          </a:xfrm>
          <a:prstGeom prst="rect">
            <a:avLst/>
          </a:prstGeom>
          <a:noFill/>
        </p:spPr>
        <p:txBody>
          <a:bodyPr wrap="square">
            <a:spAutoFit/>
          </a:bodyPr>
          <a:lstStyle/>
          <a:p>
            <a:pPr algn="l"/>
            <a:r>
              <a:rPr sz="1600" b="0" i="0">
                <a:solidFill>
                  <a:srgbClr val="1E2B26"/>
                </a:solidFill>
                <a:latin typeface="Segoe UI"/>
              </a:rPr>
              <a:t>Acme Industries affiche un profil ESG solide (70/100, A), porté par la gouvernance (75/100) ; le social (65/100) concentre le potentiel de progression.</a:t>
            </a:r>
          </a:p>
        </p:txBody>
      </p:sp>
      <p:sp>
        <p:nvSpPr>
          <p:cNvPr id="15" name="TextBox 14"/>
          <p:cNvSpPr txBox="1"/>
          <p:nvPr/>
        </p:nvSpPr>
        <p:spPr>
          <a:xfrm>
            <a:off x="4754880" y="3200400"/>
            <a:ext cx="3657600" cy="365760"/>
          </a:xfrm>
          <a:prstGeom prst="rect">
            <a:avLst/>
          </a:prstGeom>
          <a:noFill/>
        </p:spPr>
        <p:txBody>
          <a:bodyPr wrap="square">
            <a:spAutoFit/>
          </a:bodyPr>
          <a:lstStyle/>
          <a:p>
            <a:pPr algn="l"/>
            <a:r>
              <a:rPr sz="1200" b="1" i="0">
                <a:solidFill>
                  <a:srgbClr val="5F6B64"/>
                </a:solidFill>
                <a:latin typeface="Segoe UI"/>
              </a:rPr>
              <a:t>PERFORMANCE PAR PILIER</a:t>
            </a:r>
          </a:p>
        </p:txBody>
      </p:sp>
      <p:sp>
        <p:nvSpPr>
          <p:cNvPr id="16" name="TextBox 15"/>
          <p:cNvSpPr txBox="1"/>
          <p:nvPr/>
        </p:nvSpPr>
        <p:spPr>
          <a:xfrm>
            <a:off x="4754880" y="3703320"/>
            <a:ext cx="3108960" cy="292608"/>
          </a:xfrm>
          <a:prstGeom prst="rect">
            <a:avLst/>
          </a:prstGeom>
          <a:noFill/>
        </p:spPr>
        <p:txBody>
          <a:bodyPr wrap="square">
            <a:spAutoFit/>
          </a:bodyPr>
          <a:lstStyle/>
          <a:p>
            <a:pPr algn="l"/>
            <a:r>
              <a:rPr sz="1250" b="1" i="0">
                <a:solidFill>
                  <a:srgbClr val="1E2B26"/>
                </a:solidFill>
                <a:latin typeface="Segoe UI"/>
              </a:rPr>
              <a:t>Environnement</a:t>
            </a:r>
          </a:p>
        </p:txBody>
      </p:sp>
      <p:sp>
        <p:nvSpPr>
          <p:cNvPr id="17" name="TextBox 16"/>
          <p:cNvSpPr txBox="1"/>
          <p:nvPr/>
        </p:nvSpPr>
        <p:spPr>
          <a:xfrm>
            <a:off x="5715000" y="3703320"/>
            <a:ext cx="1554480" cy="292608"/>
          </a:xfrm>
          <a:prstGeom prst="rect">
            <a:avLst/>
          </a:prstGeom>
          <a:noFill/>
        </p:spPr>
        <p:txBody>
          <a:bodyPr wrap="square">
            <a:spAutoFit/>
          </a:bodyPr>
          <a:lstStyle/>
          <a:p>
            <a:pPr algn="r"/>
            <a:r>
              <a:rPr sz="1000" b="0" i="0">
                <a:solidFill>
                  <a:srgbClr val="5F6B64"/>
                </a:solidFill>
                <a:latin typeface="Segoe UI"/>
              </a:rPr>
              <a:t>3/4 indic.</a:t>
            </a:r>
          </a:p>
        </p:txBody>
      </p:sp>
      <p:sp>
        <p:nvSpPr>
          <p:cNvPr id="18" name="TextBox 17"/>
          <p:cNvSpPr txBox="1"/>
          <p:nvPr/>
        </p:nvSpPr>
        <p:spPr>
          <a:xfrm>
            <a:off x="7315200" y="3703320"/>
            <a:ext cx="548640" cy="292608"/>
          </a:xfrm>
          <a:prstGeom prst="rect">
            <a:avLst/>
          </a:prstGeom>
          <a:noFill/>
        </p:spPr>
        <p:txBody>
          <a:bodyPr wrap="square">
            <a:spAutoFit/>
          </a:bodyPr>
          <a:lstStyle/>
          <a:p>
            <a:pPr algn="r"/>
            <a:r>
              <a:rPr sz="1300" b="1" i="0">
                <a:solidFill>
                  <a:srgbClr val="2F6B4F"/>
                </a:solidFill>
                <a:latin typeface="Georgia"/>
              </a:rPr>
              <a:t>70</a:t>
            </a:r>
          </a:p>
        </p:txBody>
      </p:sp>
      <p:sp>
        <p:nvSpPr>
          <p:cNvPr id="19" name="Rounded Rectangle 18"/>
          <p:cNvSpPr/>
          <p:nvPr/>
        </p:nvSpPr>
        <p:spPr>
          <a:xfrm>
            <a:off x="4754880" y="4032504"/>
            <a:ext cx="3108960" cy="15544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754880" y="4032504"/>
            <a:ext cx="2176272" cy="155448"/>
          </a:xfrm>
          <a:prstGeom prst="round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0" y="4544568"/>
            <a:ext cx="3108960" cy="292608"/>
          </a:xfrm>
          <a:prstGeom prst="rect">
            <a:avLst/>
          </a:prstGeom>
          <a:noFill/>
        </p:spPr>
        <p:txBody>
          <a:bodyPr wrap="square">
            <a:spAutoFit/>
          </a:bodyPr>
          <a:lstStyle/>
          <a:p>
            <a:pPr algn="l"/>
            <a:r>
              <a:rPr sz="1250" b="1" i="0">
                <a:solidFill>
                  <a:srgbClr val="1E2B26"/>
                </a:solidFill>
                <a:latin typeface="Segoe UI"/>
              </a:rPr>
              <a:t>Social</a:t>
            </a:r>
          </a:p>
        </p:txBody>
      </p:sp>
      <p:sp>
        <p:nvSpPr>
          <p:cNvPr id="22" name="TextBox 21"/>
          <p:cNvSpPr txBox="1"/>
          <p:nvPr/>
        </p:nvSpPr>
        <p:spPr>
          <a:xfrm>
            <a:off x="5715000" y="4544568"/>
            <a:ext cx="1554480" cy="292608"/>
          </a:xfrm>
          <a:prstGeom prst="rect">
            <a:avLst/>
          </a:prstGeom>
          <a:noFill/>
        </p:spPr>
        <p:txBody>
          <a:bodyPr wrap="square">
            <a:spAutoFit/>
          </a:bodyPr>
          <a:lstStyle/>
          <a:p>
            <a:pPr algn="r"/>
            <a:r>
              <a:rPr sz="1000" b="0" i="0">
                <a:solidFill>
                  <a:srgbClr val="5F6B64"/>
                </a:solidFill>
                <a:latin typeface="Segoe UI"/>
              </a:rPr>
              <a:t>4/6 indic.</a:t>
            </a:r>
          </a:p>
        </p:txBody>
      </p:sp>
      <p:sp>
        <p:nvSpPr>
          <p:cNvPr id="23" name="TextBox 22"/>
          <p:cNvSpPr txBox="1"/>
          <p:nvPr/>
        </p:nvSpPr>
        <p:spPr>
          <a:xfrm>
            <a:off x="7315200" y="4544568"/>
            <a:ext cx="548640" cy="292608"/>
          </a:xfrm>
          <a:prstGeom prst="rect">
            <a:avLst/>
          </a:prstGeom>
          <a:noFill/>
        </p:spPr>
        <p:txBody>
          <a:bodyPr wrap="square">
            <a:spAutoFit/>
          </a:bodyPr>
          <a:lstStyle/>
          <a:p>
            <a:pPr algn="r"/>
            <a:r>
              <a:rPr sz="1300" b="1" i="0">
                <a:solidFill>
                  <a:srgbClr val="3D6A8A"/>
                </a:solidFill>
                <a:latin typeface="Georgia"/>
              </a:rPr>
              <a:t>65</a:t>
            </a:r>
          </a:p>
        </p:txBody>
      </p:sp>
      <p:sp>
        <p:nvSpPr>
          <p:cNvPr id="24" name="Rounded Rectangle 23"/>
          <p:cNvSpPr/>
          <p:nvPr/>
        </p:nvSpPr>
        <p:spPr>
          <a:xfrm>
            <a:off x="4754880" y="4873752"/>
            <a:ext cx="3108960" cy="15544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754880" y="4873752"/>
            <a:ext cx="2020824" cy="155448"/>
          </a:xfrm>
          <a:prstGeom prst="roundRect">
            <a:avLst/>
          </a:prstGeom>
          <a:solidFill>
            <a:srgbClr val="3D6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54880" y="5385816"/>
            <a:ext cx="3108960" cy="292608"/>
          </a:xfrm>
          <a:prstGeom prst="rect">
            <a:avLst/>
          </a:prstGeom>
          <a:noFill/>
        </p:spPr>
        <p:txBody>
          <a:bodyPr wrap="square">
            <a:spAutoFit/>
          </a:bodyPr>
          <a:lstStyle/>
          <a:p>
            <a:pPr algn="l"/>
            <a:r>
              <a:rPr sz="1250" b="1" i="0">
                <a:solidFill>
                  <a:srgbClr val="1E2B26"/>
                </a:solidFill>
                <a:latin typeface="Segoe UI"/>
              </a:rPr>
              <a:t>Gouvernance</a:t>
            </a:r>
          </a:p>
        </p:txBody>
      </p:sp>
      <p:sp>
        <p:nvSpPr>
          <p:cNvPr id="27" name="TextBox 26"/>
          <p:cNvSpPr txBox="1"/>
          <p:nvPr/>
        </p:nvSpPr>
        <p:spPr>
          <a:xfrm>
            <a:off x="5715000" y="5385816"/>
            <a:ext cx="1554480" cy="292608"/>
          </a:xfrm>
          <a:prstGeom prst="rect">
            <a:avLst/>
          </a:prstGeom>
          <a:noFill/>
        </p:spPr>
        <p:txBody>
          <a:bodyPr wrap="square">
            <a:spAutoFit/>
          </a:bodyPr>
          <a:lstStyle/>
          <a:p>
            <a:pPr algn="r"/>
            <a:r>
              <a:rPr sz="1000" b="0" i="0">
                <a:solidFill>
                  <a:srgbClr val="5F6B64"/>
                </a:solidFill>
                <a:latin typeface="Segoe UI"/>
              </a:rPr>
              <a:t>6/8 indic.</a:t>
            </a:r>
          </a:p>
        </p:txBody>
      </p:sp>
      <p:sp>
        <p:nvSpPr>
          <p:cNvPr id="28" name="TextBox 27"/>
          <p:cNvSpPr txBox="1"/>
          <p:nvPr/>
        </p:nvSpPr>
        <p:spPr>
          <a:xfrm>
            <a:off x="7315200" y="5385816"/>
            <a:ext cx="548640" cy="292608"/>
          </a:xfrm>
          <a:prstGeom prst="rect">
            <a:avLst/>
          </a:prstGeom>
          <a:noFill/>
        </p:spPr>
        <p:txBody>
          <a:bodyPr wrap="square">
            <a:spAutoFit/>
          </a:bodyPr>
          <a:lstStyle/>
          <a:p>
            <a:pPr algn="r"/>
            <a:r>
              <a:rPr sz="1300" b="1" i="0">
                <a:solidFill>
                  <a:srgbClr val="6B5B86"/>
                </a:solidFill>
                <a:latin typeface="Georgia"/>
              </a:rPr>
              <a:t>75</a:t>
            </a:r>
          </a:p>
        </p:txBody>
      </p:sp>
      <p:sp>
        <p:nvSpPr>
          <p:cNvPr id="29" name="Rounded Rectangle 28"/>
          <p:cNvSpPr/>
          <p:nvPr/>
        </p:nvSpPr>
        <p:spPr>
          <a:xfrm>
            <a:off x="4754880" y="5715000"/>
            <a:ext cx="3108960" cy="15544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754880" y="5715000"/>
            <a:ext cx="2331720" cy="155448"/>
          </a:xfrm>
          <a:prstGeom prst="roundRect">
            <a:avLst/>
          </a:prstGeom>
          <a:solidFill>
            <a:srgbClr val="6B5B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78240" y="6537960"/>
            <a:ext cx="3200400" cy="274320"/>
          </a:xfrm>
          <a:prstGeom prst="rect">
            <a:avLst/>
          </a:prstGeom>
          <a:noFill/>
        </p:spPr>
        <p:txBody>
          <a:bodyPr wrap="square">
            <a:spAutoFit/>
          </a:bodyPr>
          <a:lstStyle/>
          <a:p>
            <a:pPr algn="r"/>
            <a:r>
              <a:rPr sz="800" b="0" i="0">
                <a:solidFill>
                  <a:srgbClr val="5F6B64"/>
                </a:solidFill>
                <a:latin typeface="Segoe UI"/>
              </a:rPr>
              <a:t>Acme Industries   |   5 / 28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31520"/>
            <a:ext cx="10881360" cy="457200"/>
          </a:xfrm>
          <a:prstGeom prst="rect">
            <a:avLst/>
          </a:prstGeom>
          <a:noFill/>
        </p:spPr>
        <p:txBody>
          <a:bodyPr wrap="square">
            <a:spAutoFit/>
          </a:bodyPr>
          <a:lstStyle/>
          <a:p>
            <a:pPr algn="l"/>
            <a:r>
              <a:rPr sz="1400" b="1" i="0">
                <a:solidFill>
                  <a:srgbClr val="2E5A4B"/>
                </a:solidFill>
                <a:latin typeface="Segoe UI"/>
              </a:rPr>
              <a:t>L'ANALYSE DU CONSULTANT</a:t>
            </a:r>
          </a:p>
        </p:txBody>
      </p:sp>
      <p:sp>
        <p:nvSpPr>
          <p:cNvPr id="5" name="Rectangle 4"/>
          <p:cNvSpPr/>
          <p:nvPr/>
        </p:nvSpPr>
        <p:spPr>
          <a:xfrm>
            <a:off x="685800" y="1325880"/>
            <a:ext cx="1645920" cy="45720"/>
          </a:xfrm>
          <a:prstGeom prst="rect">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828800"/>
            <a:ext cx="10789920" cy="4206240"/>
          </a:xfrm>
          <a:prstGeom prst="rect">
            <a:avLst/>
          </a:prstGeom>
          <a:noFill/>
        </p:spPr>
        <p:txBody>
          <a:bodyPr wrap="square">
            <a:spAutoFit/>
          </a:bodyPr>
          <a:lstStyle/>
          <a:p>
            <a:pPr algn="l"/>
            <a:r>
              <a:rPr sz="1900" b="0" i="1">
                <a:solidFill>
                  <a:srgbClr val="1E2B26"/>
                </a:solidFill>
                <a:latin typeface="Georgia"/>
              </a:rPr>
              <a:t>La priorité 2026 est la fiabilisation du reporting énergie avant l'audit de certification prévu au troisième trimestre.</a:t>
            </a:r>
          </a:p>
        </p:txBody>
      </p:sp>
      <p:sp>
        <p:nvSpPr>
          <p:cNvPr id="7" name="TextBox 6"/>
          <p:cNvSpPr txBox="1"/>
          <p:nvPr/>
        </p:nvSpPr>
        <p:spPr>
          <a:xfrm>
            <a:off x="685800" y="6035040"/>
            <a:ext cx="10789920" cy="365760"/>
          </a:xfrm>
          <a:prstGeom prst="rect">
            <a:avLst/>
          </a:prstGeom>
          <a:noFill/>
        </p:spPr>
        <p:txBody>
          <a:bodyPr wrap="square">
            <a:spAutoFit/>
          </a:bodyPr>
          <a:lstStyle/>
          <a:p>
            <a:pPr algn="l"/>
            <a:r>
              <a:rPr sz="1200" b="1" i="0">
                <a:solidFill>
                  <a:srgbClr val="5F6B64"/>
                </a:solidFill>
                <a:latin typeface="Segoe UI"/>
              </a:rPr>
              <a:t>J. Martin</a:t>
            </a:r>
          </a:p>
        </p:txBody>
      </p:sp>
      <p:sp>
        <p:nvSpPr>
          <p:cNvPr id="8" name="TextBox 7"/>
          <p:cNvSpPr txBox="1"/>
          <p:nvPr/>
        </p:nvSpPr>
        <p:spPr>
          <a:xfrm>
            <a:off x="8778240" y="6537960"/>
            <a:ext cx="3200400" cy="274320"/>
          </a:xfrm>
          <a:prstGeom prst="rect">
            <a:avLst/>
          </a:prstGeom>
          <a:noFill/>
        </p:spPr>
        <p:txBody>
          <a:bodyPr wrap="square">
            <a:spAutoFit/>
          </a:bodyPr>
          <a:lstStyle/>
          <a:p>
            <a:pPr algn="r"/>
            <a:r>
              <a:rPr sz="800" b="0" i="0">
                <a:solidFill>
                  <a:srgbClr val="5F6B64"/>
                </a:solidFill>
                <a:latin typeface="Segoe UI"/>
              </a:rPr>
              <a:t>Acme Industries   |   6 / 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201168" cy="201168"/>
          </a:xfrm>
          <a:prstGeom prst="rect">
            <a:avLst/>
          </a:prstGeom>
          <a:solidFill>
            <a:srgbClr val="1F3D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10789920" cy="685800"/>
          </a:xfrm>
          <a:prstGeom prst="rect">
            <a:avLst/>
          </a:prstGeom>
          <a:noFill/>
        </p:spPr>
        <p:txBody>
          <a:bodyPr wrap="square">
            <a:spAutoFit/>
          </a:bodyPr>
          <a:lstStyle/>
          <a:p>
            <a:pPr algn="l"/>
            <a:r>
              <a:rPr sz="2000" b="1" i="0">
                <a:solidFill>
                  <a:srgbClr val="1E2B26"/>
                </a:solidFill>
                <a:latin typeface="Georgia"/>
              </a:rPr>
              <a:t>Les enjeux structurants</a:t>
            </a:r>
          </a:p>
        </p:txBody>
      </p:sp>
      <p:sp>
        <p:nvSpPr>
          <p:cNvPr id="5" name="Rectangle 4"/>
          <p:cNvSpPr/>
          <p:nvPr/>
        </p:nvSpPr>
        <p:spPr>
          <a:xfrm>
            <a:off x="457200" y="1024128"/>
            <a:ext cx="2011680" cy="18288"/>
          </a:xfrm>
          <a:prstGeom prst="rect">
            <a:avLst/>
          </a:prstGeom>
          <a:solidFill>
            <a:srgbClr val="1E2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17320"/>
            <a:ext cx="566928" cy="566928"/>
          </a:xfrm>
          <a:prstGeom prst="ellipse">
            <a:avLst/>
          </a:prstGeom>
          <a:solidFill>
            <a:srgbClr val="6B5B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463040"/>
            <a:ext cx="566928" cy="457200"/>
          </a:xfrm>
          <a:prstGeom prst="rect">
            <a:avLst/>
          </a:prstGeom>
          <a:noFill/>
        </p:spPr>
        <p:txBody>
          <a:bodyPr wrap="square">
            <a:spAutoFit/>
          </a:bodyPr>
          <a:lstStyle/>
          <a:p>
            <a:pPr algn="ctr"/>
            <a:r>
              <a:rPr sz="2000" b="1" i="0">
                <a:solidFill>
                  <a:srgbClr val="FFFFFF"/>
                </a:solidFill>
                <a:latin typeface="Georgia"/>
              </a:rPr>
              <a:t>1</a:t>
            </a:r>
          </a:p>
        </p:txBody>
      </p:sp>
      <p:sp>
        <p:nvSpPr>
          <p:cNvPr id="8" name="TextBox 7"/>
          <p:cNvSpPr txBox="1"/>
          <p:nvPr/>
        </p:nvSpPr>
        <p:spPr>
          <a:xfrm>
            <a:off x="1143000" y="1371600"/>
            <a:ext cx="4837176" cy="822960"/>
          </a:xfrm>
          <a:prstGeom prst="rect">
            <a:avLst/>
          </a:prstGeom>
          <a:noFill/>
        </p:spPr>
        <p:txBody>
          <a:bodyPr wrap="square">
            <a:spAutoFit/>
          </a:bodyPr>
          <a:lstStyle/>
          <a:p>
            <a:pPr algn="l"/>
            <a:r>
              <a:rPr sz="1400" b="1" i="0">
                <a:solidFill>
                  <a:srgbClr val="1E2B26"/>
                </a:solidFill>
                <a:latin typeface="Segoe UI"/>
              </a:rPr>
              <a:t>Des incidents d'intégrité déclarés</a:t>
            </a:r>
          </a:p>
        </p:txBody>
      </p:sp>
      <p:sp>
        <p:nvSpPr>
          <p:cNvPr id="9" name="Rectangle 8"/>
          <p:cNvSpPr/>
          <p:nvPr/>
        </p:nvSpPr>
        <p:spPr>
          <a:xfrm>
            <a:off x="457200" y="2331720"/>
            <a:ext cx="5522976" cy="2011680"/>
          </a:xfrm>
          <a:prstGeom prst="rect">
            <a:avLst/>
          </a:prstGeom>
          <a:solidFill>
            <a:srgbClr val="E6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331720"/>
            <a:ext cx="64008" cy="2011680"/>
          </a:xfrm>
          <a:prstGeom prst="rect">
            <a:avLst/>
          </a:prstGeom>
          <a:solidFill>
            <a:srgbClr val="6B5B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404872"/>
            <a:ext cx="5248656" cy="365760"/>
          </a:xfrm>
          <a:prstGeom prst="rect">
            <a:avLst/>
          </a:prstGeom>
          <a:noFill/>
        </p:spPr>
        <p:txBody>
          <a:bodyPr wrap="square">
            <a:spAutoFit/>
          </a:bodyPr>
          <a:lstStyle/>
          <a:p>
            <a:pPr algn="l"/>
            <a:r>
              <a:rPr sz="1300" b="1" i="0">
                <a:solidFill>
                  <a:srgbClr val="6B5B86"/>
                </a:solidFill>
                <a:latin typeface="Segoe UI"/>
              </a:rPr>
              <a:t>Pourquoi</a:t>
            </a:r>
          </a:p>
        </p:txBody>
      </p:sp>
      <p:sp>
        <p:nvSpPr>
          <p:cNvPr id="12" name="TextBox 11"/>
          <p:cNvSpPr txBox="1"/>
          <p:nvPr/>
        </p:nvSpPr>
        <p:spPr>
          <a:xfrm>
            <a:off x="640080" y="2770632"/>
            <a:ext cx="5248656" cy="1508760"/>
          </a:xfrm>
          <a:prstGeom prst="rect">
            <a:avLst/>
          </a:prstGeom>
          <a:noFill/>
        </p:spPr>
        <p:txBody>
          <a:bodyPr wrap="square">
            <a:spAutoFit/>
          </a:bodyPr>
          <a:lstStyle/>
          <a:p>
            <a:pPr algn="l"/>
            <a:r>
              <a:rPr sz="1100" b="0" i="0">
                <a:solidFill>
                  <a:srgbClr val="1E2B26"/>
                </a:solidFill>
                <a:latin typeface="Segoe UI"/>
              </a:rPr>
              <a:t>Une violation de données a été déclarée sur l'exercice.</a:t>
            </a:r>
          </a:p>
        </p:txBody>
      </p:sp>
      <p:sp>
        <p:nvSpPr>
          <p:cNvPr id="13" name="Rectangle 12"/>
          <p:cNvSpPr/>
          <p:nvPr/>
        </p:nvSpPr>
        <p:spPr>
          <a:xfrm>
            <a:off x="457200" y="4480560"/>
            <a:ext cx="5522976" cy="1920240"/>
          </a:xfrm>
          <a:prstGeom prst="rect">
            <a:avLst/>
          </a:prstGeom>
          <a:solidFill>
            <a:srgbClr val="E6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4480560"/>
            <a:ext cx="64008" cy="1920240"/>
          </a:xfrm>
          <a:prstGeom prst="rect">
            <a:avLst/>
          </a:prstGeom>
          <a:solidFill>
            <a:srgbClr val="6B5B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553712"/>
            <a:ext cx="5248656" cy="365760"/>
          </a:xfrm>
          <a:prstGeom prst="rect">
            <a:avLst/>
          </a:prstGeom>
          <a:noFill/>
        </p:spPr>
        <p:txBody>
          <a:bodyPr wrap="square">
            <a:spAutoFit/>
          </a:bodyPr>
          <a:lstStyle/>
          <a:p>
            <a:pPr algn="l"/>
            <a:r>
              <a:rPr sz="1300" b="1" i="0">
                <a:solidFill>
                  <a:srgbClr val="6B5B86"/>
                </a:solidFill>
                <a:latin typeface="Segoe UI"/>
              </a:rPr>
              <a:t>Ce que cela entraîne</a:t>
            </a:r>
          </a:p>
        </p:txBody>
      </p:sp>
      <p:sp>
        <p:nvSpPr>
          <p:cNvPr id="16" name="TextBox 15"/>
          <p:cNvSpPr txBox="1"/>
          <p:nvPr/>
        </p:nvSpPr>
        <p:spPr>
          <a:xfrm>
            <a:off x="640080" y="4919472"/>
            <a:ext cx="5248656" cy="1417320"/>
          </a:xfrm>
          <a:prstGeom prst="rect">
            <a:avLst/>
          </a:prstGeom>
          <a:noFill/>
        </p:spPr>
        <p:txBody>
          <a:bodyPr wrap="square">
            <a:spAutoFit/>
          </a:bodyPr>
          <a:lstStyle/>
          <a:p>
            <a:pPr algn="l"/>
            <a:r>
              <a:rPr sz="1100" b="0" i="0">
                <a:solidFill>
                  <a:srgbClr val="1E2B26"/>
                </a:solidFill>
                <a:latin typeface="Segoe UI"/>
              </a:rPr>
              <a:t>Chaque violation de données entame la confiance des clients.</a:t>
            </a:r>
          </a:p>
        </p:txBody>
      </p:sp>
      <p:sp>
        <p:nvSpPr>
          <p:cNvPr id="17" name="Oval 16"/>
          <p:cNvSpPr/>
          <p:nvPr/>
        </p:nvSpPr>
        <p:spPr>
          <a:xfrm>
            <a:off x="6208776" y="1417320"/>
            <a:ext cx="566928" cy="566928"/>
          </a:xfrm>
          <a:prstGeom prst="ellipse">
            <a:avLst/>
          </a:prstGeom>
          <a:solidFill>
            <a:srgbClr val="6B5B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08776" y="1463040"/>
            <a:ext cx="566928" cy="457200"/>
          </a:xfrm>
          <a:prstGeom prst="rect">
            <a:avLst/>
          </a:prstGeom>
          <a:noFill/>
        </p:spPr>
        <p:txBody>
          <a:bodyPr wrap="square">
            <a:spAutoFit/>
          </a:bodyPr>
          <a:lstStyle/>
          <a:p>
            <a:pPr algn="ctr"/>
            <a:r>
              <a:rPr sz="2000" b="1" i="0">
                <a:solidFill>
                  <a:srgbClr val="FFFFFF"/>
                </a:solidFill>
                <a:latin typeface="Georgia"/>
              </a:rPr>
              <a:t>2</a:t>
            </a:r>
          </a:p>
        </p:txBody>
      </p:sp>
      <p:sp>
        <p:nvSpPr>
          <p:cNvPr id="19" name="TextBox 18"/>
          <p:cNvSpPr txBox="1"/>
          <p:nvPr/>
        </p:nvSpPr>
        <p:spPr>
          <a:xfrm>
            <a:off x="6894576" y="1371600"/>
            <a:ext cx="4837176" cy="822960"/>
          </a:xfrm>
          <a:prstGeom prst="rect">
            <a:avLst/>
          </a:prstGeom>
          <a:noFill/>
        </p:spPr>
        <p:txBody>
          <a:bodyPr wrap="square">
            <a:spAutoFit/>
          </a:bodyPr>
          <a:lstStyle/>
          <a:p>
            <a:pPr algn="l"/>
            <a:r>
              <a:rPr sz="1400" b="1" i="0">
                <a:solidFill>
                  <a:srgbClr val="1E2B26"/>
                </a:solidFill>
                <a:latin typeface="Segoe UI"/>
              </a:rPr>
              <a:t>Des données ESG non vérifiées</a:t>
            </a:r>
          </a:p>
        </p:txBody>
      </p:sp>
      <p:sp>
        <p:nvSpPr>
          <p:cNvPr id="20" name="Rectangle 19"/>
          <p:cNvSpPr/>
          <p:nvPr/>
        </p:nvSpPr>
        <p:spPr>
          <a:xfrm>
            <a:off x="6208776" y="2331720"/>
            <a:ext cx="5522976" cy="2011680"/>
          </a:xfrm>
          <a:prstGeom prst="rect">
            <a:avLst/>
          </a:prstGeom>
          <a:solidFill>
            <a:srgbClr val="E6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08776" y="2331720"/>
            <a:ext cx="64008" cy="2011680"/>
          </a:xfrm>
          <a:prstGeom prst="rect">
            <a:avLst/>
          </a:prstGeom>
          <a:solidFill>
            <a:srgbClr val="6B5B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91656" y="2404872"/>
            <a:ext cx="5248656" cy="365760"/>
          </a:xfrm>
          <a:prstGeom prst="rect">
            <a:avLst/>
          </a:prstGeom>
          <a:noFill/>
        </p:spPr>
        <p:txBody>
          <a:bodyPr wrap="square">
            <a:spAutoFit/>
          </a:bodyPr>
          <a:lstStyle/>
          <a:p>
            <a:pPr algn="l"/>
            <a:r>
              <a:rPr sz="1300" b="1" i="0">
                <a:solidFill>
                  <a:srgbClr val="6B5B86"/>
                </a:solidFill>
                <a:latin typeface="Segoe UI"/>
              </a:rPr>
              <a:t>Pourquoi</a:t>
            </a:r>
          </a:p>
        </p:txBody>
      </p:sp>
      <p:sp>
        <p:nvSpPr>
          <p:cNvPr id="23" name="TextBox 22"/>
          <p:cNvSpPr txBox="1"/>
          <p:nvPr/>
        </p:nvSpPr>
        <p:spPr>
          <a:xfrm>
            <a:off x="6391656" y="2770632"/>
            <a:ext cx="5248656" cy="1508760"/>
          </a:xfrm>
          <a:prstGeom prst="rect">
            <a:avLst/>
          </a:prstGeom>
          <a:noFill/>
        </p:spPr>
        <p:txBody>
          <a:bodyPr wrap="square">
            <a:spAutoFit/>
          </a:bodyPr>
          <a:lstStyle/>
          <a:p>
            <a:pPr algn="l"/>
            <a:r>
              <a:rPr sz="1100" b="0" i="0">
                <a:solidFill>
                  <a:srgbClr val="1E2B26"/>
                </a:solidFill>
                <a:latin typeface="Segoe UI"/>
              </a:rPr>
              <a:t>Les indicateurs publiés n'ont été contrôlés par aucun tiers.</a:t>
            </a:r>
          </a:p>
        </p:txBody>
      </p:sp>
      <p:sp>
        <p:nvSpPr>
          <p:cNvPr id="24" name="Rectangle 23"/>
          <p:cNvSpPr/>
          <p:nvPr/>
        </p:nvSpPr>
        <p:spPr>
          <a:xfrm>
            <a:off x="6208776" y="4480560"/>
            <a:ext cx="5522976" cy="1920240"/>
          </a:xfrm>
          <a:prstGeom prst="rect">
            <a:avLst/>
          </a:prstGeom>
          <a:solidFill>
            <a:srgbClr val="E6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08776" y="4480560"/>
            <a:ext cx="64008" cy="1920240"/>
          </a:xfrm>
          <a:prstGeom prst="rect">
            <a:avLst/>
          </a:prstGeom>
          <a:solidFill>
            <a:srgbClr val="6B5B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91656" y="4553712"/>
            <a:ext cx="5248656" cy="365760"/>
          </a:xfrm>
          <a:prstGeom prst="rect">
            <a:avLst/>
          </a:prstGeom>
          <a:noFill/>
        </p:spPr>
        <p:txBody>
          <a:bodyPr wrap="square">
            <a:spAutoFit/>
          </a:bodyPr>
          <a:lstStyle/>
          <a:p>
            <a:pPr algn="l"/>
            <a:r>
              <a:rPr sz="1300" b="1" i="0">
                <a:solidFill>
                  <a:srgbClr val="6B5B86"/>
                </a:solidFill>
                <a:latin typeface="Segoe UI"/>
              </a:rPr>
              <a:t>Ce que cela entraîne</a:t>
            </a:r>
          </a:p>
        </p:txBody>
      </p:sp>
      <p:sp>
        <p:nvSpPr>
          <p:cNvPr id="27" name="TextBox 26"/>
          <p:cNvSpPr txBox="1"/>
          <p:nvPr/>
        </p:nvSpPr>
        <p:spPr>
          <a:xfrm>
            <a:off x="6391656" y="4919472"/>
            <a:ext cx="5248656" cy="1417320"/>
          </a:xfrm>
          <a:prstGeom prst="rect">
            <a:avLst/>
          </a:prstGeom>
          <a:noFill/>
        </p:spPr>
        <p:txBody>
          <a:bodyPr wrap="square">
            <a:spAutoFit/>
          </a:bodyPr>
          <a:lstStyle/>
          <a:p>
            <a:pPr algn="l"/>
            <a:r>
              <a:rPr sz="1100" b="0" i="0">
                <a:solidFill>
                  <a:srgbClr val="1E2B26"/>
                </a:solidFill>
                <a:latin typeface="Segoe UI"/>
              </a:rPr>
              <a:t>Les chiffres publiés restent exposés à la contestation des partenaires financiers et des grands clients, qui accordent davantage de crédit à une information vérifiée.</a:t>
            </a:r>
          </a:p>
        </p:txBody>
      </p:sp>
      <p:sp>
        <p:nvSpPr>
          <p:cNvPr id="28" name="TextBox 27"/>
          <p:cNvSpPr txBox="1"/>
          <p:nvPr/>
        </p:nvSpPr>
        <p:spPr>
          <a:xfrm>
            <a:off x="8778240" y="6537960"/>
            <a:ext cx="3200400" cy="274320"/>
          </a:xfrm>
          <a:prstGeom prst="rect">
            <a:avLst/>
          </a:prstGeom>
          <a:noFill/>
        </p:spPr>
        <p:txBody>
          <a:bodyPr wrap="square">
            <a:spAutoFit/>
          </a:bodyPr>
          <a:lstStyle/>
          <a:p>
            <a:pPr algn="r"/>
            <a:r>
              <a:rPr sz="800" b="0" i="0">
                <a:solidFill>
                  <a:srgbClr val="5F6B64"/>
                </a:solidFill>
                <a:latin typeface="Segoe UI"/>
              </a:rPr>
              <a:t>Acme Industries   |   7 / 28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3D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51560"/>
            <a:ext cx="5486400" cy="2926080"/>
          </a:xfrm>
          <a:prstGeom prst="rect">
            <a:avLst/>
          </a:prstGeom>
          <a:noFill/>
        </p:spPr>
        <p:txBody>
          <a:bodyPr wrap="square">
            <a:spAutoFit/>
          </a:bodyPr>
          <a:lstStyle/>
          <a:p>
            <a:pPr algn="l"/>
            <a:r>
              <a:rPr sz="20000" b="1" i="0">
                <a:solidFill>
                  <a:srgbClr val="E6E6DC"/>
                </a:solidFill>
                <a:latin typeface="Georgia"/>
              </a:rPr>
              <a:t>01</a:t>
            </a:r>
          </a:p>
        </p:txBody>
      </p:sp>
      <p:sp>
        <p:nvSpPr>
          <p:cNvPr id="5" name="TextBox 4"/>
          <p:cNvSpPr txBox="1"/>
          <p:nvPr/>
        </p:nvSpPr>
        <p:spPr>
          <a:xfrm>
            <a:off x="640080" y="4160520"/>
            <a:ext cx="10881360" cy="1463040"/>
          </a:xfrm>
          <a:prstGeom prst="rect">
            <a:avLst/>
          </a:prstGeom>
          <a:noFill/>
        </p:spPr>
        <p:txBody>
          <a:bodyPr wrap="square">
            <a:spAutoFit/>
          </a:bodyPr>
          <a:lstStyle/>
          <a:p>
            <a:pPr algn="l"/>
            <a:r>
              <a:rPr sz="4000" b="1" i="0">
                <a:solidFill>
                  <a:srgbClr val="F3F0E8"/>
                </a:solidFill>
                <a:latin typeface="Georgia"/>
              </a:rPr>
              <a:t>DIAGNOSTIC</a:t>
            </a:r>
          </a:p>
        </p:txBody>
      </p:sp>
      <p:sp>
        <p:nvSpPr>
          <p:cNvPr id="6" name="Rectangle 5"/>
          <p:cNvSpPr/>
          <p:nvPr/>
        </p:nvSpPr>
        <p:spPr>
          <a:xfrm>
            <a:off x="685800" y="3977639"/>
            <a:ext cx="2011680" cy="73152"/>
          </a:xfrm>
          <a:prstGeom prst="rect">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5532120"/>
            <a:ext cx="10515600" cy="822960"/>
          </a:xfrm>
          <a:prstGeom prst="rect">
            <a:avLst/>
          </a:prstGeom>
          <a:noFill/>
        </p:spPr>
        <p:txBody>
          <a:bodyPr wrap="square">
            <a:spAutoFit/>
          </a:bodyPr>
          <a:lstStyle/>
          <a:p>
            <a:pPr algn="l"/>
            <a:r>
              <a:rPr sz="1600" b="0" i="1">
                <a:solidFill>
                  <a:srgbClr val="C9D8C5"/>
                </a:solidFill>
                <a:latin typeface="Segoe UI"/>
              </a:rPr>
              <a:t>Où vous situez-vous, et face à qui ?</a:t>
            </a:r>
          </a:p>
        </p:txBody>
      </p:sp>
      <p:sp>
        <p:nvSpPr>
          <p:cNvPr id="8" name="TextBox 7"/>
          <p:cNvSpPr txBox="1"/>
          <p:nvPr/>
        </p:nvSpPr>
        <p:spPr>
          <a:xfrm>
            <a:off x="8778240" y="6537960"/>
            <a:ext cx="3200400" cy="274320"/>
          </a:xfrm>
          <a:prstGeom prst="rect">
            <a:avLst/>
          </a:prstGeom>
          <a:noFill/>
        </p:spPr>
        <p:txBody>
          <a:bodyPr wrap="square">
            <a:spAutoFit/>
          </a:bodyPr>
          <a:lstStyle/>
          <a:p>
            <a:pPr algn="r"/>
            <a:r>
              <a:rPr sz="800" b="0" i="0">
                <a:solidFill>
                  <a:srgbClr val="5F6B64"/>
                </a:solidFill>
                <a:latin typeface="Segoe UI"/>
              </a:rPr>
              <a:t>Acme Industries   |   8 / 28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201168" cy="201168"/>
          </a:xfrm>
          <a:prstGeom prst="rect">
            <a:avLst/>
          </a:prstGeom>
          <a:solidFill>
            <a:srgbClr val="1F3D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10789920" cy="685800"/>
          </a:xfrm>
          <a:prstGeom prst="rect">
            <a:avLst/>
          </a:prstGeom>
          <a:noFill/>
        </p:spPr>
        <p:txBody>
          <a:bodyPr wrap="square">
            <a:spAutoFit/>
          </a:bodyPr>
          <a:lstStyle/>
          <a:p>
            <a:pPr algn="l"/>
            <a:r>
              <a:rPr sz="1320" b="1" i="0">
                <a:solidFill>
                  <a:srgbClr val="1E2B26"/>
                </a:solidFill>
                <a:latin typeface="Georgia"/>
              </a:rPr>
              <a:t>La gouvernance est le point fort d'Acme Industries, le social sa priorité</a:t>
            </a:r>
          </a:p>
        </p:txBody>
      </p:sp>
      <p:sp>
        <p:nvSpPr>
          <p:cNvPr id="5" name="Rectangle 4"/>
          <p:cNvSpPr/>
          <p:nvPr/>
        </p:nvSpPr>
        <p:spPr>
          <a:xfrm>
            <a:off x="457200" y="1024128"/>
            <a:ext cx="2011680" cy="18288"/>
          </a:xfrm>
          <a:prstGeom prst="rect">
            <a:avLst/>
          </a:prstGeom>
          <a:solidFill>
            <a:srgbClr val="1E2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320040" y="1554480"/>
            <a:ext cx="6858000" cy="4205907"/>
          </a:xfrm>
          <a:prstGeom prst="rect">
            <a:avLst/>
          </a:prstGeom>
        </p:spPr>
      </p:pic>
      <p:sp>
        <p:nvSpPr>
          <p:cNvPr id="7" name="Rounded Rectangle 6"/>
          <p:cNvSpPr/>
          <p:nvPr/>
        </p:nvSpPr>
        <p:spPr>
          <a:xfrm>
            <a:off x="7452360" y="1600200"/>
            <a:ext cx="4434840" cy="2148840"/>
          </a:xfrm>
          <a:prstGeom prst="roundRect">
            <a:avLst/>
          </a:prstGeom>
          <a:solidFill>
            <a:srgbClr val="E6E6DC"/>
          </a:solidFill>
          <a:ln w="15875">
            <a:solidFill>
              <a:srgbClr val="2E5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452360" y="1600200"/>
            <a:ext cx="82296" cy="2148840"/>
          </a:xfrm>
          <a:prstGeom prst="rect">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80" y="1764792"/>
            <a:ext cx="3977640" cy="320040"/>
          </a:xfrm>
          <a:prstGeom prst="rect">
            <a:avLst/>
          </a:prstGeom>
          <a:noFill/>
        </p:spPr>
        <p:txBody>
          <a:bodyPr wrap="square">
            <a:spAutoFit/>
          </a:bodyPr>
          <a:lstStyle/>
          <a:p>
            <a:pPr algn="l"/>
            <a:r>
              <a:rPr sz="1200" b="1" i="0">
                <a:solidFill>
                  <a:srgbClr val="2E5A4B"/>
                </a:solidFill>
                <a:latin typeface="Segoe UI"/>
              </a:rPr>
              <a:t>LECTURE MÉTIER</a:t>
            </a:r>
          </a:p>
        </p:txBody>
      </p:sp>
      <p:sp>
        <p:nvSpPr>
          <p:cNvPr id="10" name="TextBox 9"/>
          <p:cNvSpPr txBox="1"/>
          <p:nvPr/>
        </p:nvSpPr>
        <p:spPr>
          <a:xfrm>
            <a:off x="7726680" y="2148840"/>
            <a:ext cx="3931920" cy="1554480"/>
          </a:xfrm>
          <a:prstGeom prst="rect">
            <a:avLst/>
          </a:prstGeom>
          <a:noFill/>
        </p:spPr>
        <p:txBody>
          <a:bodyPr wrap="square">
            <a:spAutoFit/>
          </a:bodyPr>
          <a:lstStyle/>
          <a:p>
            <a:pPr algn="l"/>
            <a:r>
              <a:rPr sz="1400" b="0" i="0">
                <a:solidFill>
                  <a:srgbClr val="1E2B26"/>
                </a:solidFill>
                <a:latin typeface="Segoe UI"/>
              </a:rPr>
              <a:t>10 points séparent votre pilier le plus solide du plus fragile — l'écart interne à réduire en priorité.</a:t>
            </a:r>
          </a:p>
        </p:txBody>
      </p:sp>
      <p:sp>
        <p:nvSpPr>
          <p:cNvPr id="11" name="TextBox 10"/>
          <p:cNvSpPr txBox="1"/>
          <p:nvPr/>
        </p:nvSpPr>
        <p:spPr>
          <a:xfrm>
            <a:off x="7470648" y="4023360"/>
            <a:ext cx="4434840" cy="320040"/>
          </a:xfrm>
          <a:prstGeom prst="rect">
            <a:avLst/>
          </a:prstGeom>
          <a:noFill/>
        </p:spPr>
        <p:txBody>
          <a:bodyPr wrap="square">
            <a:spAutoFit/>
          </a:bodyPr>
          <a:lstStyle/>
          <a:p>
            <a:pPr algn="l"/>
            <a:r>
              <a:rPr sz="1200" b="1" i="0">
                <a:solidFill>
                  <a:srgbClr val="5F6B64"/>
                </a:solidFill>
                <a:latin typeface="Segoe UI"/>
              </a:rPr>
              <a:t>MATURITÉ ESG</a:t>
            </a:r>
          </a:p>
        </p:txBody>
      </p:sp>
      <p:sp>
        <p:nvSpPr>
          <p:cNvPr id="12" name="Rounded Rectangle 11"/>
          <p:cNvSpPr/>
          <p:nvPr/>
        </p:nvSpPr>
        <p:spPr>
          <a:xfrm>
            <a:off x="7452360" y="4434840"/>
            <a:ext cx="841248" cy="457200"/>
          </a:xfrm>
          <a:prstGeom prst="roundRect">
            <a:avLst/>
          </a:prstGeom>
          <a:solidFill>
            <a:srgbClr val="E6E6DC"/>
          </a:solidFill>
          <a:ln w="12700">
            <a:solidFill>
              <a:srgbClr val="2E5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52360" y="4480560"/>
            <a:ext cx="841248" cy="365760"/>
          </a:xfrm>
          <a:prstGeom prst="rect">
            <a:avLst/>
          </a:prstGeom>
          <a:noFill/>
        </p:spPr>
        <p:txBody>
          <a:bodyPr wrap="square">
            <a:spAutoFit/>
          </a:bodyPr>
          <a:lstStyle/>
          <a:p>
            <a:pPr algn="ctr"/>
            <a:r>
              <a:rPr sz="1400" b="1" i="0">
                <a:solidFill>
                  <a:srgbClr val="5F6B64"/>
                </a:solidFill>
                <a:latin typeface="Georgia"/>
              </a:rPr>
              <a:t>1</a:t>
            </a:r>
          </a:p>
        </p:txBody>
      </p:sp>
      <p:sp>
        <p:nvSpPr>
          <p:cNvPr id="14" name="Rounded Rectangle 13"/>
          <p:cNvSpPr/>
          <p:nvPr/>
        </p:nvSpPr>
        <p:spPr>
          <a:xfrm>
            <a:off x="8348472" y="4434840"/>
            <a:ext cx="841248" cy="457200"/>
          </a:xfrm>
          <a:prstGeom prst="roundRect">
            <a:avLst/>
          </a:prstGeom>
          <a:solidFill>
            <a:srgbClr val="E6E6DC"/>
          </a:solidFill>
          <a:ln w="12700">
            <a:solidFill>
              <a:srgbClr val="2E5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48472" y="4480560"/>
            <a:ext cx="841248" cy="365760"/>
          </a:xfrm>
          <a:prstGeom prst="rect">
            <a:avLst/>
          </a:prstGeom>
          <a:noFill/>
        </p:spPr>
        <p:txBody>
          <a:bodyPr wrap="square">
            <a:spAutoFit/>
          </a:bodyPr>
          <a:lstStyle/>
          <a:p>
            <a:pPr algn="ctr"/>
            <a:r>
              <a:rPr sz="1400" b="1" i="0">
                <a:solidFill>
                  <a:srgbClr val="5F6B64"/>
                </a:solidFill>
                <a:latin typeface="Georgia"/>
              </a:rPr>
              <a:t>2</a:t>
            </a:r>
          </a:p>
        </p:txBody>
      </p:sp>
      <p:sp>
        <p:nvSpPr>
          <p:cNvPr id="16" name="Rounded Rectangle 15"/>
          <p:cNvSpPr/>
          <p:nvPr/>
        </p:nvSpPr>
        <p:spPr>
          <a:xfrm>
            <a:off x="9244584" y="4434840"/>
            <a:ext cx="841248" cy="457200"/>
          </a:xfrm>
          <a:prstGeom prst="roundRect">
            <a:avLst/>
          </a:prstGeom>
          <a:solidFill>
            <a:srgbClr val="2E5A4B"/>
          </a:solidFill>
          <a:ln w="12700">
            <a:solidFill>
              <a:srgbClr val="2E5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44584" y="4480560"/>
            <a:ext cx="841248" cy="365760"/>
          </a:xfrm>
          <a:prstGeom prst="rect">
            <a:avLst/>
          </a:prstGeom>
          <a:noFill/>
        </p:spPr>
        <p:txBody>
          <a:bodyPr wrap="square">
            <a:spAutoFit/>
          </a:bodyPr>
          <a:lstStyle/>
          <a:p>
            <a:pPr algn="ctr"/>
            <a:r>
              <a:rPr sz="1400" b="1" i="0">
                <a:solidFill>
                  <a:srgbClr val="1F3D33"/>
                </a:solidFill>
                <a:latin typeface="Georgia"/>
              </a:rPr>
              <a:t>3</a:t>
            </a:r>
          </a:p>
        </p:txBody>
      </p:sp>
      <p:sp>
        <p:nvSpPr>
          <p:cNvPr id="18" name="Rounded Rectangle 17"/>
          <p:cNvSpPr/>
          <p:nvPr/>
        </p:nvSpPr>
        <p:spPr>
          <a:xfrm>
            <a:off x="10140696" y="4434840"/>
            <a:ext cx="841248" cy="457200"/>
          </a:xfrm>
          <a:prstGeom prst="roundRect">
            <a:avLst/>
          </a:prstGeom>
          <a:solidFill>
            <a:srgbClr val="E6E6DC"/>
          </a:solidFill>
          <a:ln w="12700">
            <a:solidFill>
              <a:srgbClr val="2E5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40696" y="4480560"/>
            <a:ext cx="841248" cy="365760"/>
          </a:xfrm>
          <a:prstGeom prst="rect">
            <a:avLst/>
          </a:prstGeom>
          <a:noFill/>
        </p:spPr>
        <p:txBody>
          <a:bodyPr wrap="square">
            <a:spAutoFit/>
          </a:bodyPr>
          <a:lstStyle/>
          <a:p>
            <a:pPr algn="ctr"/>
            <a:r>
              <a:rPr sz="1400" b="1" i="0">
                <a:solidFill>
                  <a:srgbClr val="5F6B64"/>
                </a:solidFill>
                <a:latin typeface="Georgia"/>
              </a:rPr>
              <a:t>4</a:t>
            </a:r>
          </a:p>
        </p:txBody>
      </p:sp>
      <p:sp>
        <p:nvSpPr>
          <p:cNvPr id="20" name="Rounded Rectangle 19"/>
          <p:cNvSpPr/>
          <p:nvPr/>
        </p:nvSpPr>
        <p:spPr>
          <a:xfrm>
            <a:off x="11036808" y="4434840"/>
            <a:ext cx="841248" cy="457200"/>
          </a:xfrm>
          <a:prstGeom prst="roundRect">
            <a:avLst/>
          </a:prstGeom>
          <a:solidFill>
            <a:srgbClr val="E6E6DC"/>
          </a:solidFill>
          <a:ln w="12700">
            <a:solidFill>
              <a:srgbClr val="2E5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036808" y="4480560"/>
            <a:ext cx="841248" cy="365760"/>
          </a:xfrm>
          <a:prstGeom prst="rect">
            <a:avLst/>
          </a:prstGeom>
          <a:noFill/>
        </p:spPr>
        <p:txBody>
          <a:bodyPr wrap="square">
            <a:spAutoFit/>
          </a:bodyPr>
          <a:lstStyle/>
          <a:p>
            <a:pPr algn="ctr"/>
            <a:r>
              <a:rPr sz="1400" b="1" i="0">
                <a:solidFill>
                  <a:srgbClr val="5F6B64"/>
                </a:solidFill>
                <a:latin typeface="Georgia"/>
              </a:rPr>
              <a:t>5</a:t>
            </a:r>
          </a:p>
        </p:txBody>
      </p:sp>
      <p:sp>
        <p:nvSpPr>
          <p:cNvPr id="22" name="TextBox 21"/>
          <p:cNvSpPr txBox="1"/>
          <p:nvPr/>
        </p:nvSpPr>
        <p:spPr>
          <a:xfrm>
            <a:off x="7452360" y="5029200"/>
            <a:ext cx="4434840" cy="365760"/>
          </a:xfrm>
          <a:prstGeom prst="rect">
            <a:avLst/>
          </a:prstGeom>
          <a:noFill/>
        </p:spPr>
        <p:txBody>
          <a:bodyPr wrap="square">
            <a:spAutoFit/>
          </a:bodyPr>
          <a:lstStyle/>
          <a:p>
            <a:pPr algn="l"/>
            <a:r>
              <a:rPr sz="1600" b="1" i="0">
                <a:solidFill>
                  <a:srgbClr val="2E5A4B"/>
                </a:solidFill>
                <a:latin typeface="Georgia"/>
              </a:rPr>
              <a:t>Structurée</a:t>
            </a:r>
          </a:p>
        </p:txBody>
      </p:sp>
      <p:sp>
        <p:nvSpPr>
          <p:cNvPr id="23" name="TextBox 22"/>
          <p:cNvSpPr txBox="1"/>
          <p:nvPr/>
        </p:nvSpPr>
        <p:spPr>
          <a:xfrm>
            <a:off x="7452360" y="5440680"/>
            <a:ext cx="4434840" cy="640080"/>
          </a:xfrm>
          <a:prstGeom prst="rect">
            <a:avLst/>
          </a:prstGeom>
          <a:noFill/>
        </p:spPr>
        <p:txBody>
          <a:bodyPr wrap="square">
            <a:spAutoFit/>
          </a:bodyPr>
          <a:lstStyle/>
          <a:p>
            <a:pPr algn="l"/>
            <a:r>
              <a:rPr sz="1250" b="0" i="0">
                <a:solidFill>
                  <a:srgbClr val="1E2B26"/>
                </a:solidFill>
                <a:latin typeface="Segoe UI"/>
              </a:rPr>
              <a:t>Pour franchir le cap suivant : faire auditer le reporting.</a:t>
            </a:r>
          </a:p>
        </p:txBody>
      </p:sp>
      <p:sp>
        <p:nvSpPr>
          <p:cNvPr id="24" name="TextBox 23"/>
          <p:cNvSpPr txBox="1"/>
          <p:nvPr/>
        </p:nvSpPr>
        <p:spPr>
          <a:xfrm>
            <a:off x="8778240" y="6537960"/>
            <a:ext cx="3200400" cy="274320"/>
          </a:xfrm>
          <a:prstGeom prst="rect">
            <a:avLst/>
          </a:prstGeom>
          <a:noFill/>
        </p:spPr>
        <p:txBody>
          <a:bodyPr wrap="square">
            <a:spAutoFit/>
          </a:bodyPr>
          <a:lstStyle/>
          <a:p>
            <a:pPr algn="r"/>
            <a:r>
              <a:rPr sz="800" b="0" i="0">
                <a:solidFill>
                  <a:srgbClr val="5F6B64"/>
                </a:solidFill>
                <a:latin typeface="Segoe UI"/>
              </a:rPr>
              <a:t>Acme Industries   |   9 / 28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201168" cy="201168"/>
          </a:xfrm>
          <a:prstGeom prst="rect">
            <a:avLst/>
          </a:prstGeom>
          <a:solidFill>
            <a:srgbClr val="1F3D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10789920" cy="685800"/>
          </a:xfrm>
          <a:prstGeom prst="rect">
            <a:avLst/>
          </a:prstGeom>
          <a:noFill/>
        </p:spPr>
        <p:txBody>
          <a:bodyPr wrap="square">
            <a:spAutoFit/>
          </a:bodyPr>
          <a:lstStyle/>
          <a:p>
            <a:pPr algn="l"/>
            <a:r>
              <a:rPr sz="1560" b="1" i="0">
                <a:solidFill>
                  <a:srgbClr val="1E2B26"/>
                </a:solidFill>
                <a:latin typeface="Georgia"/>
              </a:rPr>
              <a:t>Une trajectoire ESG mesurée exercice après exercice</a:t>
            </a:r>
          </a:p>
        </p:txBody>
      </p:sp>
      <p:sp>
        <p:nvSpPr>
          <p:cNvPr id="5" name="Rectangle 4"/>
          <p:cNvSpPr/>
          <p:nvPr/>
        </p:nvSpPr>
        <p:spPr>
          <a:xfrm>
            <a:off x="457200" y="1024128"/>
            <a:ext cx="2011680" cy="18288"/>
          </a:xfrm>
          <a:prstGeom prst="rect">
            <a:avLst/>
          </a:prstGeom>
          <a:solidFill>
            <a:srgbClr val="1E2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1188720" y="1463040"/>
            <a:ext cx="9784080" cy="5294605"/>
          </a:xfrm>
          <a:prstGeom prst="rect">
            <a:avLst/>
          </a:prstGeom>
        </p:spPr>
      </p:pic>
      <p:sp>
        <p:nvSpPr>
          <p:cNvPr id="7" name="TextBox 6"/>
          <p:cNvSpPr txBox="1"/>
          <p:nvPr/>
        </p:nvSpPr>
        <p:spPr>
          <a:xfrm>
            <a:off x="1188720" y="6309360"/>
            <a:ext cx="9784080" cy="320040"/>
          </a:xfrm>
          <a:prstGeom prst="rect">
            <a:avLst/>
          </a:prstGeom>
          <a:noFill/>
        </p:spPr>
        <p:txBody>
          <a:bodyPr wrap="square">
            <a:spAutoFit/>
          </a:bodyPr>
          <a:lstStyle/>
          <a:p>
            <a:pPr algn="l"/>
            <a:r>
              <a:rPr sz="1000" b="0" i="1">
                <a:solidFill>
                  <a:srgbClr val="5F6B64"/>
                </a:solidFill>
                <a:latin typeface="Segoe UI"/>
              </a:rPr>
              <a:t>Évolution pluriannuelle du score ESG (global et par pilier)</a:t>
            </a:r>
          </a:p>
        </p:txBody>
      </p:sp>
      <p:sp>
        <p:nvSpPr>
          <p:cNvPr id="8" name="TextBox 7"/>
          <p:cNvSpPr txBox="1"/>
          <p:nvPr/>
        </p:nvSpPr>
        <p:spPr>
          <a:xfrm>
            <a:off x="8778240" y="6537960"/>
            <a:ext cx="3200400" cy="274320"/>
          </a:xfrm>
          <a:prstGeom prst="rect">
            <a:avLst/>
          </a:prstGeom>
          <a:noFill/>
        </p:spPr>
        <p:txBody>
          <a:bodyPr wrap="square">
            <a:spAutoFit/>
          </a:bodyPr>
          <a:lstStyle/>
          <a:p>
            <a:pPr algn="r"/>
            <a:r>
              <a:rPr sz="800" b="0" i="0">
                <a:solidFill>
                  <a:srgbClr val="5F6B64"/>
                </a:solidFill>
                <a:latin typeface="Segoe UI"/>
              </a:rPr>
              <a:t>Acme Industries   |   10 / 28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201168" cy="201168"/>
          </a:xfrm>
          <a:prstGeom prst="rect">
            <a:avLst/>
          </a:prstGeom>
          <a:solidFill>
            <a:srgbClr val="1F3D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10789920" cy="685800"/>
          </a:xfrm>
          <a:prstGeom prst="rect">
            <a:avLst/>
          </a:prstGeom>
          <a:noFill/>
        </p:spPr>
        <p:txBody>
          <a:bodyPr wrap="square">
            <a:spAutoFit/>
          </a:bodyPr>
          <a:lstStyle/>
          <a:p>
            <a:pPr algn="l"/>
            <a:r>
              <a:rPr sz="1800" b="1" i="0">
                <a:solidFill>
                  <a:srgbClr val="1E2B26"/>
                </a:solidFill>
                <a:latin typeface="Georgia"/>
              </a:rPr>
              <a:t>Couverture des exigences de reporting</a:t>
            </a:r>
          </a:p>
        </p:txBody>
      </p:sp>
      <p:sp>
        <p:nvSpPr>
          <p:cNvPr id="5" name="Rectangle 4"/>
          <p:cNvSpPr/>
          <p:nvPr/>
        </p:nvSpPr>
        <p:spPr>
          <a:xfrm>
            <a:off x="457200" y="1024128"/>
            <a:ext cx="2011680" cy="18288"/>
          </a:xfrm>
          <a:prstGeom prst="rect">
            <a:avLst/>
          </a:prstGeom>
          <a:solidFill>
            <a:srgbClr val="1E2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25880"/>
            <a:ext cx="11640312" cy="621792"/>
          </a:xfrm>
          <a:prstGeom prst="rect">
            <a:avLst/>
          </a:prstGeom>
          <a:solidFill>
            <a:srgbClr val="E6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389888"/>
            <a:ext cx="4846320" cy="502920"/>
          </a:xfrm>
          <a:prstGeom prst="rect">
            <a:avLst/>
          </a:prstGeom>
          <a:noFill/>
        </p:spPr>
        <p:txBody>
          <a:bodyPr wrap="square">
            <a:spAutoFit/>
          </a:bodyPr>
          <a:lstStyle/>
          <a:p>
            <a:pPr algn="l"/>
            <a:r>
              <a:rPr sz="1250" b="1" i="0">
                <a:solidFill>
                  <a:srgbClr val="1E2B26"/>
                </a:solidFill>
                <a:latin typeface="Segoe UI"/>
              </a:rPr>
              <a:t>Bilan GES Scopes 1 &amp; 2</a:t>
            </a:r>
          </a:p>
        </p:txBody>
      </p:sp>
      <p:sp>
        <p:nvSpPr>
          <p:cNvPr id="8" name="TextBox 7"/>
          <p:cNvSpPr txBox="1"/>
          <p:nvPr/>
        </p:nvSpPr>
        <p:spPr>
          <a:xfrm>
            <a:off x="5349240" y="1472184"/>
            <a:ext cx="1737360" cy="365760"/>
          </a:xfrm>
          <a:prstGeom prst="rect">
            <a:avLst/>
          </a:prstGeom>
          <a:noFill/>
        </p:spPr>
        <p:txBody>
          <a:bodyPr wrap="square">
            <a:spAutoFit/>
          </a:bodyPr>
          <a:lstStyle/>
          <a:p>
            <a:pPr algn="l"/>
            <a:r>
              <a:rPr sz="1000" b="0" i="0">
                <a:solidFill>
                  <a:srgbClr val="5F6B64"/>
                </a:solidFill>
                <a:latin typeface="Segoe UI"/>
              </a:rPr>
              <a:t>ESRS E1-6</a:t>
            </a:r>
          </a:p>
        </p:txBody>
      </p:sp>
      <p:sp>
        <p:nvSpPr>
          <p:cNvPr id="9" name="Rounded Rectangle 8"/>
          <p:cNvSpPr/>
          <p:nvPr/>
        </p:nvSpPr>
        <p:spPr>
          <a:xfrm>
            <a:off x="7178040" y="1453896"/>
            <a:ext cx="1600200" cy="365760"/>
          </a:xfrm>
          <a:prstGeom prst="round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78040" y="1508760"/>
            <a:ext cx="1600200" cy="274320"/>
          </a:xfrm>
          <a:prstGeom prst="rect">
            <a:avLst/>
          </a:prstGeom>
          <a:noFill/>
        </p:spPr>
        <p:txBody>
          <a:bodyPr wrap="square">
            <a:spAutoFit/>
          </a:bodyPr>
          <a:lstStyle/>
          <a:p>
            <a:pPr algn="ctr"/>
            <a:r>
              <a:rPr sz="1050" b="1" i="0">
                <a:solidFill>
                  <a:srgbClr val="FFFFFF"/>
                </a:solidFill>
                <a:latin typeface="Segoe UI"/>
              </a:rPr>
              <a:t>Publié</a:t>
            </a:r>
          </a:p>
        </p:txBody>
      </p:sp>
      <p:sp>
        <p:nvSpPr>
          <p:cNvPr id="11" name="TextBox 10"/>
          <p:cNvSpPr txBox="1"/>
          <p:nvPr/>
        </p:nvSpPr>
        <p:spPr>
          <a:xfrm>
            <a:off x="8961120" y="1389888"/>
            <a:ext cx="2926080" cy="530352"/>
          </a:xfrm>
          <a:prstGeom prst="rect">
            <a:avLst/>
          </a:prstGeom>
          <a:noFill/>
        </p:spPr>
        <p:txBody>
          <a:bodyPr wrap="square">
            <a:spAutoFit/>
          </a:bodyPr>
          <a:lstStyle/>
          <a:p>
            <a:pPr algn="l"/>
            <a:r>
              <a:rPr sz="1000" b="0" i="0">
                <a:solidFill>
                  <a:srgbClr val="1E2B26"/>
                </a:solidFill>
                <a:latin typeface="Segoe UI"/>
              </a:rPr>
              <a:t>Émissions mesurées et publiées</a:t>
            </a:r>
          </a:p>
        </p:txBody>
      </p:sp>
      <p:sp>
        <p:nvSpPr>
          <p:cNvPr id="12" name="TextBox 11"/>
          <p:cNvSpPr txBox="1"/>
          <p:nvPr/>
        </p:nvSpPr>
        <p:spPr>
          <a:xfrm>
            <a:off x="457200" y="2011680"/>
            <a:ext cx="4846320" cy="502920"/>
          </a:xfrm>
          <a:prstGeom prst="rect">
            <a:avLst/>
          </a:prstGeom>
          <a:noFill/>
        </p:spPr>
        <p:txBody>
          <a:bodyPr wrap="square">
            <a:spAutoFit/>
          </a:bodyPr>
          <a:lstStyle/>
          <a:p>
            <a:pPr algn="l"/>
            <a:r>
              <a:rPr sz="1250" b="1" i="0">
                <a:solidFill>
                  <a:srgbClr val="1E2B26"/>
                </a:solidFill>
                <a:latin typeface="Segoe UI"/>
              </a:rPr>
              <a:t>Émissions de la chaîne de valeur (Scope 3)</a:t>
            </a:r>
          </a:p>
        </p:txBody>
      </p:sp>
      <p:sp>
        <p:nvSpPr>
          <p:cNvPr id="13" name="TextBox 12"/>
          <p:cNvSpPr txBox="1"/>
          <p:nvPr/>
        </p:nvSpPr>
        <p:spPr>
          <a:xfrm>
            <a:off x="5349240" y="2093976"/>
            <a:ext cx="1737360" cy="365760"/>
          </a:xfrm>
          <a:prstGeom prst="rect">
            <a:avLst/>
          </a:prstGeom>
          <a:noFill/>
        </p:spPr>
        <p:txBody>
          <a:bodyPr wrap="square">
            <a:spAutoFit/>
          </a:bodyPr>
          <a:lstStyle/>
          <a:p>
            <a:pPr algn="l"/>
            <a:r>
              <a:rPr sz="1000" b="0" i="0">
                <a:solidFill>
                  <a:srgbClr val="5F6B64"/>
                </a:solidFill>
                <a:latin typeface="Segoe UI"/>
              </a:rPr>
              <a:t>ESRS E1-6</a:t>
            </a:r>
          </a:p>
        </p:txBody>
      </p:sp>
      <p:sp>
        <p:nvSpPr>
          <p:cNvPr id="14" name="Rounded Rectangle 13"/>
          <p:cNvSpPr/>
          <p:nvPr/>
        </p:nvSpPr>
        <p:spPr>
          <a:xfrm>
            <a:off x="7178040" y="2075688"/>
            <a:ext cx="1600200" cy="365760"/>
          </a:xfrm>
          <a:prstGeom prst="round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78040" y="2130552"/>
            <a:ext cx="1600200" cy="274320"/>
          </a:xfrm>
          <a:prstGeom prst="rect">
            <a:avLst/>
          </a:prstGeom>
          <a:noFill/>
        </p:spPr>
        <p:txBody>
          <a:bodyPr wrap="square">
            <a:spAutoFit/>
          </a:bodyPr>
          <a:lstStyle/>
          <a:p>
            <a:pPr algn="ctr"/>
            <a:r>
              <a:rPr sz="1050" b="1" i="0">
                <a:solidFill>
                  <a:srgbClr val="FFFFFF"/>
                </a:solidFill>
                <a:latin typeface="Segoe UI"/>
              </a:rPr>
              <a:t>Publié</a:t>
            </a:r>
          </a:p>
        </p:txBody>
      </p:sp>
      <p:sp>
        <p:nvSpPr>
          <p:cNvPr id="16" name="TextBox 15"/>
          <p:cNvSpPr txBox="1"/>
          <p:nvPr/>
        </p:nvSpPr>
        <p:spPr>
          <a:xfrm>
            <a:off x="8961120" y="2011680"/>
            <a:ext cx="2926080" cy="530352"/>
          </a:xfrm>
          <a:prstGeom prst="rect">
            <a:avLst/>
          </a:prstGeom>
          <a:noFill/>
        </p:spPr>
        <p:txBody>
          <a:bodyPr wrap="square">
            <a:spAutoFit/>
          </a:bodyPr>
          <a:lstStyle/>
          <a:p>
            <a:pPr algn="l"/>
            <a:r>
              <a:rPr sz="1000" b="0" i="0">
                <a:solidFill>
                  <a:srgbClr val="1E2B26"/>
                </a:solidFill>
                <a:latin typeface="Segoe UI"/>
              </a:rPr>
              <a:t>Scope 3 mesuré et publié</a:t>
            </a:r>
          </a:p>
        </p:txBody>
      </p:sp>
      <p:sp>
        <p:nvSpPr>
          <p:cNvPr id="17" name="Rectangle 16"/>
          <p:cNvSpPr/>
          <p:nvPr/>
        </p:nvSpPr>
        <p:spPr>
          <a:xfrm>
            <a:off x="274320" y="2569464"/>
            <a:ext cx="11640312" cy="621792"/>
          </a:xfrm>
          <a:prstGeom prst="rect">
            <a:avLst/>
          </a:prstGeom>
          <a:solidFill>
            <a:srgbClr val="E6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2633472"/>
            <a:ext cx="4846320" cy="502920"/>
          </a:xfrm>
          <a:prstGeom prst="rect">
            <a:avLst/>
          </a:prstGeom>
          <a:noFill/>
        </p:spPr>
        <p:txBody>
          <a:bodyPr wrap="square">
            <a:spAutoFit/>
          </a:bodyPr>
          <a:lstStyle/>
          <a:p>
            <a:pPr algn="l"/>
            <a:r>
              <a:rPr sz="1250" b="1" i="0">
                <a:solidFill>
                  <a:srgbClr val="1E2B26"/>
                </a:solidFill>
                <a:latin typeface="Segoe UI"/>
              </a:rPr>
              <a:t>Vérification du reporting par un tiers</a:t>
            </a:r>
          </a:p>
        </p:txBody>
      </p:sp>
      <p:sp>
        <p:nvSpPr>
          <p:cNvPr id="19" name="TextBox 18"/>
          <p:cNvSpPr txBox="1"/>
          <p:nvPr/>
        </p:nvSpPr>
        <p:spPr>
          <a:xfrm>
            <a:off x="5349240" y="2715768"/>
            <a:ext cx="1737360" cy="365760"/>
          </a:xfrm>
          <a:prstGeom prst="rect">
            <a:avLst/>
          </a:prstGeom>
          <a:noFill/>
        </p:spPr>
        <p:txBody>
          <a:bodyPr wrap="square">
            <a:spAutoFit/>
          </a:bodyPr>
          <a:lstStyle/>
          <a:p>
            <a:pPr algn="l"/>
            <a:r>
              <a:rPr sz="1000" b="0" i="0">
                <a:solidFill>
                  <a:srgbClr val="5F6B64"/>
                </a:solidFill>
                <a:latin typeface="Segoe UI"/>
              </a:rPr>
              <a:t>CSRD (assurance limitée)</a:t>
            </a:r>
          </a:p>
        </p:txBody>
      </p:sp>
      <p:sp>
        <p:nvSpPr>
          <p:cNvPr id="20" name="Rounded Rectangle 19"/>
          <p:cNvSpPr/>
          <p:nvPr/>
        </p:nvSpPr>
        <p:spPr>
          <a:xfrm>
            <a:off x="7178040" y="2697480"/>
            <a:ext cx="1600200" cy="36576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78040" y="2752344"/>
            <a:ext cx="1600200" cy="274320"/>
          </a:xfrm>
          <a:prstGeom prst="rect">
            <a:avLst/>
          </a:prstGeom>
          <a:noFill/>
        </p:spPr>
        <p:txBody>
          <a:bodyPr wrap="square">
            <a:spAutoFit/>
          </a:bodyPr>
          <a:lstStyle/>
          <a:p>
            <a:pPr algn="ctr"/>
            <a:r>
              <a:rPr sz="1050" b="1" i="0">
                <a:solidFill>
                  <a:srgbClr val="FFFFFF"/>
                </a:solidFill>
                <a:latin typeface="Segoe UI"/>
              </a:rPr>
              <a:t>Non publié</a:t>
            </a:r>
          </a:p>
        </p:txBody>
      </p:sp>
      <p:sp>
        <p:nvSpPr>
          <p:cNvPr id="22" name="TextBox 21"/>
          <p:cNvSpPr txBox="1"/>
          <p:nvPr/>
        </p:nvSpPr>
        <p:spPr>
          <a:xfrm>
            <a:off x="8961120" y="2633472"/>
            <a:ext cx="2926080" cy="530352"/>
          </a:xfrm>
          <a:prstGeom prst="rect">
            <a:avLst/>
          </a:prstGeom>
          <a:noFill/>
        </p:spPr>
        <p:txBody>
          <a:bodyPr wrap="square">
            <a:spAutoFit/>
          </a:bodyPr>
          <a:lstStyle/>
          <a:p>
            <a:pPr algn="l"/>
            <a:r>
              <a:rPr sz="1000" b="0" i="0">
                <a:solidFill>
                  <a:srgbClr val="1E2B26"/>
                </a:solidFill>
                <a:latin typeface="Segoe UI"/>
              </a:rPr>
              <a:t>Aucune assurance externe à date</a:t>
            </a:r>
          </a:p>
        </p:txBody>
      </p:sp>
      <p:sp>
        <p:nvSpPr>
          <p:cNvPr id="23" name="TextBox 22"/>
          <p:cNvSpPr txBox="1"/>
          <p:nvPr/>
        </p:nvSpPr>
        <p:spPr>
          <a:xfrm>
            <a:off x="457200" y="3255264"/>
            <a:ext cx="4846320" cy="502920"/>
          </a:xfrm>
          <a:prstGeom prst="rect">
            <a:avLst/>
          </a:prstGeom>
          <a:noFill/>
        </p:spPr>
        <p:txBody>
          <a:bodyPr wrap="square">
            <a:spAutoFit/>
          </a:bodyPr>
          <a:lstStyle/>
          <a:p>
            <a:pPr algn="l"/>
            <a:r>
              <a:rPr sz="1250" b="1" i="0">
                <a:solidFill>
                  <a:srgbClr val="1E2B26"/>
                </a:solidFill>
                <a:latin typeface="Segoe UI"/>
              </a:rPr>
              <a:t>Supervision de la durabilité par la gouvernance</a:t>
            </a:r>
          </a:p>
        </p:txBody>
      </p:sp>
      <p:sp>
        <p:nvSpPr>
          <p:cNvPr id="24" name="TextBox 23"/>
          <p:cNvSpPr txBox="1"/>
          <p:nvPr/>
        </p:nvSpPr>
        <p:spPr>
          <a:xfrm>
            <a:off x="5349240" y="3337560"/>
            <a:ext cx="1737360" cy="365760"/>
          </a:xfrm>
          <a:prstGeom prst="rect">
            <a:avLst/>
          </a:prstGeom>
          <a:noFill/>
        </p:spPr>
        <p:txBody>
          <a:bodyPr wrap="square">
            <a:spAutoFit/>
          </a:bodyPr>
          <a:lstStyle/>
          <a:p>
            <a:pPr algn="l"/>
            <a:r>
              <a:rPr sz="1000" b="0" i="0">
                <a:solidFill>
                  <a:srgbClr val="5F6B64"/>
                </a:solidFill>
                <a:latin typeface="Segoe UI"/>
              </a:rPr>
              <a:t>ESRS 2 GOV-1</a:t>
            </a:r>
          </a:p>
        </p:txBody>
      </p:sp>
      <p:sp>
        <p:nvSpPr>
          <p:cNvPr id="25" name="Rounded Rectangle 24"/>
          <p:cNvSpPr/>
          <p:nvPr/>
        </p:nvSpPr>
        <p:spPr>
          <a:xfrm>
            <a:off x="7178040" y="3319272"/>
            <a:ext cx="1600200" cy="365760"/>
          </a:xfrm>
          <a:prstGeom prst="round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78040" y="3374136"/>
            <a:ext cx="1600200" cy="274320"/>
          </a:xfrm>
          <a:prstGeom prst="rect">
            <a:avLst/>
          </a:prstGeom>
          <a:noFill/>
        </p:spPr>
        <p:txBody>
          <a:bodyPr wrap="square">
            <a:spAutoFit/>
          </a:bodyPr>
          <a:lstStyle/>
          <a:p>
            <a:pPr algn="ctr"/>
            <a:r>
              <a:rPr sz="1050" b="1" i="0">
                <a:solidFill>
                  <a:srgbClr val="FFFFFF"/>
                </a:solidFill>
                <a:latin typeface="Segoe UI"/>
              </a:rPr>
              <a:t>Publié</a:t>
            </a:r>
          </a:p>
        </p:txBody>
      </p:sp>
      <p:sp>
        <p:nvSpPr>
          <p:cNvPr id="27" name="TextBox 26"/>
          <p:cNvSpPr txBox="1"/>
          <p:nvPr/>
        </p:nvSpPr>
        <p:spPr>
          <a:xfrm>
            <a:off x="8961120" y="3255264"/>
            <a:ext cx="2926080" cy="530352"/>
          </a:xfrm>
          <a:prstGeom prst="rect">
            <a:avLst/>
          </a:prstGeom>
          <a:noFill/>
        </p:spPr>
        <p:txBody>
          <a:bodyPr wrap="square">
            <a:spAutoFit/>
          </a:bodyPr>
          <a:lstStyle/>
          <a:p>
            <a:pPr algn="l"/>
            <a:r>
              <a:rPr sz="1000" b="0" i="0">
                <a:solidFill>
                  <a:srgbClr val="1E2B26"/>
                </a:solidFill>
                <a:latin typeface="Segoe UI"/>
              </a:rPr>
              <a:t>Comité de durabilité en place</a:t>
            </a:r>
          </a:p>
        </p:txBody>
      </p:sp>
      <p:sp>
        <p:nvSpPr>
          <p:cNvPr id="28" name="Rectangle 27"/>
          <p:cNvSpPr/>
          <p:nvPr/>
        </p:nvSpPr>
        <p:spPr>
          <a:xfrm>
            <a:off x="274320" y="3813048"/>
            <a:ext cx="11640312" cy="621792"/>
          </a:xfrm>
          <a:prstGeom prst="rect">
            <a:avLst/>
          </a:prstGeom>
          <a:solidFill>
            <a:srgbClr val="E6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3877056"/>
            <a:ext cx="4846320" cy="502920"/>
          </a:xfrm>
          <a:prstGeom prst="rect">
            <a:avLst/>
          </a:prstGeom>
          <a:noFill/>
        </p:spPr>
        <p:txBody>
          <a:bodyPr wrap="square">
            <a:spAutoFit/>
          </a:bodyPr>
          <a:lstStyle/>
          <a:p>
            <a:pPr algn="l"/>
            <a:r>
              <a:rPr sz="1250" b="1" i="0">
                <a:solidFill>
                  <a:srgbClr val="1E2B26"/>
                </a:solidFill>
                <a:latin typeface="Segoe UI"/>
              </a:rPr>
              <a:t>Publication des indicateurs Taxonomie UE</a:t>
            </a:r>
          </a:p>
        </p:txBody>
      </p:sp>
      <p:sp>
        <p:nvSpPr>
          <p:cNvPr id="30" name="TextBox 29"/>
          <p:cNvSpPr txBox="1"/>
          <p:nvPr/>
        </p:nvSpPr>
        <p:spPr>
          <a:xfrm>
            <a:off x="5349240" y="3959352"/>
            <a:ext cx="1737360" cy="365760"/>
          </a:xfrm>
          <a:prstGeom prst="rect">
            <a:avLst/>
          </a:prstGeom>
          <a:noFill/>
        </p:spPr>
        <p:txBody>
          <a:bodyPr wrap="square">
            <a:spAutoFit/>
          </a:bodyPr>
          <a:lstStyle/>
          <a:p>
            <a:pPr algn="l"/>
            <a:r>
              <a:rPr sz="1000" b="0" i="0">
                <a:solidFill>
                  <a:srgbClr val="5F6B64"/>
                </a:solidFill>
                <a:latin typeface="Segoe UI"/>
              </a:rPr>
              <a:t>Règlement (UE) 2020/852</a:t>
            </a:r>
          </a:p>
        </p:txBody>
      </p:sp>
      <p:sp>
        <p:nvSpPr>
          <p:cNvPr id="31" name="Rounded Rectangle 30"/>
          <p:cNvSpPr/>
          <p:nvPr/>
        </p:nvSpPr>
        <p:spPr>
          <a:xfrm>
            <a:off x="7178040" y="3941064"/>
            <a:ext cx="1600200" cy="365760"/>
          </a:xfrm>
          <a:prstGeom prst="round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78040" y="3995928"/>
            <a:ext cx="1600200" cy="274320"/>
          </a:xfrm>
          <a:prstGeom prst="rect">
            <a:avLst/>
          </a:prstGeom>
          <a:noFill/>
        </p:spPr>
        <p:txBody>
          <a:bodyPr wrap="square">
            <a:spAutoFit/>
          </a:bodyPr>
          <a:lstStyle/>
          <a:p>
            <a:pPr algn="ctr"/>
            <a:r>
              <a:rPr sz="1050" b="1" i="0">
                <a:solidFill>
                  <a:srgbClr val="FFFFFF"/>
                </a:solidFill>
                <a:latin typeface="Segoe UI"/>
              </a:rPr>
              <a:t>Publié</a:t>
            </a:r>
          </a:p>
        </p:txBody>
      </p:sp>
      <p:sp>
        <p:nvSpPr>
          <p:cNvPr id="33" name="TextBox 32"/>
          <p:cNvSpPr txBox="1"/>
          <p:nvPr/>
        </p:nvSpPr>
        <p:spPr>
          <a:xfrm>
            <a:off x="8961120" y="3877056"/>
            <a:ext cx="2926080" cy="530352"/>
          </a:xfrm>
          <a:prstGeom prst="rect">
            <a:avLst/>
          </a:prstGeom>
          <a:noFill/>
        </p:spPr>
        <p:txBody>
          <a:bodyPr wrap="square">
            <a:spAutoFit/>
          </a:bodyPr>
          <a:lstStyle/>
          <a:p>
            <a:pPr algn="l"/>
            <a:r>
              <a:rPr sz="1000" b="0" i="0">
                <a:solidFill>
                  <a:srgbClr val="1E2B26"/>
                </a:solidFill>
                <a:latin typeface="Segoe UI"/>
              </a:rPr>
              <a:t>Parts alignées publiées (CA/CapEx/OpEx)</a:t>
            </a:r>
          </a:p>
        </p:txBody>
      </p:sp>
      <p:sp>
        <p:nvSpPr>
          <p:cNvPr id="34" name="TextBox 33"/>
          <p:cNvSpPr txBox="1"/>
          <p:nvPr/>
        </p:nvSpPr>
        <p:spPr>
          <a:xfrm>
            <a:off x="457200" y="4498848"/>
            <a:ext cx="4846320" cy="502920"/>
          </a:xfrm>
          <a:prstGeom prst="rect">
            <a:avLst/>
          </a:prstGeom>
          <a:noFill/>
        </p:spPr>
        <p:txBody>
          <a:bodyPr wrap="square">
            <a:spAutoFit/>
          </a:bodyPr>
          <a:lstStyle/>
          <a:p>
            <a:pPr algn="l"/>
            <a:r>
              <a:rPr sz="1250" b="1" i="0">
                <a:solidFill>
                  <a:srgbClr val="1E2B26"/>
                </a:solidFill>
                <a:latin typeface="Segoe UI"/>
              </a:rPr>
              <a:t>Objectifs climatiques chiffrés</a:t>
            </a:r>
          </a:p>
        </p:txBody>
      </p:sp>
      <p:sp>
        <p:nvSpPr>
          <p:cNvPr id="35" name="TextBox 34"/>
          <p:cNvSpPr txBox="1"/>
          <p:nvPr/>
        </p:nvSpPr>
        <p:spPr>
          <a:xfrm>
            <a:off x="5349240" y="4581144"/>
            <a:ext cx="1737360" cy="365760"/>
          </a:xfrm>
          <a:prstGeom prst="rect">
            <a:avLst/>
          </a:prstGeom>
          <a:noFill/>
        </p:spPr>
        <p:txBody>
          <a:bodyPr wrap="square">
            <a:spAutoFit/>
          </a:bodyPr>
          <a:lstStyle/>
          <a:p>
            <a:pPr algn="l"/>
            <a:r>
              <a:rPr sz="1000" b="0" i="0">
                <a:solidFill>
                  <a:srgbClr val="5F6B64"/>
                </a:solidFill>
                <a:latin typeface="Segoe UI"/>
              </a:rPr>
              <a:t>ESRS E1-4</a:t>
            </a:r>
          </a:p>
        </p:txBody>
      </p:sp>
      <p:sp>
        <p:nvSpPr>
          <p:cNvPr id="36" name="Rounded Rectangle 35"/>
          <p:cNvSpPr/>
          <p:nvPr/>
        </p:nvSpPr>
        <p:spPr>
          <a:xfrm>
            <a:off x="7178040" y="4562856"/>
            <a:ext cx="1600200" cy="365760"/>
          </a:xfrm>
          <a:prstGeom prst="round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178040" y="4617720"/>
            <a:ext cx="1600200" cy="274320"/>
          </a:xfrm>
          <a:prstGeom prst="rect">
            <a:avLst/>
          </a:prstGeom>
          <a:noFill/>
        </p:spPr>
        <p:txBody>
          <a:bodyPr wrap="square">
            <a:spAutoFit/>
          </a:bodyPr>
          <a:lstStyle/>
          <a:p>
            <a:pPr algn="ctr"/>
            <a:r>
              <a:rPr sz="1050" b="1" i="0">
                <a:solidFill>
                  <a:srgbClr val="FFFFFF"/>
                </a:solidFill>
                <a:latin typeface="Segoe UI"/>
              </a:rPr>
              <a:t>Publié</a:t>
            </a:r>
          </a:p>
        </p:txBody>
      </p:sp>
      <p:sp>
        <p:nvSpPr>
          <p:cNvPr id="38" name="TextBox 37"/>
          <p:cNvSpPr txBox="1"/>
          <p:nvPr/>
        </p:nvSpPr>
        <p:spPr>
          <a:xfrm>
            <a:off x="8961120" y="4498848"/>
            <a:ext cx="2926080" cy="530352"/>
          </a:xfrm>
          <a:prstGeom prst="rect">
            <a:avLst/>
          </a:prstGeom>
          <a:noFill/>
        </p:spPr>
        <p:txBody>
          <a:bodyPr wrap="square">
            <a:spAutoFit/>
          </a:bodyPr>
          <a:lstStyle/>
          <a:p>
            <a:pPr algn="l"/>
            <a:r>
              <a:rPr sz="1000" b="0" i="0">
                <a:solidFill>
                  <a:srgbClr val="1E2B26"/>
                </a:solidFill>
                <a:latin typeface="Segoe UI"/>
              </a:rPr>
              <a:t>Cible déclarée : -42 % entre 2025 et 2030 (scopes 1 et 2)</a:t>
            </a:r>
          </a:p>
        </p:txBody>
      </p:sp>
      <p:sp>
        <p:nvSpPr>
          <p:cNvPr id="39" name="TextBox 38"/>
          <p:cNvSpPr txBox="1"/>
          <p:nvPr/>
        </p:nvSpPr>
        <p:spPr>
          <a:xfrm>
            <a:off x="8778240" y="6537960"/>
            <a:ext cx="3200400" cy="274320"/>
          </a:xfrm>
          <a:prstGeom prst="rect">
            <a:avLst/>
          </a:prstGeom>
          <a:noFill/>
        </p:spPr>
        <p:txBody>
          <a:bodyPr wrap="square">
            <a:spAutoFit/>
          </a:bodyPr>
          <a:lstStyle/>
          <a:p>
            <a:pPr algn="r"/>
            <a:r>
              <a:rPr sz="800" b="0" i="0">
                <a:solidFill>
                  <a:srgbClr val="5F6B64"/>
                </a:solidFill>
                <a:latin typeface="Segoe UI"/>
              </a:rPr>
              <a:t>Acme Industries   |   11 / 28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3D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554480"/>
            <a:ext cx="12188952" cy="2651760"/>
          </a:xfrm>
          <a:prstGeom prst="rect">
            <a:avLst/>
          </a:prstGeom>
          <a:noFill/>
        </p:spPr>
        <p:txBody>
          <a:bodyPr wrap="square">
            <a:spAutoFit/>
          </a:bodyPr>
          <a:lstStyle/>
          <a:p>
            <a:pPr algn="ctr"/>
            <a:r>
              <a:rPr sz="23000" b="1" i="0">
                <a:solidFill>
                  <a:srgbClr val="2E5A4B"/>
                </a:solidFill>
                <a:latin typeface="Georgia"/>
              </a:rPr>
              <a:t>60</a:t>
            </a:r>
          </a:p>
        </p:txBody>
      </p:sp>
      <p:sp>
        <p:nvSpPr>
          <p:cNvPr id="5" name="TextBox 4"/>
          <p:cNvSpPr txBox="1"/>
          <p:nvPr/>
        </p:nvSpPr>
        <p:spPr>
          <a:xfrm>
            <a:off x="0" y="4160520"/>
            <a:ext cx="12188952" cy="640080"/>
          </a:xfrm>
          <a:prstGeom prst="rect">
            <a:avLst/>
          </a:prstGeom>
          <a:noFill/>
        </p:spPr>
        <p:txBody>
          <a:bodyPr wrap="square">
            <a:spAutoFit/>
          </a:bodyPr>
          <a:lstStyle/>
          <a:p>
            <a:pPr algn="ctr"/>
            <a:r>
              <a:rPr sz="3400" b="1" i="0">
                <a:solidFill>
                  <a:srgbClr val="F3F0E8"/>
                </a:solidFill>
                <a:latin typeface="Segoe UI"/>
              </a:rPr>
              <a:t>%</a:t>
            </a:r>
          </a:p>
        </p:txBody>
      </p:sp>
      <p:sp>
        <p:nvSpPr>
          <p:cNvPr id="6" name="TextBox 5"/>
          <p:cNvSpPr txBox="1"/>
          <p:nvPr/>
        </p:nvSpPr>
        <p:spPr>
          <a:xfrm>
            <a:off x="1371600" y="4892040"/>
            <a:ext cx="9445752" cy="548640"/>
          </a:xfrm>
          <a:prstGeom prst="rect">
            <a:avLst/>
          </a:prstGeom>
          <a:noFill/>
        </p:spPr>
        <p:txBody>
          <a:bodyPr wrap="square">
            <a:spAutoFit/>
          </a:bodyPr>
          <a:lstStyle/>
          <a:p>
            <a:pPr algn="ctr"/>
            <a:r>
              <a:rPr sz="2000" b="0" i="0">
                <a:solidFill>
                  <a:srgbClr val="C9D8C5"/>
                </a:solidFill>
                <a:latin typeface="Segoe UI"/>
              </a:rPr>
              <a:t>des émissions relèvent du Scope 3</a:t>
            </a:r>
          </a:p>
        </p:txBody>
      </p:sp>
      <p:sp>
        <p:nvSpPr>
          <p:cNvPr id="7" name="Rectangle 6"/>
          <p:cNvSpPr/>
          <p:nvPr/>
        </p:nvSpPr>
        <p:spPr>
          <a:xfrm>
            <a:off x="5271516" y="5623560"/>
            <a:ext cx="1645920" cy="45720"/>
          </a:xfrm>
          <a:prstGeom prst="rect">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0" y="5852160"/>
            <a:ext cx="8897112" cy="731520"/>
          </a:xfrm>
          <a:prstGeom prst="rect">
            <a:avLst/>
          </a:prstGeom>
          <a:noFill/>
        </p:spPr>
        <p:txBody>
          <a:bodyPr wrap="square">
            <a:spAutoFit/>
          </a:bodyPr>
          <a:lstStyle/>
          <a:p>
            <a:pPr algn="ctr"/>
            <a:r>
              <a:rPr sz="1600" b="0" i="1">
                <a:solidFill>
                  <a:srgbClr val="F3F0E8"/>
                </a:solidFill>
                <a:latin typeface="Segoe UI"/>
              </a:rPr>
              <a:t>La chaîne de valeur, principal terrain d'action climat.</a:t>
            </a:r>
          </a:p>
        </p:txBody>
      </p:sp>
      <p:sp>
        <p:nvSpPr>
          <p:cNvPr id="9" name="TextBox 8"/>
          <p:cNvSpPr txBox="1"/>
          <p:nvPr/>
        </p:nvSpPr>
        <p:spPr>
          <a:xfrm>
            <a:off x="8778240" y="6537960"/>
            <a:ext cx="3200400" cy="274320"/>
          </a:xfrm>
          <a:prstGeom prst="rect">
            <a:avLst/>
          </a:prstGeom>
          <a:noFill/>
        </p:spPr>
        <p:txBody>
          <a:bodyPr wrap="square">
            <a:spAutoFit/>
          </a:bodyPr>
          <a:lstStyle/>
          <a:p>
            <a:pPr algn="r"/>
            <a:r>
              <a:rPr sz="800" b="0" i="0">
                <a:solidFill>
                  <a:srgbClr val="5F6B64"/>
                </a:solidFill>
                <a:latin typeface="Segoe UI"/>
              </a:rPr>
              <a:t>Acme Industries   |   12 / 28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4114800" cy="6858000"/>
          </a:xfrm>
          <a:prstGeom prst="rect">
            <a:avLst/>
          </a:prstGeom>
        </p:spPr>
      </p:pic>
      <p:sp>
        <p:nvSpPr>
          <p:cNvPr id="4" name="TextBox 3"/>
          <p:cNvSpPr txBox="1"/>
          <p:nvPr/>
        </p:nvSpPr>
        <p:spPr>
          <a:xfrm>
            <a:off x="338328" y="384048"/>
            <a:ext cx="3520440" cy="320040"/>
          </a:xfrm>
          <a:prstGeom prst="rect">
            <a:avLst/>
          </a:prstGeom>
          <a:noFill/>
        </p:spPr>
        <p:txBody>
          <a:bodyPr wrap="square">
            <a:spAutoFit/>
          </a:bodyPr>
          <a:lstStyle/>
          <a:p>
            <a:pPr algn="l"/>
            <a:r>
              <a:rPr sz="1300" b="1" i="0">
                <a:solidFill>
                  <a:srgbClr val="2E5A4B"/>
                </a:solidFill>
                <a:latin typeface="Segoe UI"/>
              </a:rPr>
              <a:t>PILIER ENVIRONNEMENTAL</a:t>
            </a:r>
          </a:p>
        </p:txBody>
      </p:sp>
      <p:sp>
        <p:nvSpPr>
          <p:cNvPr id="5" name="TextBox 4"/>
          <p:cNvSpPr txBox="1"/>
          <p:nvPr/>
        </p:nvSpPr>
        <p:spPr>
          <a:xfrm>
            <a:off x="320040" y="777240"/>
            <a:ext cx="3611880" cy="2286000"/>
          </a:xfrm>
          <a:prstGeom prst="rect">
            <a:avLst/>
          </a:prstGeom>
          <a:noFill/>
        </p:spPr>
        <p:txBody>
          <a:bodyPr wrap="square">
            <a:spAutoFit/>
          </a:bodyPr>
          <a:lstStyle/>
          <a:p>
            <a:pPr algn="l"/>
            <a:r>
              <a:rPr sz="1584" b="1" i="0">
                <a:solidFill>
                  <a:srgbClr val="FFFFFF"/>
                </a:solidFill>
                <a:latin typeface="Georgia"/>
              </a:rPr>
              <a:t>Un bilan carbone complet, socle de la trajectoire climat</a:t>
            </a:r>
          </a:p>
        </p:txBody>
      </p:sp>
      <p:pic>
        <p:nvPicPr>
          <p:cNvPr id="6" name="Picture 5" descr="image.png"/>
          <p:cNvPicPr>
            <a:picLocks noChangeAspect="1"/>
          </p:cNvPicPr>
          <p:nvPr/>
        </p:nvPicPr>
        <p:blipFill>
          <a:blip r:embed="rId3"/>
          <a:stretch>
            <a:fillRect/>
          </a:stretch>
        </p:blipFill>
        <p:spPr>
          <a:xfrm>
            <a:off x="1280160" y="4343400"/>
            <a:ext cx="1600200" cy="1600200"/>
          </a:xfrm>
          <a:prstGeom prst="rect">
            <a:avLst/>
          </a:prstGeom>
        </p:spPr>
      </p:pic>
      <p:sp>
        <p:nvSpPr>
          <p:cNvPr id="7" name="TextBox 6"/>
          <p:cNvSpPr txBox="1"/>
          <p:nvPr/>
        </p:nvSpPr>
        <p:spPr>
          <a:xfrm>
            <a:off x="1280160" y="4828032"/>
            <a:ext cx="1600200" cy="640080"/>
          </a:xfrm>
          <a:prstGeom prst="rect">
            <a:avLst/>
          </a:prstGeom>
          <a:noFill/>
        </p:spPr>
        <p:txBody>
          <a:bodyPr wrap="square">
            <a:spAutoFit/>
          </a:bodyPr>
          <a:lstStyle/>
          <a:p>
            <a:pPr algn="ctr"/>
            <a:r>
              <a:rPr sz="3800" b="1" i="0">
                <a:solidFill>
                  <a:srgbClr val="FFFFFF"/>
                </a:solidFill>
                <a:latin typeface="Georgia"/>
              </a:rPr>
              <a:t>70</a:t>
            </a:r>
          </a:p>
        </p:txBody>
      </p:sp>
      <p:sp>
        <p:nvSpPr>
          <p:cNvPr id="8" name="TextBox 7"/>
          <p:cNvSpPr txBox="1"/>
          <p:nvPr/>
        </p:nvSpPr>
        <p:spPr>
          <a:xfrm>
            <a:off x="548640" y="6080760"/>
            <a:ext cx="3063240" cy="365760"/>
          </a:xfrm>
          <a:prstGeom prst="rect">
            <a:avLst/>
          </a:prstGeom>
          <a:noFill/>
        </p:spPr>
        <p:txBody>
          <a:bodyPr wrap="square">
            <a:spAutoFit/>
          </a:bodyPr>
          <a:lstStyle/>
          <a:p>
            <a:pPr algn="ctr"/>
            <a:r>
              <a:rPr sz="1100" b="1" i="0">
                <a:solidFill>
                  <a:srgbClr val="FFFFFF"/>
                </a:solidFill>
                <a:latin typeface="Segoe UI"/>
              </a:rPr>
              <a:t>SCORE / 100 · 3/4 INDIC.</a:t>
            </a:r>
          </a:p>
        </p:txBody>
      </p:sp>
      <p:sp>
        <p:nvSpPr>
          <p:cNvPr id="9" name="TextBox 8"/>
          <p:cNvSpPr txBox="1"/>
          <p:nvPr/>
        </p:nvSpPr>
        <p:spPr>
          <a:xfrm>
            <a:off x="4526280" y="457200"/>
            <a:ext cx="7315200" cy="457200"/>
          </a:xfrm>
          <a:prstGeom prst="rect">
            <a:avLst/>
          </a:prstGeom>
          <a:noFill/>
        </p:spPr>
        <p:txBody>
          <a:bodyPr wrap="square">
            <a:spAutoFit/>
          </a:bodyPr>
          <a:lstStyle/>
          <a:p>
            <a:pPr algn="l"/>
            <a:r>
              <a:rPr sz="1500" b="1" i="0">
                <a:solidFill>
                  <a:srgbClr val="5F6B64"/>
                </a:solidFill>
                <a:latin typeface="Segoe UI"/>
              </a:rPr>
              <a:t>INDICATEURS CLÉS</a:t>
            </a:r>
          </a:p>
        </p:txBody>
      </p:sp>
      <p:sp>
        <p:nvSpPr>
          <p:cNvPr id="10" name="Rectangle 9"/>
          <p:cNvSpPr/>
          <p:nvPr/>
        </p:nvSpPr>
        <p:spPr>
          <a:xfrm>
            <a:off x="4526280" y="932688"/>
            <a:ext cx="1280160" cy="41148"/>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26280" y="1234440"/>
            <a:ext cx="3566160" cy="1298448"/>
          </a:xfrm>
          <a:prstGeom prst="roundRect">
            <a:avLst/>
          </a:prstGeom>
          <a:solidFill>
            <a:srgbClr val="E6E6D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26280" y="1399032"/>
            <a:ext cx="54864" cy="969264"/>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45736" y="1481328"/>
            <a:ext cx="822960" cy="822960"/>
          </a:xfrm>
          <a:prstGeom prst="ellipse">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4919472" y="1655064"/>
            <a:ext cx="475488" cy="475488"/>
          </a:xfrm>
          <a:prstGeom prst="rect">
            <a:avLst/>
          </a:prstGeom>
        </p:spPr>
      </p:pic>
      <p:sp>
        <p:nvSpPr>
          <p:cNvPr id="15" name="TextBox 14"/>
          <p:cNvSpPr txBox="1"/>
          <p:nvPr/>
        </p:nvSpPr>
        <p:spPr>
          <a:xfrm>
            <a:off x="5760720" y="1453896"/>
            <a:ext cx="2240280" cy="594360"/>
          </a:xfrm>
          <a:prstGeom prst="rect">
            <a:avLst/>
          </a:prstGeom>
          <a:noFill/>
        </p:spPr>
        <p:txBody>
          <a:bodyPr wrap="square">
            <a:spAutoFit/>
          </a:bodyPr>
          <a:lstStyle/>
          <a:p>
            <a:pPr algn="l"/>
            <a:r>
              <a:rPr sz="2300" b="1" i="0">
                <a:solidFill>
                  <a:srgbClr val="2F6B4F"/>
                </a:solidFill>
                <a:latin typeface="Georgia"/>
              </a:rPr>
              <a:t>8 200 t</a:t>
            </a:r>
          </a:p>
        </p:txBody>
      </p:sp>
      <p:sp>
        <p:nvSpPr>
          <p:cNvPr id="16" name="TextBox 15"/>
          <p:cNvSpPr txBox="1"/>
          <p:nvPr/>
        </p:nvSpPr>
        <p:spPr>
          <a:xfrm>
            <a:off x="5769864" y="2057400"/>
            <a:ext cx="2240280" cy="411480"/>
          </a:xfrm>
          <a:prstGeom prst="rect">
            <a:avLst/>
          </a:prstGeom>
          <a:noFill/>
        </p:spPr>
        <p:txBody>
          <a:bodyPr wrap="square">
            <a:spAutoFit/>
          </a:bodyPr>
          <a:lstStyle/>
          <a:p>
            <a:pPr algn="l"/>
            <a:r>
              <a:rPr sz="1050" b="0" i="0">
                <a:solidFill>
                  <a:srgbClr val="5F6B64"/>
                </a:solidFill>
                <a:latin typeface="Segoe UI"/>
              </a:rPr>
              <a:t>Émissions CO2 totales</a:t>
            </a:r>
          </a:p>
        </p:txBody>
      </p:sp>
      <p:sp>
        <p:nvSpPr>
          <p:cNvPr id="17" name="Rounded Rectangle 16"/>
          <p:cNvSpPr/>
          <p:nvPr/>
        </p:nvSpPr>
        <p:spPr>
          <a:xfrm>
            <a:off x="8321040" y="1234440"/>
            <a:ext cx="3566160" cy="1298448"/>
          </a:xfrm>
          <a:prstGeom prst="roundRect">
            <a:avLst/>
          </a:prstGeom>
          <a:solidFill>
            <a:srgbClr val="E6E6D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21040" y="1399032"/>
            <a:ext cx="54864" cy="969264"/>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540496" y="1481328"/>
            <a:ext cx="822960" cy="822960"/>
          </a:xfrm>
          <a:prstGeom prst="ellipse">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5"/>
          <a:stretch>
            <a:fillRect/>
          </a:stretch>
        </p:blipFill>
        <p:spPr>
          <a:xfrm>
            <a:off x="8714232" y="1655064"/>
            <a:ext cx="475488" cy="475488"/>
          </a:xfrm>
          <a:prstGeom prst="rect">
            <a:avLst/>
          </a:prstGeom>
        </p:spPr>
      </p:pic>
      <p:sp>
        <p:nvSpPr>
          <p:cNvPr id="21" name="TextBox 20"/>
          <p:cNvSpPr txBox="1"/>
          <p:nvPr/>
        </p:nvSpPr>
        <p:spPr>
          <a:xfrm>
            <a:off x="9555480" y="1453896"/>
            <a:ext cx="2240280" cy="594360"/>
          </a:xfrm>
          <a:prstGeom prst="rect">
            <a:avLst/>
          </a:prstGeom>
          <a:noFill/>
        </p:spPr>
        <p:txBody>
          <a:bodyPr wrap="square">
            <a:spAutoFit/>
          </a:bodyPr>
          <a:lstStyle/>
          <a:p>
            <a:pPr algn="l"/>
            <a:r>
              <a:rPr sz="2300" b="1" i="0">
                <a:solidFill>
                  <a:srgbClr val="2F6B4F"/>
                </a:solidFill>
                <a:latin typeface="Georgia"/>
              </a:rPr>
              <a:t>42 %</a:t>
            </a:r>
          </a:p>
        </p:txBody>
      </p:sp>
      <p:sp>
        <p:nvSpPr>
          <p:cNvPr id="22" name="TextBox 21"/>
          <p:cNvSpPr txBox="1"/>
          <p:nvPr/>
        </p:nvSpPr>
        <p:spPr>
          <a:xfrm>
            <a:off x="9564624" y="2057400"/>
            <a:ext cx="2240280" cy="411480"/>
          </a:xfrm>
          <a:prstGeom prst="rect">
            <a:avLst/>
          </a:prstGeom>
          <a:noFill/>
        </p:spPr>
        <p:txBody>
          <a:bodyPr wrap="square">
            <a:spAutoFit/>
          </a:bodyPr>
          <a:lstStyle/>
          <a:p>
            <a:pPr algn="l"/>
            <a:r>
              <a:rPr sz="1050" b="0" i="0">
                <a:solidFill>
                  <a:srgbClr val="5F6B64"/>
                </a:solidFill>
                <a:latin typeface="Segoe UI"/>
              </a:rPr>
              <a:t>Énergie renouvelable</a:t>
            </a:r>
          </a:p>
        </p:txBody>
      </p:sp>
      <p:sp>
        <p:nvSpPr>
          <p:cNvPr id="23" name="Rounded Rectangle 22"/>
          <p:cNvSpPr/>
          <p:nvPr/>
        </p:nvSpPr>
        <p:spPr>
          <a:xfrm>
            <a:off x="4526280" y="2752344"/>
            <a:ext cx="3566160" cy="1298448"/>
          </a:xfrm>
          <a:prstGeom prst="roundRect">
            <a:avLst/>
          </a:prstGeom>
          <a:solidFill>
            <a:srgbClr val="E6E6D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26280" y="2916936"/>
            <a:ext cx="54864" cy="969264"/>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745736" y="2999232"/>
            <a:ext cx="822960" cy="822960"/>
          </a:xfrm>
          <a:prstGeom prst="ellipse">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6"/>
          <a:stretch>
            <a:fillRect/>
          </a:stretch>
        </p:blipFill>
        <p:spPr>
          <a:xfrm>
            <a:off x="4919472" y="3172968"/>
            <a:ext cx="475488" cy="475488"/>
          </a:xfrm>
          <a:prstGeom prst="rect">
            <a:avLst/>
          </a:prstGeom>
        </p:spPr>
      </p:pic>
      <p:sp>
        <p:nvSpPr>
          <p:cNvPr id="27" name="TextBox 26"/>
          <p:cNvSpPr txBox="1"/>
          <p:nvPr/>
        </p:nvSpPr>
        <p:spPr>
          <a:xfrm>
            <a:off x="5760720" y="2971800"/>
            <a:ext cx="2240280" cy="594360"/>
          </a:xfrm>
          <a:prstGeom prst="rect">
            <a:avLst/>
          </a:prstGeom>
          <a:noFill/>
        </p:spPr>
        <p:txBody>
          <a:bodyPr wrap="square">
            <a:spAutoFit/>
          </a:bodyPr>
          <a:lstStyle/>
          <a:p>
            <a:pPr algn="l"/>
            <a:r>
              <a:rPr sz="2300" b="1" i="0">
                <a:solidFill>
                  <a:srgbClr val="2F6B4F"/>
                </a:solidFill>
                <a:latin typeface="Georgia"/>
              </a:rPr>
              <a:t>21 500</a:t>
            </a:r>
          </a:p>
        </p:txBody>
      </p:sp>
      <p:sp>
        <p:nvSpPr>
          <p:cNvPr id="28" name="TextBox 27"/>
          <p:cNvSpPr txBox="1"/>
          <p:nvPr/>
        </p:nvSpPr>
        <p:spPr>
          <a:xfrm>
            <a:off x="5769864" y="3575304"/>
            <a:ext cx="2240280" cy="411480"/>
          </a:xfrm>
          <a:prstGeom prst="rect">
            <a:avLst/>
          </a:prstGeom>
          <a:noFill/>
        </p:spPr>
        <p:txBody>
          <a:bodyPr wrap="square">
            <a:spAutoFit/>
          </a:bodyPr>
          <a:lstStyle/>
          <a:p>
            <a:pPr algn="l"/>
            <a:r>
              <a:rPr sz="1050" b="0" i="0">
                <a:solidFill>
                  <a:srgbClr val="5F6B64"/>
                </a:solidFill>
                <a:latin typeface="Segoe UI"/>
              </a:rPr>
              <a:t>Consommation (MWh)</a:t>
            </a:r>
          </a:p>
        </p:txBody>
      </p:sp>
      <p:sp>
        <p:nvSpPr>
          <p:cNvPr id="29" name="Rounded Rectangle 28"/>
          <p:cNvSpPr/>
          <p:nvPr/>
        </p:nvSpPr>
        <p:spPr>
          <a:xfrm>
            <a:off x="8321040" y="2752344"/>
            <a:ext cx="3566160" cy="1298448"/>
          </a:xfrm>
          <a:prstGeom prst="roundRect">
            <a:avLst/>
          </a:prstGeom>
          <a:solidFill>
            <a:srgbClr val="E6E6D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1040" y="2916936"/>
            <a:ext cx="54864" cy="969264"/>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540496" y="2999232"/>
            <a:ext cx="822960" cy="822960"/>
          </a:xfrm>
          <a:prstGeom prst="ellipse">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7"/>
          <a:stretch>
            <a:fillRect/>
          </a:stretch>
        </p:blipFill>
        <p:spPr>
          <a:xfrm>
            <a:off x="8714232" y="3172968"/>
            <a:ext cx="475488" cy="475488"/>
          </a:xfrm>
          <a:prstGeom prst="rect">
            <a:avLst/>
          </a:prstGeom>
        </p:spPr>
      </p:pic>
      <p:sp>
        <p:nvSpPr>
          <p:cNvPr id="33" name="TextBox 32"/>
          <p:cNvSpPr txBox="1"/>
          <p:nvPr/>
        </p:nvSpPr>
        <p:spPr>
          <a:xfrm>
            <a:off x="9555480" y="2971800"/>
            <a:ext cx="2240280" cy="594360"/>
          </a:xfrm>
          <a:prstGeom prst="rect">
            <a:avLst/>
          </a:prstGeom>
          <a:noFill/>
        </p:spPr>
        <p:txBody>
          <a:bodyPr wrap="square">
            <a:spAutoFit/>
          </a:bodyPr>
          <a:lstStyle/>
          <a:p>
            <a:pPr algn="l"/>
            <a:r>
              <a:rPr sz="2300" b="1" i="0">
                <a:solidFill>
                  <a:srgbClr val="2F6B4F"/>
                </a:solidFill>
                <a:latin typeface="Georgia"/>
              </a:rPr>
              <a:t>120 000</a:t>
            </a:r>
          </a:p>
        </p:txBody>
      </p:sp>
      <p:sp>
        <p:nvSpPr>
          <p:cNvPr id="34" name="TextBox 33"/>
          <p:cNvSpPr txBox="1"/>
          <p:nvPr/>
        </p:nvSpPr>
        <p:spPr>
          <a:xfrm>
            <a:off x="9564624" y="3575304"/>
            <a:ext cx="2240280" cy="411480"/>
          </a:xfrm>
          <a:prstGeom prst="rect">
            <a:avLst/>
          </a:prstGeom>
          <a:noFill/>
        </p:spPr>
        <p:txBody>
          <a:bodyPr wrap="square">
            <a:spAutoFit/>
          </a:bodyPr>
          <a:lstStyle/>
          <a:p>
            <a:pPr algn="l"/>
            <a:r>
              <a:rPr sz="1050" b="0" i="0">
                <a:solidFill>
                  <a:srgbClr val="5F6B64"/>
                </a:solidFill>
                <a:latin typeface="Segoe UI"/>
              </a:rPr>
              <a:t>Eau prélevée (m3)</a:t>
            </a:r>
          </a:p>
        </p:txBody>
      </p:sp>
      <p:sp>
        <p:nvSpPr>
          <p:cNvPr id="35" name="Rounded Rectangle 34"/>
          <p:cNvSpPr/>
          <p:nvPr/>
        </p:nvSpPr>
        <p:spPr>
          <a:xfrm>
            <a:off x="4526280" y="4434840"/>
            <a:ext cx="7360920" cy="1847088"/>
          </a:xfrm>
          <a:prstGeom prst="roundRect">
            <a:avLst/>
          </a:prstGeom>
          <a:solidFill>
            <a:srgbClr val="E6E6DC"/>
          </a:solidFill>
          <a:ln w="19050">
            <a:solidFill>
              <a:srgbClr val="2F6B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526280" y="4434840"/>
            <a:ext cx="100584" cy="1847088"/>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10328" y="4654296"/>
            <a:ext cx="6720840" cy="365760"/>
          </a:xfrm>
          <a:prstGeom prst="rect">
            <a:avLst/>
          </a:prstGeom>
          <a:noFill/>
        </p:spPr>
        <p:txBody>
          <a:bodyPr wrap="square">
            <a:spAutoFit/>
          </a:bodyPr>
          <a:lstStyle/>
          <a:p>
            <a:pPr algn="l"/>
            <a:r>
              <a:rPr sz="1250" b="1" i="0">
                <a:solidFill>
                  <a:srgbClr val="2F6B4F"/>
                </a:solidFill>
                <a:latin typeface="Segoe UI"/>
              </a:rPr>
              <a:t>LECTURE MÉTIER</a:t>
            </a:r>
          </a:p>
        </p:txBody>
      </p:sp>
      <p:sp>
        <p:nvSpPr>
          <p:cNvPr id="38" name="TextBox 37"/>
          <p:cNvSpPr txBox="1"/>
          <p:nvPr/>
        </p:nvSpPr>
        <p:spPr>
          <a:xfrm>
            <a:off x="4910328" y="5093208"/>
            <a:ext cx="6629400" cy="1069848"/>
          </a:xfrm>
          <a:prstGeom prst="rect">
            <a:avLst/>
          </a:prstGeom>
          <a:noFill/>
        </p:spPr>
        <p:txBody>
          <a:bodyPr wrap="square">
            <a:spAutoFit/>
          </a:bodyPr>
          <a:lstStyle/>
          <a:p>
            <a:pPr algn="l"/>
            <a:r>
              <a:rPr sz="1600" b="0" i="0">
                <a:solidFill>
                  <a:srgbClr val="1E2B26"/>
                </a:solidFill>
                <a:latin typeface="Segoe UI"/>
              </a:rPr>
              <a:t>Performance environnementale solide ; l'intensité carbone reste le principal levier de création de valeur durable.</a:t>
            </a:r>
          </a:p>
        </p:txBody>
      </p:sp>
      <p:sp>
        <p:nvSpPr>
          <p:cNvPr id="39" name="TextBox 38"/>
          <p:cNvSpPr txBox="1"/>
          <p:nvPr/>
        </p:nvSpPr>
        <p:spPr>
          <a:xfrm>
            <a:off x="8778240" y="6537960"/>
            <a:ext cx="3200400" cy="274320"/>
          </a:xfrm>
          <a:prstGeom prst="rect">
            <a:avLst/>
          </a:prstGeom>
          <a:noFill/>
        </p:spPr>
        <p:txBody>
          <a:bodyPr wrap="square">
            <a:spAutoFit/>
          </a:bodyPr>
          <a:lstStyle/>
          <a:p>
            <a:pPr algn="r"/>
            <a:r>
              <a:rPr sz="800" b="0" i="0">
                <a:solidFill>
                  <a:srgbClr val="5F6B64"/>
                </a:solidFill>
                <a:latin typeface="Segoe UI"/>
              </a:rPr>
              <a:t>Acme Industries   |   13 / 28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201168" cy="201168"/>
          </a:xfrm>
          <a:prstGeom prst="rect">
            <a:avLst/>
          </a:prstGeom>
          <a:solidFill>
            <a:srgbClr val="1F3D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10789920" cy="685800"/>
          </a:xfrm>
          <a:prstGeom prst="rect">
            <a:avLst/>
          </a:prstGeom>
          <a:noFill/>
        </p:spPr>
        <p:txBody>
          <a:bodyPr wrap="square">
            <a:spAutoFit/>
          </a:bodyPr>
          <a:lstStyle/>
          <a:p>
            <a:pPr algn="l"/>
            <a:r>
              <a:rPr sz="1320" b="1" i="0">
                <a:solidFill>
                  <a:srgbClr val="1E2B26"/>
                </a:solidFill>
                <a:latin typeface="Georgia"/>
              </a:rPr>
              <a:t>Analyse approfondie : ce que disent les chiffres environnementaux</a:t>
            </a:r>
          </a:p>
        </p:txBody>
      </p:sp>
      <p:sp>
        <p:nvSpPr>
          <p:cNvPr id="5" name="Rectangle 4"/>
          <p:cNvSpPr/>
          <p:nvPr/>
        </p:nvSpPr>
        <p:spPr>
          <a:xfrm>
            <a:off x="457200" y="1024128"/>
            <a:ext cx="2011680" cy="18288"/>
          </a:xfrm>
          <a:prstGeom prst="rect">
            <a:avLst/>
          </a:prstGeom>
          <a:solidFill>
            <a:srgbClr val="1E2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365760" y="1417320"/>
            <a:ext cx="5486400" cy="1512794"/>
          </a:xfrm>
          <a:prstGeom prst="rect">
            <a:avLst/>
          </a:prstGeom>
        </p:spPr>
      </p:pic>
      <p:pic>
        <p:nvPicPr>
          <p:cNvPr id="7" name="Picture 6" descr="image.png"/>
          <p:cNvPicPr>
            <a:picLocks noChangeAspect="1"/>
          </p:cNvPicPr>
          <p:nvPr/>
        </p:nvPicPr>
        <p:blipFill>
          <a:blip r:embed="rId3"/>
          <a:stretch>
            <a:fillRect/>
          </a:stretch>
        </p:blipFill>
        <p:spPr>
          <a:xfrm>
            <a:off x="1088615" y="3067274"/>
            <a:ext cx="4040689" cy="2377440"/>
          </a:xfrm>
          <a:prstGeom prst="rect">
            <a:avLst/>
          </a:prstGeom>
        </p:spPr>
      </p:pic>
      <p:sp>
        <p:nvSpPr>
          <p:cNvPr id="8" name="Rectangle 7"/>
          <p:cNvSpPr/>
          <p:nvPr/>
        </p:nvSpPr>
        <p:spPr>
          <a:xfrm>
            <a:off x="6126480" y="1371600"/>
            <a:ext cx="5696712" cy="1186434"/>
          </a:xfrm>
          <a:prstGeom prst="rect">
            <a:avLst/>
          </a:prstGeom>
          <a:solidFill>
            <a:srgbClr val="E6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0" y="1371600"/>
            <a:ext cx="64008" cy="1186434"/>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444752"/>
            <a:ext cx="5422392" cy="365760"/>
          </a:xfrm>
          <a:prstGeom prst="rect">
            <a:avLst/>
          </a:prstGeom>
          <a:noFill/>
        </p:spPr>
        <p:txBody>
          <a:bodyPr wrap="square">
            <a:spAutoFit/>
          </a:bodyPr>
          <a:lstStyle/>
          <a:p>
            <a:pPr algn="l"/>
            <a:r>
              <a:rPr sz="1250" b="1" i="0">
                <a:solidFill>
                  <a:srgbClr val="2F6B4F"/>
                </a:solidFill>
                <a:latin typeface="Segoe UI"/>
              </a:rPr>
              <a:t>Où se forme l'empreinte carbone</a:t>
            </a:r>
          </a:p>
        </p:txBody>
      </p:sp>
      <p:sp>
        <p:nvSpPr>
          <p:cNvPr id="11" name="TextBox 10"/>
          <p:cNvSpPr txBox="1"/>
          <p:nvPr/>
        </p:nvSpPr>
        <p:spPr>
          <a:xfrm>
            <a:off x="6309360" y="1810512"/>
            <a:ext cx="5422392" cy="683514"/>
          </a:xfrm>
          <a:prstGeom prst="rect">
            <a:avLst/>
          </a:prstGeom>
          <a:noFill/>
        </p:spPr>
        <p:txBody>
          <a:bodyPr wrap="square">
            <a:spAutoFit/>
          </a:bodyPr>
          <a:lstStyle/>
          <a:p>
            <a:pPr algn="l"/>
            <a:r>
              <a:rPr sz="1050" b="0" i="0">
                <a:solidFill>
                  <a:srgbClr val="1E2B26"/>
                </a:solidFill>
                <a:latin typeface="Segoe UI"/>
              </a:rPr>
              <a:t>L'entreprise ne peut la réduire seule : elle dépend des choix de ses fournisseurs, de la conception de ses offres et de l'usage qu'en font ses clients.</a:t>
            </a:r>
          </a:p>
        </p:txBody>
      </p:sp>
      <p:sp>
        <p:nvSpPr>
          <p:cNvPr id="12" name="Rectangle 11"/>
          <p:cNvSpPr/>
          <p:nvPr/>
        </p:nvSpPr>
        <p:spPr>
          <a:xfrm>
            <a:off x="6126480" y="2667762"/>
            <a:ext cx="5696712" cy="1186434"/>
          </a:xfrm>
          <a:prstGeom prst="rect">
            <a:avLst/>
          </a:prstGeom>
          <a:solidFill>
            <a:srgbClr val="E6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2667762"/>
            <a:ext cx="64008" cy="1186434"/>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2740914"/>
            <a:ext cx="5422392" cy="365760"/>
          </a:xfrm>
          <a:prstGeom prst="rect">
            <a:avLst/>
          </a:prstGeom>
          <a:noFill/>
        </p:spPr>
        <p:txBody>
          <a:bodyPr wrap="square">
            <a:spAutoFit/>
          </a:bodyPr>
          <a:lstStyle/>
          <a:p>
            <a:pPr algn="l"/>
            <a:r>
              <a:rPr sz="1250" b="1" i="0">
                <a:solidFill>
                  <a:srgbClr val="2F6B4F"/>
                </a:solidFill>
                <a:latin typeface="Segoe UI"/>
              </a:rPr>
              <a:t>Intensité carbone : ce que dit le ratio</a:t>
            </a:r>
          </a:p>
        </p:txBody>
      </p:sp>
      <p:sp>
        <p:nvSpPr>
          <p:cNvPr id="15" name="TextBox 14"/>
          <p:cNvSpPr txBox="1"/>
          <p:nvPr/>
        </p:nvSpPr>
        <p:spPr>
          <a:xfrm>
            <a:off x="6309360" y="3106674"/>
            <a:ext cx="5422392" cy="683514"/>
          </a:xfrm>
          <a:prstGeom prst="rect">
            <a:avLst/>
          </a:prstGeom>
          <a:noFill/>
        </p:spPr>
        <p:txBody>
          <a:bodyPr wrap="square">
            <a:spAutoFit/>
          </a:bodyPr>
          <a:lstStyle/>
          <a:p>
            <a:pPr algn="l"/>
            <a:r>
              <a:rPr sz="1050" b="0" i="0">
                <a:solidFill>
                  <a:srgbClr val="1E2B26"/>
                </a:solidFill>
                <a:latin typeface="Segoe UI"/>
              </a:rPr>
              <a:t>L'entreprise n'est ni en avance ni en retard sur les acteurs comparables. C'est pourtant une position exposée à moyen terme : les attentes se déplacent, et ce qui est dans la moyenne aujourd'hui deviendra un retard dès que les concurrents auront engagé leur propre décarbonation.</a:t>
            </a:r>
          </a:p>
        </p:txBody>
      </p:sp>
      <p:sp>
        <p:nvSpPr>
          <p:cNvPr id="16" name="Rectangle 15"/>
          <p:cNvSpPr/>
          <p:nvPr/>
        </p:nvSpPr>
        <p:spPr>
          <a:xfrm>
            <a:off x="6126480" y="3963924"/>
            <a:ext cx="5696712" cy="1186434"/>
          </a:xfrm>
          <a:prstGeom prst="rect">
            <a:avLst/>
          </a:prstGeom>
          <a:solidFill>
            <a:srgbClr val="E6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3963924"/>
            <a:ext cx="64008" cy="1186434"/>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4037076"/>
            <a:ext cx="5422392" cy="365760"/>
          </a:xfrm>
          <a:prstGeom prst="rect">
            <a:avLst/>
          </a:prstGeom>
          <a:noFill/>
        </p:spPr>
        <p:txBody>
          <a:bodyPr wrap="square">
            <a:spAutoFit/>
          </a:bodyPr>
          <a:lstStyle/>
          <a:p>
            <a:pPr algn="l"/>
            <a:r>
              <a:rPr sz="1250" b="1" i="0">
                <a:solidFill>
                  <a:srgbClr val="2F6B4F"/>
                </a:solidFill>
                <a:latin typeface="Segoe UI"/>
              </a:rPr>
              <a:t>Énergie : sobriété, efficacité, origine</a:t>
            </a:r>
          </a:p>
        </p:txBody>
      </p:sp>
      <p:sp>
        <p:nvSpPr>
          <p:cNvPr id="19" name="TextBox 18"/>
          <p:cNvSpPr txBox="1"/>
          <p:nvPr/>
        </p:nvSpPr>
        <p:spPr>
          <a:xfrm>
            <a:off x="6309360" y="4402836"/>
            <a:ext cx="5422392" cy="683514"/>
          </a:xfrm>
          <a:prstGeom prst="rect">
            <a:avLst/>
          </a:prstGeom>
          <a:noFill/>
        </p:spPr>
        <p:txBody>
          <a:bodyPr wrap="square">
            <a:spAutoFit/>
          </a:bodyPr>
          <a:lstStyle/>
          <a:p>
            <a:pPr algn="l"/>
            <a:r>
              <a:rPr sz="1050" b="0" i="0">
                <a:solidFill>
                  <a:srgbClr val="1E2B26"/>
                </a:solidFill>
                <a:latin typeface="Segoe UI"/>
              </a:rPr>
              <a:t>Dans l'industrie, les gisements d'efficacité se cachent souvent dans les utilités — air comprimé, froid, vapeur — et dans les moteurs, où la variation de vitesse et la chasse aux fuites produisent des gains rapides.</a:t>
            </a:r>
          </a:p>
        </p:txBody>
      </p:sp>
      <p:sp>
        <p:nvSpPr>
          <p:cNvPr id="20" name="Rectangle 19"/>
          <p:cNvSpPr/>
          <p:nvPr/>
        </p:nvSpPr>
        <p:spPr>
          <a:xfrm>
            <a:off x="6126480" y="5260086"/>
            <a:ext cx="5696712" cy="1186434"/>
          </a:xfrm>
          <a:prstGeom prst="rect">
            <a:avLst/>
          </a:prstGeom>
          <a:solidFill>
            <a:srgbClr val="E6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0" y="5260086"/>
            <a:ext cx="64008" cy="1186434"/>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9360" y="5333238"/>
            <a:ext cx="5422392" cy="365760"/>
          </a:xfrm>
          <a:prstGeom prst="rect">
            <a:avLst/>
          </a:prstGeom>
          <a:noFill/>
        </p:spPr>
        <p:txBody>
          <a:bodyPr wrap="square">
            <a:spAutoFit/>
          </a:bodyPr>
          <a:lstStyle/>
          <a:p>
            <a:pPr algn="l"/>
            <a:r>
              <a:rPr sz="1250" b="1" i="0">
                <a:solidFill>
                  <a:srgbClr val="2F6B4F"/>
                </a:solidFill>
                <a:latin typeface="Segoe UI"/>
              </a:rPr>
              <a:t>Déchets et ressources</a:t>
            </a:r>
          </a:p>
        </p:txBody>
      </p:sp>
      <p:sp>
        <p:nvSpPr>
          <p:cNvPr id="23" name="TextBox 22"/>
          <p:cNvSpPr txBox="1"/>
          <p:nvPr/>
        </p:nvSpPr>
        <p:spPr>
          <a:xfrm>
            <a:off x="6309360" y="5698998"/>
            <a:ext cx="5422392" cy="683514"/>
          </a:xfrm>
          <a:prstGeom prst="rect">
            <a:avLst/>
          </a:prstGeom>
          <a:noFill/>
        </p:spPr>
        <p:txBody>
          <a:bodyPr wrap="square">
            <a:spAutoFit/>
          </a:bodyPr>
          <a:lstStyle/>
          <a:p>
            <a:pPr algn="l"/>
            <a:r>
              <a:rPr sz="1050" b="0" i="0">
                <a:solidFill>
                  <a:srgbClr val="1E2B26"/>
                </a:solidFill>
                <a:latin typeface="Segoe UI"/>
              </a:rPr>
              <a:t>Le tri et les filières sont en place. L'enjeu suivant est la réduction à la source, car un déchet bien recyclé reste une matière achetée puis perdue.</a:t>
            </a:r>
          </a:p>
        </p:txBody>
      </p:sp>
      <p:sp>
        <p:nvSpPr>
          <p:cNvPr id="24" name="TextBox 23"/>
          <p:cNvSpPr txBox="1"/>
          <p:nvPr/>
        </p:nvSpPr>
        <p:spPr>
          <a:xfrm>
            <a:off x="8778240" y="6537960"/>
            <a:ext cx="3200400" cy="274320"/>
          </a:xfrm>
          <a:prstGeom prst="rect">
            <a:avLst/>
          </a:prstGeom>
          <a:noFill/>
        </p:spPr>
        <p:txBody>
          <a:bodyPr wrap="square">
            <a:spAutoFit/>
          </a:bodyPr>
          <a:lstStyle/>
          <a:p>
            <a:pPr algn="r"/>
            <a:r>
              <a:rPr sz="800" b="0" i="0">
                <a:solidFill>
                  <a:srgbClr val="5F6B64"/>
                </a:solidFill>
                <a:latin typeface="Segoe UI"/>
              </a:rPr>
              <a:t>Acme Industries   |   14 / 28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4114800" cy="6858000"/>
          </a:xfrm>
          <a:prstGeom prst="rect">
            <a:avLst/>
          </a:prstGeom>
        </p:spPr>
      </p:pic>
      <p:sp>
        <p:nvSpPr>
          <p:cNvPr id="4" name="TextBox 3"/>
          <p:cNvSpPr txBox="1"/>
          <p:nvPr/>
        </p:nvSpPr>
        <p:spPr>
          <a:xfrm>
            <a:off x="338328" y="384048"/>
            <a:ext cx="3520440" cy="320040"/>
          </a:xfrm>
          <a:prstGeom prst="rect">
            <a:avLst/>
          </a:prstGeom>
          <a:noFill/>
        </p:spPr>
        <p:txBody>
          <a:bodyPr wrap="square">
            <a:spAutoFit/>
          </a:bodyPr>
          <a:lstStyle/>
          <a:p>
            <a:pPr algn="l"/>
            <a:r>
              <a:rPr sz="1300" b="1" i="0">
                <a:solidFill>
                  <a:srgbClr val="2E5A4B"/>
                </a:solidFill>
                <a:latin typeface="Segoe UI"/>
              </a:rPr>
              <a:t>PILIER SOCIAL</a:t>
            </a:r>
          </a:p>
        </p:txBody>
      </p:sp>
      <p:sp>
        <p:nvSpPr>
          <p:cNvPr id="5" name="TextBox 4"/>
          <p:cNvSpPr txBox="1"/>
          <p:nvPr/>
        </p:nvSpPr>
        <p:spPr>
          <a:xfrm>
            <a:off x="320040" y="777240"/>
            <a:ext cx="3611880" cy="2286000"/>
          </a:xfrm>
          <a:prstGeom prst="rect">
            <a:avLst/>
          </a:prstGeom>
          <a:noFill/>
        </p:spPr>
        <p:txBody>
          <a:bodyPr wrap="square">
            <a:spAutoFit/>
          </a:bodyPr>
          <a:lstStyle/>
          <a:p>
            <a:pPr algn="l"/>
            <a:r>
              <a:rPr sz="1872" b="1" i="0">
                <a:solidFill>
                  <a:srgbClr val="FFFFFF"/>
                </a:solidFill>
                <a:latin typeface="Georgia"/>
              </a:rPr>
              <a:t>La parité femmes-hommes (34 %), levier à activer</a:t>
            </a:r>
          </a:p>
        </p:txBody>
      </p:sp>
      <p:pic>
        <p:nvPicPr>
          <p:cNvPr id="6" name="Picture 5" descr="image.png"/>
          <p:cNvPicPr>
            <a:picLocks noChangeAspect="1"/>
          </p:cNvPicPr>
          <p:nvPr/>
        </p:nvPicPr>
        <p:blipFill>
          <a:blip r:embed="rId3"/>
          <a:stretch>
            <a:fillRect/>
          </a:stretch>
        </p:blipFill>
        <p:spPr>
          <a:xfrm>
            <a:off x="1280160" y="4343400"/>
            <a:ext cx="1600200" cy="1600200"/>
          </a:xfrm>
          <a:prstGeom prst="rect">
            <a:avLst/>
          </a:prstGeom>
        </p:spPr>
      </p:pic>
      <p:sp>
        <p:nvSpPr>
          <p:cNvPr id="7" name="TextBox 6"/>
          <p:cNvSpPr txBox="1"/>
          <p:nvPr/>
        </p:nvSpPr>
        <p:spPr>
          <a:xfrm>
            <a:off x="1280160" y="4828032"/>
            <a:ext cx="1600200" cy="640080"/>
          </a:xfrm>
          <a:prstGeom prst="rect">
            <a:avLst/>
          </a:prstGeom>
          <a:noFill/>
        </p:spPr>
        <p:txBody>
          <a:bodyPr wrap="square">
            <a:spAutoFit/>
          </a:bodyPr>
          <a:lstStyle/>
          <a:p>
            <a:pPr algn="ctr"/>
            <a:r>
              <a:rPr sz="3800" b="1" i="0">
                <a:solidFill>
                  <a:srgbClr val="FFFFFF"/>
                </a:solidFill>
                <a:latin typeface="Georgia"/>
              </a:rPr>
              <a:t>65</a:t>
            </a:r>
          </a:p>
        </p:txBody>
      </p:sp>
      <p:sp>
        <p:nvSpPr>
          <p:cNvPr id="8" name="TextBox 7"/>
          <p:cNvSpPr txBox="1"/>
          <p:nvPr/>
        </p:nvSpPr>
        <p:spPr>
          <a:xfrm>
            <a:off x="548640" y="6080760"/>
            <a:ext cx="3063240" cy="365760"/>
          </a:xfrm>
          <a:prstGeom prst="rect">
            <a:avLst/>
          </a:prstGeom>
          <a:noFill/>
        </p:spPr>
        <p:txBody>
          <a:bodyPr wrap="square">
            <a:spAutoFit/>
          </a:bodyPr>
          <a:lstStyle/>
          <a:p>
            <a:pPr algn="ctr"/>
            <a:r>
              <a:rPr sz="1100" b="1" i="0">
                <a:solidFill>
                  <a:srgbClr val="FFFFFF"/>
                </a:solidFill>
                <a:latin typeface="Segoe UI"/>
              </a:rPr>
              <a:t>SCORE / 100 · 4/6 INDIC.</a:t>
            </a:r>
          </a:p>
        </p:txBody>
      </p:sp>
      <p:sp>
        <p:nvSpPr>
          <p:cNvPr id="9" name="TextBox 8"/>
          <p:cNvSpPr txBox="1"/>
          <p:nvPr/>
        </p:nvSpPr>
        <p:spPr>
          <a:xfrm>
            <a:off x="4526280" y="457200"/>
            <a:ext cx="7315200" cy="457200"/>
          </a:xfrm>
          <a:prstGeom prst="rect">
            <a:avLst/>
          </a:prstGeom>
          <a:noFill/>
        </p:spPr>
        <p:txBody>
          <a:bodyPr wrap="square">
            <a:spAutoFit/>
          </a:bodyPr>
          <a:lstStyle/>
          <a:p>
            <a:pPr algn="l"/>
            <a:r>
              <a:rPr sz="1500" b="1" i="0">
                <a:solidFill>
                  <a:srgbClr val="5F6B64"/>
                </a:solidFill>
                <a:latin typeface="Segoe UI"/>
              </a:rPr>
              <a:t>INDICATEURS CLÉS</a:t>
            </a:r>
          </a:p>
        </p:txBody>
      </p:sp>
      <p:sp>
        <p:nvSpPr>
          <p:cNvPr id="10" name="Rectangle 9"/>
          <p:cNvSpPr/>
          <p:nvPr/>
        </p:nvSpPr>
        <p:spPr>
          <a:xfrm>
            <a:off x="4526280" y="932688"/>
            <a:ext cx="1280160" cy="41148"/>
          </a:xfrm>
          <a:prstGeom prst="rect">
            <a:avLst/>
          </a:prstGeom>
          <a:solidFill>
            <a:srgbClr val="3D6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26280" y="1234440"/>
            <a:ext cx="3566160" cy="1298448"/>
          </a:xfrm>
          <a:prstGeom prst="roundRect">
            <a:avLst/>
          </a:prstGeom>
          <a:solidFill>
            <a:srgbClr val="E6E6D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26280" y="1399032"/>
            <a:ext cx="54864" cy="969264"/>
          </a:xfrm>
          <a:prstGeom prst="rect">
            <a:avLst/>
          </a:prstGeom>
          <a:solidFill>
            <a:srgbClr val="3D6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45736" y="1481328"/>
            <a:ext cx="822960" cy="822960"/>
          </a:xfrm>
          <a:prstGeom prst="ellipse">
            <a:avLst/>
          </a:prstGeom>
          <a:solidFill>
            <a:srgbClr val="3D6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4919472" y="1655064"/>
            <a:ext cx="475488" cy="475488"/>
          </a:xfrm>
          <a:prstGeom prst="rect">
            <a:avLst/>
          </a:prstGeom>
        </p:spPr>
      </p:pic>
      <p:sp>
        <p:nvSpPr>
          <p:cNvPr id="15" name="TextBox 14"/>
          <p:cNvSpPr txBox="1"/>
          <p:nvPr/>
        </p:nvSpPr>
        <p:spPr>
          <a:xfrm>
            <a:off x="5760720" y="1453896"/>
            <a:ext cx="2240280" cy="594360"/>
          </a:xfrm>
          <a:prstGeom prst="rect">
            <a:avLst/>
          </a:prstGeom>
          <a:noFill/>
        </p:spPr>
        <p:txBody>
          <a:bodyPr wrap="square">
            <a:spAutoFit/>
          </a:bodyPr>
          <a:lstStyle/>
          <a:p>
            <a:pPr algn="l"/>
            <a:r>
              <a:rPr sz="2300" b="1" i="0">
                <a:solidFill>
                  <a:srgbClr val="3D6A8A"/>
                </a:solidFill>
                <a:latin typeface="Georgia"/>
              </a:rPr>
              <a:t>320</a:t>
            </a:r>
          </a:p>
        </p:txBody>
      </p:sp>
      <p:sp>
        <p:nvSpPr>
          <p:cNvPr id="16" name="TextBox 15"/>
          <p:cNvSpPr txBox="1"/>
          <p:nvPr/>
        </p:nvSpPr>
        <p:spPr>
          <a:xfrm>
            <a:off x="5769864" y="2057400"/>
            <a:ext cx="2240280" cy="411480"/>
          </a:xfrm>
          <a:prstGeom prst="rect">
            <a:avLst/>
          </a:prstGeom>
          <a:noFill/>
        </p:spPr>
        <p:txBody>
          <a:bodyPr wrap="square">
            <a:spAutoFit/>
          </a:bodyPr>
          <a:lstStyle/>
          <a:p>
            <a:pPr algn="l"/>
            <a:r>
              <a:rPr sz="1050" b="0" i="0">
                <a:solidFill>
                  <a:srgbClr val="5F6B64"/>
                </a:solidFill>
                <a:latin typeface="Segoe UI"/>
              </a:rPr>
              <a:t>Effectif total</a:t>
            </a:r>
          </a:p>
        </p:txBody>
      </p:sp>
      <p:sp>
        <p:nvSpPr>
          <p:cNvPr id="17" name="Rounded Rectangle 16"/>
          <p:cNvSpPr/>
          <p:nvPr/>
        </p:nvSpPr>
        <p:spPr>
          <a:xfrm>
            <a:off x="8321040" y="1234440"/>
            <a:ext cx="3566160" cy="1298448"/>
          </a:xfrm>
          <a:prstGeom prst="roundRect">
            <a:avLst/>
          </a:prstGeom>
          <a:solidFill>
            <a:srgbClr val="E6E6D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21040" y="1399032"/>
            <a:ext cx="54864" cy="969264"/>
          </a:xfrm>
          <a:prstGeom prst="rect">
            <a:avLst/>
          </a:prstGeom>
          <a:solidFill>
            <a:srgbClr val="3D6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540496" y="1481328"/>
            <a:ext cx="822960" cy="822960"/>
          </a:xfrm>
          <a:prstGeom prst="ellipse">
            <a:avLst/>
          </a:prstGeom>
          <a:solidFill>
            <a:srgbClr val="3D6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4"/>
          <a:stretch>
            <a:fillRect/>
          </a:stretch>
        </p:blipFill>
        <p:spPr>
          <a:xfrm>
            <a:off x="8714232" y="1655064"/>
            <a:ext cx="475488" cy="475488"/>
          </a:xfrm>
          <a:prstGeom prst="rect">
            <a:avLst/>
          </a:prstGeom>
        </p:spPr>
      </p:pic>
      <p:sp>
        <p:nvSpPr>
          <p:cNvPr id="21" name="TextBox 20"/>
          <p:cNvSpPr txBox="1"/>
          <p:nvPr/>
        </p:nvSpPr>
        <p:spPr>
          <a:xfrm>
            <a:off x="9555480" y="1453896"/>
            <a:ext cx="2240280" cy="594360"/>
          </a:xfrm>
          <a:prstGeom prst="rect">
            <a:avLst/>
          </a:prstGeom>
          <a:noFill/>
        </p:spPr>
        <p:txBody>
          <a:bodyPr wrap="square">
            <a:spAutoFit/>
          </a:bodyPr>
          <a:lstStyle/>
          <a:p>
            <a:pPr algn="l"/>
            <a:r>
              <a:rPr sz="2300" b="1" i="0">
                <a:solidFill>
                  <a:srgbClr val="3D6A8A"/>
                </a:solidFill>
                <a:latin typeface="Georgia"/>
              </a:rPr>
              <a:t>34 %</a:t>
            </a:r>
          </a:p>
        </p:txBody>
      </p:sp>
      <p:sp>
        <p:nvSpPr>
          <p:cNvPr id="22" name="TextBox 21"/>
          <p:cNvSpPr txBox="1"/>
          <p:nvPr/>
        </p:nvSpPr>
        <p:spPr>
          <a:xfrm>
            <a:off x="9564624" y="2057400"/>
            <a:ext cx="2240280" cy="411480"/>
          </a:xfrm>
          <a:prstGeom prst="rect">
            <a:avLst/>
          </a:prstGeom>
          <a:noFill/>
        </p:spPr>
        <p:txBody>
          <a:bodyPr wrap="square">
            <a:spAutoFit/>
          </a:bodyPr>
          <a:lstStyle/>
          <a:p>
            <a:pPr algn="l"/>
            <a:r>
              <a:rPr sz="1050" b="0" i="0">
                <a:solidFill>
                  <a:srgbClr val="5F6B64"/>
                </a:solidFill>
                <a:latin typeface="Segoe UI"/>
              </a:rPr>
              <a:t>Femmes dans l'effectif</a:t>
            </a:r>
          </a:p>
        </p:txBody>
      </p:sp>
      <p:sp>
        <p:nvSpPr>
          <p:cNvPr id="23" name="Rounded Rectangle 22"/>
          <p:cNvSpPr/>
          <p:nvPr/>
        </p:nvSpPr>
        <p:spPr>
          <a:xfrm>
            <a:off x="4526280" y="2752344"/>
            <a:ext cx="3566160" cy="1298448"/>
          </a:xfrm>
          <a:prstGeom prst="roundRect">
            <a:avLst/>
          </a:prstGeom>
          <a:solidFill>
            <a:srgbClr val="E6E6D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26280" y="2916936"/>
            <a:ext cx="54864" cy="969264"/>
          </a:xfrm>
          <a:prstGeom prst="rect">
            <a:avLst/>
          </a:prstGeom>
          <a:solidFill>
            <a:srgbClr val="3D6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745736" y="2999232"/>
            <a:ext cx="822960" cy="822960"/>
          </a:xfrm>
          <a:prstGeom prst="ellipse">
            <a:avLst/>
          </a:prstGeom>
          <a:solidFill>
            <a:srgbClr val="3D6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4919472" y="3172968"/>
            <a:ext cx="475488" cy="475488"/>
          </a:xfrm>
          <a:prstGeom prst="rect">
            <a:avLst/>
          </a:prstGeom>
        </p:spPr>
      </p:pic>
      <p:sp>
        <p:nvSpPr>
          <p:cNvPr id="27" name="TextBox 26"/>
          <p:cNvSpPr txBox="1"/>
          <p:nvPr/>
        </p:nvSpPr>
        <p:spPr>
          <a:xfrm>
            <a:off x="5760720" y="2971800"/>
            <a:ext cx="2240280" cy="594360"/>
          </a:xfrm>
          <a:prstGeom prst="rect">
            <a:avLst/>
          </a:prstGeom>
          <a:noFill/>
        </p:spPr>
        <p:txBody>
          <a:bodyPr wrap="square">
            <a:spAutoFit/>
          </a:bodyPr>
          <a:lstStyle/>
          <a:p>
            <a:pPr algn="l"/>
            <a:r>
              <a:rPr sz="2300" b="1" i="0">
                <a:solidFill>
                  <a:srgbClr val="3D6A8A"/>
                </a:solidFill>
                <a:latin typeface="Georgia"/>
              </a:rPr>
              <a:t>22 h</a:t>
            </a:r>
          </a:p>
        </p:txBody>
      </p:sp>
      <p:sp>
        <p:nvSpPr>
          <p:cNvPr id="28" name="TextBox 27"/>
          <p:cNvSpPr txBox="1"/>
          <p:nvPr/>
        </p:nvSpPr>
        <p:spPr>
          <a:xfrm>
            <a:off x="5769864" y="3575304"/>
            <a:ext cx="2240280" cy="411480"/>
          </a:xfrm>
          <a:prstGeom prst="rect">
            <a:avLst/>
          </a:prstGeom>
          <a:noFill/>
        </p:spPr>
        <p:txBody>
          <a:bodyPr wrap="square">
            <a:spAutoFit/>
          </a:bodyPr>
          <a:lstStyle/>
          <a:p>
            <a:pPr algn="l"/>
            <a:r>
              <a:rPr sz="1050" b="0" i="0">
                <a:solidFill>
                  <a:srgbClr val="5F6B64"/>
                </a:solidFill>
                <a:latin typeface="Segoe UI"/>
              </a:rPr>
              <a:t>Formation / an</a:t>
            </a:r>
          </a:p>
        </p:txBody>
      </p:sp>
      <p:sp>
        <p:nvSpPr>
          <p:cNvPr id="29" name="Rounded Rectangle 28"/>
          <p:cNvSpPr/>
          <p:nvPr/>
        </p:nvSpPr>
        <p:spPr>
          <a:xfrm>
            <a:off x="8321040" y="2752344"/>
            <a:ext cx="3566160" cy="1298448"/>
          </a:xfrm>
          <a:prstGeom prst="roundRect">
            <a:avLst/>
          </a:prstGeom>
          <a:solidFill>
            <a:srgbClr val="E6E6D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1040" y="2916936"/>
            <a:ext cx="54864" cy="969264"/>
          </a:xfrm>
          <a:prstGeom prst="rect">
            <a:avLst/>
          </a:prstGeom>
          <a:solidFill>
            <a:srgbClr val="3D6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540496" y="2999232"/>
            <a:ext cx="822960" cy="822960"/>
          </a:xfrm>
          <a:prstGeom prst="ellipse">
            <a:avLst/>
          </a:prstGeom>
          <a:solidFill>
            <a:srgbClr val="3D6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8714232" y="3172968"/>
            <a:ext cx="475488" cy="475488"/>
          </a:xfrm>
          <a:prstGeom prst="rect">
            <a:avLst/>
          </a:prstGeom>
        </p:spPr>
      </p:pic>
      <p:sp>
        <p:nvSpPr>
          <p:cNvPr id="33" name="TextBox 32"/>
          <p:cNvSpPr txBox="1"/>
          <p:nvPr/>
        </p:nvSpPr>
        <p:spPr>
          <a:xfrm>
            <a:off x="9555480" y="2971800"/>
            <a:ext cx="2240280" cy="594360"/>
          </a:xfrm>
          <a:prstGeom prst="rect">
            <a:avLst/>
          </a:prstGeom>
          <a:noFill/>
        </p:spPr>
        <p:txBody>
          <a:bodyPr wrap="square">
            <a:spAutoFit/>
          </a:bodyPr>
          <a:lstStyle/>
          <a:p>
            <a:pPr algn="l"/>
            <a:r>
              <a:rPr sz="2300" b="1" i="0">
                <a:solidFill>
                  <a:srgbClr val="3D6A8A"/>
                </a:solidFill>
                <a:latin typeface="Georgia"/>
              </a:rPr>
              <a:t>6,2</a:t>
            </a:r>
          </a:p>
        </p:txBody>
      </p:sp>
      <p:sp>
        <p:nvSpPr>
          <p:cNvPr id="34" name="TextBox 33"/>
          <p:cNvSpPr txBox="1"/>
          <p:nvPr/>
        </p:nvSpPr>
        <p:spPr>
          <a:xfrm>
            <a:off x="9564624" y="3575304"/>
            <a:ext cx="2240280" cy="411480"/>
          </a:xfrm>
          <a:prstGeom prst="rect">
            <a:avLst/>
          </a:prstGeom>
          <a:noFill/>
        </p:spPr>
        <p:txBody>
          <a:bodyPr wrap="square">
            <a:spAutoFit/>
          </a:bodyPr>
          <a:lstStyle/>
          <a:p>
            <a:pPr algn="l"/>
            <a:r>
              <a:rPr sz="1050" b="0" i="0">
                <a:solidFill>
                  <a:srgbClr val="5F6B64"/>
                </a:solidFill>
                <a:latin typeface="Segoe UI"/>
              </a:rPr>
              <a:t>Taux fréquence accidents</a:t>
            </a:r>
          </a:p>
        </p:txBody>
      </p:sp>
      <p:sp>
        <p:nvSpPr>
          <p:cNvPr id="35" name="Rounded Rectangle 34"/>
          <p:cNvSpPr/>
          <p:nvPr/>
        </p:nvSpPr>
        <p:spPr>
          <a:xfrm>
            <a:off x="4526280" y="4434840"/>
            <a:ext cx="7360920" cy="1847088"/>
          </a:xfrm>
          <a:prstGeom prst="roundRect">
            <a:avLst/>
          </a:prstGeom>
          <a:solidFill>
            <a:srgbClr val="E6E6DC"/>
          </a:solidFill>
          <a:ln w="19050">
            <a:solidFill>
              <a:srgbClr val="3D6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526280" y="4434840"/>
            <a:ext cx="100584" cy="1847088"/>
          </a:xfrm>
          <a:prstGeom prst="rect">
            <a:avLst/>
          </a:prstGeom>
          <a:solidFill>
            <a:srgbClr val="3D6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10328" y="4654296"/>
            <a:ext cx="6720840" cy="365760"/>
          </a:xfrm>
          <a:prstGeom prst="rect">
            <a:avLst/>
          </a:prstGeom>
          <a:noFill/>
        </p:spPr>
        <p:txBody>
          <a:bodyPr wrap="square">
            <a:spAutoFit/>
          </a:bodyPr>
          <a:lstStyle/>
          <a:p>
            <a:pPr algn="l"/>
            <a:r>
              <a:rPr sz="1250" b="1" i="0">
                <a:solidFill>
                  <a:srgbClr val="3D6A8A"/>
                </a:solidFill>
                <a:latin typeface="Segoe UI"/>
              </a:rPr>
              <a:t>LECTURE MÉTIER</a:t>
            </a:r>
          </a:p>
        </p:txBody>
      </p:sp>
      <p:sp>
        <p:nvSpPr>
          <p:cNvPr id="38" name="TextBox 37"/>
          <p:cNvSpPr txBox="1"/>
          <p:nvPr/>
        </p:nvSpPr>
        <p:spPr>
          <a:xfrm>
            <a:off x="4910328" y="5093208"/>
            <a:ext cx="6629400" cy="1069848"/>
          </a:xfrm>
          <a:prstGeom prst="rect">
            <a:avLst/>
          </a:prstGeom>
          <a:noFill/>
        </p:spPr>
        <p:txBody>
          <a:bodyPr wrap="square">
            <a:spAutoFit/>
          </a:bodyPr>
          <a:lstStyle/>
          <a:p>
            <a:pPr algn="l"/>
            <a:r>
              <a:rPr sz="1600" b="0" i="0">
                <a:solidFill>
                  <a:srgbClr val="1E2B26"/>
                </a:solidFill>
                <a:latin typeface="Segoe UI"/>
              </a:rPr>
              <a:t>Socle social solide ; la diversité et la formation sont les leviers pour transformer la conformité en avantage compétitif.</a:t>
            </a:r>
          </a:p>
        </p:txBody>
      </p:sp>
      <p:sp>
        <p:nvSpPr>
          <p:cNvPr id="39" name="TextBox 38"/>
          <p:cNvSpPr txBox="1"/>
          <p:nvPr/>
        </p:nvSpPr>
        <p:spPr>
          <a:xfrm>
            <a:off x="8778240" y="6537960"/>
            <a:ext cx="3200400" cy="274320"/>
          </a:xfrm>
          <a:prstGeom prst="rect">
            <a:avLst/>
          </a:prstGeom>
          <a:noFill/>
        </p:spPr>
        <p:txBody>
          <a:bodyPr wrap="square">
            <a:spAutoFit/>
          </a:bodyPr>
          <a:lstStyle/>
          <a:p>
            <a:pPr algn="r"/>
            <a:r>
              <a:rPr sz="800" b="0" i="0">
                <a:solidFill>
                  <a:srgbClr val="5F6B64"/>
                </a:solidFill>
                <a:latin typeface="Segoe UI"/>
              </a:rPr>
              <a:t>Acme Industries   |   15 / 28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201168" cy="201168"/>
          </a:xfrm>
          <a:prstGeom prst="rect">
            <a:avLst/>
          </a:prstGeom>
          <a:solidFill>
            <a:srgbClr val="1F3D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10789920" cy="685800"/>
          </a:xfrm>
          <a:prstGeom prst="rect">
            <a:avLst/>
          </a:prstGeom>
          <a:noFill/>
        </p:spPr>
        <p:txBody>
          <a:bodyPr wrap="square">
            <a:spAutoFit/>
          </a:bodyPr>
          <a:lstStyle/>
          <a:p>
            <a:pPr algn="l"/>
            <a:r>
              <a:rPr sz="1320" b="1" i="0">
                <a:solidFill>
                  <a:srgbClr val="1E2B26"/>
                </a:solidFill>
                <a:latin typeface="Georgia"/>
              </a:rPr>
              <a:t>Analyse approfondie : ce que disent les chiffres sociaux</a:t>
            </a:r>
          </a:p>
        </p:txBody>
      </p:sp>
      <p:sp>
        <p:nvSpPr>
          <p:cNvPr id="5" name="Rectangle 4"/>
          <p:cNvSpPr/>
          <p:nvPr/>
        </p:nvSpPr>
        <p:spPr>
          <a:xfrm>
            <a:off x="457200" y="1024128"/>
            <a:ext cx="2011680" cy="18288"/>
          </a:xfrm>
          <a:prstGeom prst="rect">
            <a:avLst/>
          </a:prstGeom>
          <a:solidFill>
            <a:srgbClr val="1E2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365760" y="1417320"/>
            <a:ext cx="5486400" cy="1835508"/>
          </a:xfrm>
          <a:prstGeom prst="rect">
            <a:avLst/>
          </a:prstGeom>
        </p:spPr>
      </p:pic>
      <p:pic>
        <p:nvPicPr>
          <p:cNvPr id="7" name="Picture 6" descr="image.png"/>
          <p:cNvPicPr>
            <a:picLocks noChangeAspect="1"/>
          </p:cNvPicPr>
          <p:nvPr/>
        </p:nvPicPr>
        <p:blipFill>
          <a:blip r:embed="rId3"/>
          <a:stretch>
            <a:fillRect/>
          </a:stretch>
        </p:blipFill>
        <p:spPr>
          <a:xfrm>
            <a:off x="365760" y="3389988"/>
            <a:ext cx="5486400" cy="1418132"/>
          </a:xfrm>
          <a:prstGeom prst="rect">
            <a:avLst/>
          </a:prstGeom>
        </p:spPr>
      </p:pic>
      <p:sp>
        <p:nvSpPr>
          <p:cNvPr id="8" name="Rectangle 7"/>
          <p:cNvSpPr/>
          <p:nvPr/>
        </p:nvSpPr>
        <p:spPr>
          <a:xfrm>
            <a:off x="6126480" y="1371600"/>
            <a:ext cx="5696712" cy="1618488"/>
          </a:xfrm>
          <a:prstGeom prst="rect">
            <a:avLst/>
          </a:prstGeom>
          <a:solidFill>
            <a:srgbClr val="E6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0" y="1371600"/>
            <a:ext cx="64008" cy="1618488"/>
          </a:xfrm>
          <a:prstGeom prst="rect">
            <a:avLst/>
          </a:prstGeom>
          <a:solidFill>
            <a:srgbClr val="3D6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444752"/>
            <a:ext cx="5422392" cy="365760"/>
          </a:xfrm>
          <a:prstGeom prst="rect">
            <a:avLst/>
          </a:prstGeom>
          <a:noFill/>
        </p:spPr>
        <p:txBody>
          <a:bodyPr wrap="square">
            <a:spAutoFit/>
          </a:bodyPr>
          <a:lstStyle/>
          <a:p>
            <a:pPr algn="l"/>
            <a:r>
              <a:rPr sz="1250" b="1" i="0">
                <a:solidFill>
                  <a:srgbClr val="3D6A8A"/>
                </a:solidFill>
                <a:latin typeface="Segoe UI"/>
              </a:rPr>
              <a:t>Santé et sécurité au travail</a:t>
            </a:r>
          </a:p>
        </p:txBody>
      </p:sp>
      <p:sp>
        <p:nvSpPr>
          <p:cNvPr id="11" name="TextBox 10"/>
          <p:cNvSpPr txBox="1"/>
          <p:nvPr/>
        </p:nvSpPr>
        <p:spPr>
          <a:xfrm>
            <a:off x="6309360" y="1810512"/>
            <a:ext cx="5422392" cy="1115568"/>
          </a:xfrm>
          <a:prstGeom prst="rect">
            <a:avLst/>
          </a:prstGeom>
          <a:noFill/>
        </p:spPr>
        <p:txBody>
          <a:bodyPr wrap="square">
            <a:spAutoFit/>
          </a:bodyPr>
          <a:lstStyle/>
          <a:p>
            <a:pPr algn="l"/>
            <a:r>
              <a:rPr sz="1050" b="0" i="0">
                <a:solidFill>
                  <a:srgbClr val="1E2B26"/>
                </a:solidFill>
                <a:latin typeface="Segoe UI"/>
              </a:rPr>
              <a:t>Ce résultat témoigne d'une prévention installée. Il doit être protégé : un bon taux de fréquence peut coexister avec des risques graves mais rares, ou avec des troubles musculosquelettiques qui ne se traduisent pas immédiatement en arrêts.</a:t>
            </a:r>
          </a:p>
        </p:txBody>
      </p:sp>
      <p:sp>
        <p:nvSpPr>
          <p:cNvPr id="12" name="Rectangle 11"/>
          <p:cNvSpPr/>
          <p:nvPr/>
        </p:nvSpPr>
        <p:spPr>
          <a:xfrm>
            <a:off x="6126480" y="3099816"/>
            <a:ext cx="5696712" cy="1618488"/>
          </a:xfrm>
          <a:prstGeom prst="rect">
            <a:avLst/>
          </a:prstGeom>
          <a:solidFill>
            <a:srgbClr val="E6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3099816"/>
            <a:ext cx="64008" cy="1618488"/>
          </a:xfrm>
          <a:prstGeom prst="rect">
            <a:avLst/>
          </a:prstGeom>
          <a:solidFill>
            <a:srgbClr val="3D6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3172968"/>
            <a:ext cx="5422392" cy="365760"/>
          </a:xfrm>
          <a:prstGeom prst="rect">
            <a:avLst/>
          </a:prstGeom>
          <a:noFill/>
        </p:spPr>
        <p:txBody>
          <a:bodyPr wrap="square">
            <a:spAutoFit/>
          </a:bodyPr>
          <a:lstStyle/>
          <a:p>
            <a:pPr algn="l"/>
            <a:r>
              <a:rPr sz="1250" b="1" i="0">
                <a:solidFill>
                  <a:srgbClr val="3D6A8A"/>
                </a:solidFill>
                <a:latin typeface="Segoe UI"/>
              </a:rPr>
              <a:t>Fidélisation et compétences</a:t>
            </a:r>
          </a:p>
        </p:txBody>
      </p:sp>
      <p:sp>
        <p:nvSpPr>
          <p:cNvPr id="15" name="TextBox 14"/>
          <p:cNvSpPr txBox="1"/>
          <p:nvPr/>
        </p:nvSpPr>
        <p:spPr>
          <a:xfrm>
            <a:off x="6309360" y="3538728"/>
            <a:ext cx="5422392" cy="1115568"/>
          </a:xfrm>
          <a:prstGeom prst="rect">
            <a:avLst/>
          </a:prstGeom>
          <a:noFill/>
        </p:spPr>
        <p:txBody>
          <a:bodyPr wrap="square">
            <a:spAutoFit/>
          </a:bodyPr>
          <a:lstStyle/>
          <a:p>
            <a:pPr algn="l"/>
            <a:r>
              <a:rPr sz="1050" b="0" i="0">
                <a:solidFill>
                  <a:srgbClr val="1E2B26"/>
                </a:solidFill>
                <a:latin typeface="Segoe UI"/>
              </a:rPr>
              <a:t>Aucun des deux indicateurs n'appelle d'alerte, sans que l'un ou l'autre constitue un avantage distinctif. Les suivre par métier et par site permettrait de repérer les poches de fragilité que la moyenne masque.</a:t>
            </a:r>
          </a:p>
        </p:txBody>
      </p:sp>
      <p:sp>
        <p:nvSpPr>
          <p:cNvPr id="16" name="Rectangle 15"/>
          <p:cNvSpPr/>
          <p:nvPr/>
        </p:nvSpPr>
        <p:spPr>
          <a:xfrm>
            <a:off x="6126480" y="4828032"/>
            <a:ext cx="5696712" cy="1618488"/>
          </a:xfrm>
          <a:prstGeom prst="rect">
            <a:avLst/>
          </a:prstGeom>
          <a:solidFill>
            <a:srgbClr val="E6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4828032"/>
            <a:ext cx="64008" cy="1618488"/>
          </a:xfrm>
          <a:prstGeom prst="rect">
            <a:avLst/>
          </a:prstGeom>
          <a:solidFill>
            <a:srgbClr val="3D6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4901184"/>
            <a:ext cx="5422392" cy="365760"/>
          </a:xfrm>
          <a:prstGeom prst="rect">
            <a:avLst/>
          </a:prstGeom>
          <a:noFill/>
        </p:spPr>
        <p:txBody>
          <a:bodyPr wrap="square">
            <a:spAutoFit/>
          </a:bodyPr>
          <a:lstStyle/>
          <a:p>
            <a:pPr algn="l"/>
            <a:r>
              <a:rPr sz="1250" b="1" i="0">
                <a:solidFill>
                  <a:srgbClr val="3D6A8A"/>
                </a:solidFill>
                <a:latin typeface="Segoe UI"/>
              </a:rPr>
              <a:t>Mixité des équipes</a:t>
            </a:r>
          </a:p>
        </p:txBody>
      </p:sp>
      <p:sp>
        <p:nvSpPr>
          <p:cNvPr id="19" name="TextBox 18"/>
          <p:cNvSpPr txBox="1"/>
          <p:nvPr/>
        </p:nvSpPr>
        <p:spPr>
          <a:xfrm>
            <a:off x="6309360" y="5266944"/>
            <a:ext cx="5422392" cy="1115568"/>
          </a:xfrm>
          <a:prstGeom prst="rect">
            <a:avLst/>
          </a:prstGeom>
          <a:noFill/>
        </p:spPr>
        <p:txBody>
          <a:bodyPr wrap="square">
            <a:spAutoFit/>
          </a:bodyPr>
          <a:lstStyle/>
          <a:p>
            <a:pPr algn="l"/>
            <a:r>
              <a:rPr sz="1050" b="0" i="0">
                <a:solidFill>
                  <a:srgbClr val="1E2B26"/>
                </a:solidFill>
                <a:latin typeface="Segoe UI"/>
              </a:rPr>
              <a:t>L'industrie reste un secteur historiquement très masculin, en particulier dans les métiers de la production et de la maintenance.</a:t>
            </a:r>
          </a:p>
        </p:txBody>
      </p:sp>
      <p:sp>
        <p:nvSpPr>
          <p:cNvPr id="20" name="TextBox 19"/>
          <p:cNvSpPr txBox="1"/>
          <p:nvPr/>
        </p:nvSpPr>
        <p:spPr>
          <a:xfrm>
            <a:off x="8778240" y="6537960"/>
            <a:ext cx="3200400" cy="274320"/>
          </a:xfrm>
          <a:prstGeom prst="rect">
            <a:avLst/>
          </a:prstGeom>
          <a:noFill/>
        </p:spPr>
        <p:txBody>
          <a:bodyPr wrap="square">
            <a:spAutoFit/>
          </a:bodyPr>
          <a:lstStyle/>
          <a:p>
            <a:pPr algn="r"/>
            <a:r>
              <a:rPr sz="800" b="0" i="0">
                <a:solidFill>
                  <a:srgbClr val="5F6B64"/>
                </a:solidFill>
                <a:latin typeface="Segoe UI"/>
              </a:rPr>
              <a:t>Acme Industries   |   16 / 28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4114800" cy="6858000"/>
          </a:xfrm>
          <a:prstGeom prst="rect">
            <a:avLst/>
          </a:prstGeom>
        </p:spPr>
      </p:pic>
      <p:sp>
        <p:nvSpPr>
          <p:cNvPr id="4" name="TextBox 3"/>
          <p:cNvSpPr txBox="1"/>
          <p:nvPr/>
        </p:nvSpPr>
        <p:spPr>
          <a:xfrm>
            <a:off x="338328" y="384048"/>
            <a:ext cx="3520440" cy="320040"/>
          </a:xfrm>
          <a:prstGeom prst="rect">
            <a:avLst/>
          </a:prstGeom>
          <a:noFill/>
        </p:spPr>
        <p:txBody>
          <a:bodyPr wrap="square">
            <a:spAutoFit/>
          </a:bodyPr>
          <a:lstStyle/>
          <a:p>
            <a:pPr algn="l"/>
            <a:r>
              <a:rPr sz="1300" b="1" i="0">
                <a:solidFill>
                  <a:srgbClr val="2E5A4B"/>
                </a:solidFill>
                <a:latin typeface="Segoe UI"/>
              </a:rPr>
              <a:t>PILIER GOUVERNANCE</a:t>
            </a:r>
          </a:p>
        </p:txBody>
      </p:sp>
      <p:sp>
        <p:nvSpPr>
          <p:cNvPr id="5" name="TextBox 4"/>
          <p:cNvSpPr txBox="1"/>
          <p:nvPr/>
        </p:nvSpPr>
        <p:spPr>
          <a:xfrm>
            <a:off x="320040" y="777240"/>
            <a:ext cx="3611880" cy="2286000"/>
          </a:xfrm>
          <a:prstGeom prst="rect">
            <a:avLst/>
          </a:prstGeom>
          <a:noFill/>
        </p:spPr>
        <p:txBody>
          <a:bodyPr wrap="square">
            <a:spAutoFit/>
          </a:bodyPr>
          <a:lstStyle/>
          <a:p>
            <a:pPr algn="l"/>
            <a:r>
              <a:rPr sz="1584" b="1" i="0">
                <a:solidFill>
                  <a:srgbClr val="FFFFFF"/>
                </a:solidFill>
                <a:latin typeface="Georgia"/>
              </a:rPr>
              <a:t>L'assurance ESG indépendante, priorité de la gouvernance</a:t>
            </a:r>
          </a:p>
        </p:txBody>
      </p:sp>
      <p:pic>
        <p:nvPicPr>
          <p:cNvPr id="6" name="Picture 5" descr="image.png"/>
          <p:cNvPicPr>
            <a:picLocks noChangeAspect="1"/>
          </p:cNvPicPr>
          <p:nvPr/>
        </p:nvPicPr>
        <p:blipFill>
          <a:blip r:embed="rId3"/>
          <a:stretch>
            <a:fillRect/>
          </a:stretch>
        </p:blipFill>
        <p:spPr>
          <a:xfrm>
            <a:off x="1280160" y="4343400"/>
            <a:ext cx="1600200" cy="1600200"/>
          </a:xfrm>
          <a:prstGeom prst="rect">
            <a:avLst/>
          </a:prstGeom>
        </p:spPr>
      </p:pic>
      <p:sp>
        <p:nvSpPr>
          <p:cNvPr id="7" name="TextBox 6"/>
          <p:cNvSpPr txBox="1"/>
          <p:nvPr/>
        </p:nvSpPr>
        <p:spPr>
          <a:xfrm>
            <a:off x="1280160" y="4828032"/>
            <a:ext cx="1600200" cy="640080"/>
          </a:xfrm>
          <a:prstGeom prst="rect">
            <a:avLst/>
          </a:prstGeom>
          <a:noFill/>
        </p:spPr>
        <p:txBody>
          <a:bodyPr wrap="square">
            <a:spAutoFit/>
          </a:bodyPr>
          <a:lstStyle/>
          <a:p>
            <a:pPr algn="ctr"/>
            <a:r>
              <a:rPr sz="3800" b="1" i="0">
                <a:solidFill>
                  <a:srgbClr val="FFFFFF"/>
                </a:solidFill>
                <a:latin typeface="Georgia"/>
              </a:rPr>
              <a:t>75</a:t>
            </a:r>
          </a:p>
        </p:txBody>
      </p:sp>
      <p:sp>
        <p:nvSpPr>
          <p:cNvPr id="8" name="TextBox 7"/>
          <p:cNvSpPr txBox="1"/>
          <p:nvPr/>
        </p:nvSpPr>
        <p:spPr>
          <a:xfrm>
            <a:off x="548640" y="6080760"/>
            <a:ext cx="3063240" cy="365760"/>
          </a:xfrm>
          <a:prstGeom prst="rect">
            <a:avLst/>
          </a:prstGeom>
          <a:noFill/>
        </p:spPr>
        <p:txBody>
          <a:bodyPr wrap="square">
            <a:spAutoFit/>
          </a:bodyPr>
          <a:lstStyle/>
          <a:p>
            <a:pPr algn="ctr"/>
            <a:r>
              <a:rPr sz="1100" b="1" i="0">
                <a:solidFill>
                  <a:srgbClr val="FFFFFF"/>
                </a:solidFill>
                <a:latin typeface="Segoe UI"/>
              </a:rPr>
              <a:t>SCORE / 100 · 6/8 INDIC.</a:t>
            </a:r>
          </a:p>
        </p:txBody>
      </p:sp>
      <p:sp>
        <p:nvSpPr>
          <p:cNvPr id="9" name="TextBox 8"/>
          <p:cNvSpPr txBox="1"/>
          <p:nvPr/>
        </p:nvSpPr>
        <p:spPr>
          <a:xfrm>
            <a:off x="4526280" y="457200"/>
            <a:ext cx="7315200" cy="457200"/>
          </a:xfrm>
          <a:prstGeom prst="rect">
            <a:avLst/>
          </a:prstGeom>
          <a:noFill/>
        </p:spPr>
        <p:txBody>
          <a:bodyPr wrap="square">
            <a:spAutoFit/>
          </a:bodyPr>
          <a:lstStyle/>
          <a:p>
            <a:pPr algn="l"/>
            <a:r>
              <a:rPr sz="1500" b="1" i="0">
                <a:solidFill>
                  <a:srgbClr val="5F6B64"/>
                </a:solidFill>
                <a:latin typeface="Segoe UI"/>
              </a:rPr>
              <a:t>INDICATEURS CLÉS</a:t>
            </a:r>
          </a:p>
        </p:txBody>
      </p:sp>
      <p:sp>
        <p:nvSpPr>
          <p:cNvPr id="10" name="Rectangle 9"/>
          <p:cNvSpPr/>
          <p:nvPr/>
        </p:nvSpPr>
        <p:spPr>
          <a:xfrm>
            <a:off x="4526280" y="932688"/>
            <a:ext cx="1280160" cy="41148"/>
          </a:xfrm>
          <a:prstGeom prst="rect">
            <a:avLst/>
          </a:prstGeom>
          <a:solidFill>
            <a:srgbClr val="6B5B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26280" y="1234440"/>
            <a:ext cx="3566160" cy="1298448"/>
          </a:xfrm>
          <a:prstGeom prst="roundRect">
            <a:avLst/>
          </a:prstGeom>
          <a:solidFill>
            <a:srgbClr val="E6E6D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26280" y="1399032"/>
            <a:ext cx="54864" cy="969264"/>
          </a:xfrm>
          <a:prstGeom prst="rect">
            <a:avLst/>
          </a:prstGeom>
          <a:solidFill>
            <a:srgbClr val="6B5B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745736" y="1481328"/>
            <a:ext cx="822960" cy="822960"/>
          </a:xfrm>
          <a:prstGeom prst="ellipse">
            <a:avLst/>
          </a:prstGeom>
          <a:solidFill>
            <a:srgbClr val="6B5B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4919472" y="1655064"/>
            <a:ext cx="475488" cy="475488"/>
          </a:xfrm>
          <a:prstGeom prst="rect">
            <a:avLst/>
          </a:prstGeom>
        </p:spPr>
      </p:pic>
      <p:sp>
        <p:nvSpPr>
          <p:cNvPr id="15" name="TextBox 14"/>
          <p:cNvSpPr txBox="1"/>
          <p:nvPr/>
        </p:nvSpPr>
        <p:spPr>
          <a:xfrm>
            <a:off x="5760720" y="1453896"/>
            <a:ext cx="2240280" cy="594360"/>
          </a:xfrm>
          <a:prstGeom prst="rect">
            <a:avLst/>
          </a:prstGeom>
          <a:noFill/>
        </p:spPr>
        <p:txBody>
          <a:bodyPr wrap="square">
            <a:spAutoFit/>
          </a:bodyPr>
          <a:lstStyle/>
          <a:p>
            <a:pPr algn="l"/>
            <a:r>
              <a:rPr sz="2300" b="1" i="0">
                <a:solidFill>
                  <a:srgbClr val="6B5B86"/>
                </a:solidFill>
                <a:latin typeface="Georgia"/>
              </a:rPr>
              <a:t>9</a:t>
            </a:r>
          </a:p>
        </p:txBody>
      </p:sp>
      <p:sp>
        <p:nvSpPr>
          <p:cNvPr id="16" name="TextBox 15"/>
          <p:cNvSpPr txBox="1"/>
          <p:nvPr/>
        </p:nvSpPr>
        <p:spPr>
          <a:xfrm>
            <a:off x="5769864" y="2057400"/>
            <a:ext cx="2240280" cy="411480"/>
          </a:xfrm>
          <a:prstGeom prst="rect">
            <a:avLst/>
          </a:prstGeom>
          <a:noFill/>
        </p:spPr>
        <p:txBody>
          <a:bodyPr wrap="square">
            <a:spAutoFit/>
          </a:bodyPr>
          <a:lstStyle/>
          <a:p>
            <a:pPr algn="l"/>
            <a:r>
              <a:rPr sz="1050" b="0" i="0">
                <a:solidFill>
                  <a:srgbClr val="5F6B64"/>
                </a:solidFill>
                <a:latin typeface="Segoe UI"/>
              </a:rPr>
              <a:t>Membres du Conseil</a:t>
            </a:r>
          </a:p>
        </p:txBody>
      </p:sp>
      <p:sp>
        <p:nvSpPr>
          <p:cNvPr id="17" name="Rounded Rectangle 16"/>
          <p:cNvSpPr/>
          <p:nvPr/>
        </p:nvSpPr>
        <p:spPr>
          <a:xfrm>
            <a:off x="8321040" y="1234440"/>
            <a:ext cx="3566160" cy="1298448"/>
          </a:xfrm>
          <a:prstGeom prst="roundRect">
            <a:avLst/>
          </a:prstGeom>
          <a:solidFill>
            <a:srgbClr val="E6E6D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21040" y="1399032"/>
            <a:ext cx="54864" cy="969264"/>
          </a:xfrm>
          <a:prstGeom prst="rect">
            <a:avLst/>
          </a:prstGeom>
          <a:solidFill>
            <a:srgbClr val="6B5B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540496" y="1481328"/>
            <a:ext cx="822960" cy="822960"/>
          </a:xfrm>
          <a:prstGeom prst="ellipse">
            <a:avLst/>
          </a:prstGeom>
          <a:solidFill>
            <a:srgbClr val="6B5B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5"/>
          <a:stretch>
            <a:fillRect/>
          </a:stretch>
        </p:blipFill>
        <p:spPr>
          <a:xfrm>
            <a:off x="8714232" y="1655064"/>
            <a:ext cx="475488" cy="475488"/>
          </a:xfrm>
          <a:prstGeom prst="rect">
            <a:avLst/>
          </a:prstGeom>
        </p:spPr>
      </p:pic>
      <p:sp>
        <p:nvSpPr>
          <p:cNvPr id="21" name="TextBox 20"/>
          <p:cNvSpPr txBox="1"/>
          <p:nvPr/>
        </p:nvSpPr>
        <p:spPr>
          <a:xfrm>
            <a:off x="9555480" y="1453896"/>
            <a:ext cx="2240280" cy="594360"/>
          </a:xfrm>
          <a:prstGeom prst="rect">
            <a:avLst/>
          </a:prstGeom>
          <a:noFill/>
        </p:spPr>
        <p:txBody>
          <a:bodyPr wrap="square">
            <a:spAutoFit/>
          </a:bodyPr>
          <a:lstStyle/>
          <a:p>
            <a:pPr algn="l"/>
            <a:r>
              <a:rPr sz="2300" b="1" i="0">
                <a:solidFill>
                  <a:srgbClr val="6B5B86"/>
                </a:solidFill>
                <a:latin typeface="Georgia"/>
              </a:rPr>
              <a:t>44 %</a:t>
            </a:r>
          </a:p>
        </p:txBody>
      </p:sp>
      <p:sp>
        <p:nvSpPr>
          <p:cNvPr id="22" name="TextBox 21"/>
          <p:cNvSpPr txBox="1"/>
          <p:nvPr/>
        </p:nvSpPr>
        <p:spPr>
          <a:xfrm>
            <a:off x="9564624" y="2057400"/>
            <a:ext cx="2240280" cy="411480"/>
          </a:xfrm>
          <a:prstGeom prst="rect">
            <a:avLst/>
          </a:prstGeom>
          <a:noFill/>
        </p:spPr>
        <p:txBody>
          <a:bodyPr wrap="square">
            <a:spAutoFit/>
          </a:bodyPr>
          <a:lstStyle/>
          <a:p>
            <a:pPr algn="l"/>
            <a:r>
              <a:rPr sz="1050" b="0" i="0">
                <a:solidFill>
                  <a:srgbClr val="5F6B64"/>
                </a:solidFill>
                <a:latin typeface="Segoe UI"/>
              </a:rPr>
              <a:t>Femmes au CA</a:t>
            </a:r>
          </a:p>
        </p:txBody>
      </p:sp>
      <p:sp>
        <p:nvSpPr>
          <p:cNvPr id="23" name="Rounded Rectangle 22"/>
          <p:cNvSpPr/>
          <p:nvPr/>
        </p:nvSpPr>
        <p:spPr>
          <a:xfrm>
            <a:off x="4526280" y="2752344"/>
            <a:ext cx="3566160" cy="1298448"/>
          </a:xfrm>
          <a:prstGeom prst="roundRect">
            <a:avLst/>
          </a:prstGeom>
          <a:solidFill>
            <a:srgbClr val="E6E6D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26280" y="2916936"/>
            <a:ext cx="54864" cy="969264"/>
          </a:xfrm>
          <a:prstGeom prst="rect">
            <a:avLst/>
          </a:prstGeom>
          <a:solidFill>
            <a:srgbClr val="6B5B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745736" y="2999232"/>
            <a:ext cx="822960" cy="822960"/>
          </a:xfrm>
          <a:prstGeom prst="ellipse">
            <a:avLst/>
          </a:prstGeom>
          <a:solidFill>
            <a:srgbClr val="6B5B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6"/>
          <a:stretch>
            <a:fillRect/>
          </a:stretch>
        </p:blipFill>
        <p:spPr>
          <a:xfrm>
            <a:off x="4919472" y="3172968"/>
            <a:ext cx="475488" cy="475488"/>
          </a:xfrm>
          <a:prstGeom prst="rect">
            <a:avLst/>
          </a:prstGeom>
        </p:spPr>
      </p:pic>
      <p:sp>
        <p:nvSpPr>
          <p:cNvPr id="27" name="TextBox 26"/>
          <p:cNvSpPr txBox="1"/>
          <p:nvPr/>
        </p:nvSpPr>
        <p:spPr>
          <a:xfrm>
            <a:off x="5760720" y="2971800"/>
            <a:ext cx="2240280" cy="594360"/>
          </a:xfrm>
          <a:prstGeom prst="rect">
            <a:avLst/>
          </a:prstGeom>
          <a:noFill/>
        </p:spPr>
        <p:txBody>
          <a:bodyPr wrap="square">
            <a:spAutoFit/>
          </a:bodyPr>
          <a:lstStyle/>
          <a:p>
            <a:pPr algn="l"/>
            <a:r>
              <a:rPr sz="2300" b="1" i="0">
                <a:solidFill>
                  <a:srgbClr val="6B5B86"/>
                </a:solidFill>
                <a:latin typeface="Georgia"/>
              </a:rPr>
              <a:t>45 %</a:t>
            </a:r>
          </a:p>
        </p:txBody>
      </p:sp>
      <p:sp>
        <p:nvSpPr>
          <p:cNvPr id="28" name="TextBox 27"/>
          <p:cNvSpPr txBox="1"/>
          <p:nvPr/>
        </p:nvSpPr>
        <p:spPr>
          <a:xfrm>
            <a:off x="5769864" y="3575304"/>
            <a:ext cx="2240280" cy="411480"/>
          </a:xfrm>
          <a:prstGeom prst="rect">
            <a:avLst/>
          </a:prstGeom>
          <a:noFill/>
        </p:spPr>
        <p:txBody>
          <a:bodyPr wrap="square">
            <a:spAutoFit/>
          </a:bodyPr>
          <a:lstStyle/>
          <a:p>
            <a:pPr algn="l"/>
            <a:r>
              <a:rPr sz="1050" b="0" i="0">
                <a:solidFill>
                  <a:srgbClr val="5F6B64"/>
                </a:solidFill>
                <a:latin typeface="Segoe UI"/>
              </a:rPr>
              <a:t>Administrateurs indépendants</a:t>
            </a:r>
          </a:p>
        </p:txBody>
      </p:sp>
      <p:sp>
        <p:nvSpPr>
          <p:cNvPr id="29" name="Rounded Rectangle 28"/>
          <p:cNvSpPr/>
          <p:nvPr/>
        </p:nvSpPr>
        <p:spPr>
          <a:xfrm>
            <a:off x="8321040" y="2752344"/>
            <a:ext cx="3566160" cy="1298448"/>
          </a:xfrm>
          <a:prstGeom prst="roundRect">
            <a:avLst/>
          </a:prstGeom>
          <a:solidFill>
            <a:srgbClr val="E6E6DC"/>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1040" y="2916936"/>
            <a:ext cx="54864" cy="969264"/>
          </a:xfrm>
          <a:prstGeom prst="rect">
            <a:avLst/>
          </a:prstGeom>
          <a:solidFill>
            <a:srgbClr val="6B5B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540496" y="2999232"/>
            <a:ext cx="822960" cy="822960"/>
          </a:xfrm>
          <a:prstGeom prst="ellipse">
            <a:avLst/>
          </a:prstGeom>
          <a:solidFill>
            <a:srgbClr val="6B5B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image.png"/>
          <p:cNvPicPr>
            <a:picLocks noChangeAspect="1"/>
          </p:cNvPicPr>
          <p:nvPr/>
        </p:nvPicPr>
        <p:blipFill>
          <a:blip r:embed="rId6"/>
          <a:stretch>
            <a:fillRect/>
          </a:stretch>
        </p:blipFill>
        <p:spPr>
          <a:xfrm>
            <a:off x="8714232" y="3172968"/>
            <a:ext cx="475488" cy="475488"/>
          </a:xfrm>
          <a:prstGeom prst="rect">
            <a:avLst/>
          </a:prstGeom>
        </p:spPr>
      </p:pic>
      <p:sp>
        <p:nvSpPr>
          <p:cNvPr id="33" name="TextBox 32"/>
          <p:cNvSpPr txBox="1"/>
          <p:nvPr/>
        </p:nvSpPr>
        <p:spPr>
          <a:xfrm>
            <a:off x="9555480" y="2971800"/>
            <a:ext cx="2240280" cy="594360"/>
          </a:xfrm>
          <a:prstGeom prst="rect">
            <a:avLst/>
          </a:prstGeom>
          <a:noFill/>
        </p:spPr>
        <p:txBody>
          <a:bodyPr wrap="square">
            <a:spAutoFit/>
          </a:bodyPr>
          <a:lstStyle/>
          <a:p>
            <a:pPr algn="l"/>
            <a:r>
              <a:rPr sz="2300" b="1" i="0">
                <a:solidFill>
                  <a:srgbClr val="6B5B86"/>
                </a:solidFill>
                <a:latin typeface="Georgia"/>
              </a:rPr>
              <a:t>Non</a:t>
            </a:r>
          </a:p>
        </p:txBody>
      </p:sp>
      <p:sp>
        <p:nvSpPr>
          <p:cNvPr id="34" name="TextBox 33"/>
          <p:cNvSpPr txBox="1"/>
          <p:nvPr/>
        </p:nvSpPr>
        <p:spPr>
          <a:xfrm>
            <a:off x="9564624" y="3575304"/>
            <a:ext cx="2240280" cy="411480"/>
          </a:xfrm>
          <a:prstGeom prst="rect">
            <a:avLst/>
          </a:prstGeom>
          <a:noFill/>
        </p:spPr>
        <p:txBody>
          <a:bodyPr wrap="square">
            <a:spAutoFit/>
          </a:bodyPr>
          <a:lstStyle/>
          <a:p>
            <a:pPr algn="l"/>
            <a:r>
              <a:rPr sz="1050" b="0" i="0">
                <a:solidFill>
                  <a:srgbClr val="5F6B64"/>
                </a:solidFill>
                <a:latin typeface="Segoe UI"/>
              </a:rPr>
              <a:t>Audit ESG indépendant</a:t>
            </a:r>
          </a:p>
        </p:txBody>
      </p:sp>
      <p:sp>
        <p:nvSpPr>
          <p:cNvPr id="35" name="Rounded Rectangle 34"/>
          <p:cNvSpPr/>
          <p:nvPr/>
        </p:nvSpPr>
        <p:spPr>
          <a:xfrm>
            <a:off x="4526280" y="4434840"/>
            <a:ext cx="7360920" cy="1847088"/>
          </a:xfrm>
          <a:prstGeom prst="roundRect">
            <a:avLst/>
          </a:prstGeom>
          <a:solidFill>
            <a:srgbClr val="E6E6DC"/>
          </a:solidFill>
          <a:ln w="19050">
            <a:solidFill>
              <a:srgbClr val="6B5B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526280" y="4434840"/>
            <a:ext cx="100584" cy="1847088"/>
          </a:xfrm>
          <a:prstGeom prst="rect">
            <a:avLst/>
          </a:prstGeom>
          <a:solidFill>
            <a:srgbClr val="6B5B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10328" y="4654296"/>
            <a:ext cx="6720840" cy="365760"/>
          </a:xfrm>
          <a:prstGeom prst="rect">
            <a:avLst/>
          </a:prstGeom>
          <a:noFill/>
        </p:spPr>
        <p:txBody>
          <a:bodyPr wrap="square">
            <a:spAutoFit/>
          </a:bodyPr>
          <a:lstStyle/>
          <a:p>
            <a:pPr algn="l"/>
            <a:r>
              <a:rPr sz="1250" b="1" i="0">
                <a:solidFill>
                  <a:srgbClr val="6B5B86"/>
                </a:solidFill>
                <a:latin typeface="Segoe UI"/>
              </a:rPr>
              <a:t>LECTURE MÉTIER</a:t>
            </a:r>
          </a:p>
        </p:txBody>
      </p:sp>
      <p:sp>
        <p:nvSpPr>
          <p:cNvPr id="38" name="TextBox 37"/>
          <p:cNvSpPr txBox="1"/>
          <p:nvPr/>
        </p:nvSpPr>
        <p:spPr>
          <a:xfrm>
            <a:off x="4910328" y="5093208"/>
            <a:ext cx="6629400" cy="1069848"/>
          </a:xfrm>
          <a:prstGeom prst="rect">
            <a:avLst/>
          </a:prstGeom>
          <a:noFill/>
        </p:spPr>
        <p:txBody>
          <a:bodyPr wrap="square">
            <a:spAutoFit/>
          </a:bodyPr>
          <a:lstStyle/>
          <a:p>
            <a:pPr algn="l"/>
            <a:r>
              <a:rPr sz="1600" b="0" i="0">
                <a:solidFill>
                  <a:srgbClr val="1E2B26"/>
                </a:solidFill>
                <a:latin typeface="Segoe UI"/>
              </a:rPr>
              <a:t>Gouvernance exemplaire : indépendance, audit et supervision ESG inspirent confiance aux investisseurs.</a:t>
            </a:r>
          </a:p>
        </p:txBody>
      </p:sp>
      <p:sp>
        <p:nvSpPr>
          <p:cNvPr id="39" name="TextBox 38"/>
          <p:cNvSpPr txBox="1"/>
          <p:nvPr/>
        </p:nvSpPr>
        <p:spPr>
          <a:xfrm>
            <a:off x="8778240" y="6537960"/>
            <a:ext cx="3200400" cy="274320"/>
          </a:xfrm>
          <a:prstGeom prst="rect">
            <a:avLst/>
          </a:prstGeom>
          <a:noFill/>
        </p:spPr>
        <p:txBody>
          <a:bodyPr wrap="square">
            <a:spAutoFit/>
          </a:bodyPr>
          <a:lstStyle/>
          <a:p>
            <a:pPr algn="r"/>
            <a:r>
              <a:rPr sz="800" b="0" i="0">
                <a:solidFill>
                  <a:srgbClr val="5F6B64"/>
                </a:solidFill>
                <a:latin typeface="Segoe UI"/>
              </a:rPr>
              <a:t>Acme Industries   |   17 / 28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201168" cy="201168"/>
          </a:xfrm>
          <a:prstGeom prst="rect">
            <a:avLst/>
          </a:prstGeom>
          <a:solidFill>
            <a:srgbClr val="1F3D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10789920" cy="685800"/>
          </a:xfrm>
          <a:prstGeom prst="rect">
            <a:avLst/>
          </a:prstGeom>
          <a:noFill/>
        </p:spPr>
        <p:txBody>
          <a:bodyPr wrap="square">
            <a:spAutoFit/>
          </a:bodyPr>
          <a:lstStyle/>
          <a:p>
            <a:pPr algn="l"/>
            <a:r>
              <a:rPr sz="1320" b="1" i="0">
                <a:solidFill>
                  <a:srgbClr val="1E2B26"/>
                </a:solidFill>
                <a:latin typeface="Georgia"/>
              </a:rPr>
              <a:t>Analyse approfondie : ce que disent les chiffres de gouvernance</a:t>
            </a:r>
          </a:p>
        </p:txBody>
      </p:sp>
      <p:sp>
        <p:nvSpPr>
          <p:cNvPr id="5" name="Rectangle 4"/>
          <p:cNvSpPr/>
          <p:nvPr/>
        </p:nvSpPr>
        <p:spPr>
          <a:xfrm>
            <a:off x="457200" y="1024128"/>
            <a:ext cx="2011680" cy="18288"/>
          </a:xfrm>
          <a:prstGeom prst="rect">
            <a:avLst/>
          </a:prstGeom>
          <a:solidFill>
            <a:srgbClr val="1E2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365760" y="1417320"/>
            <a:ext cx="5486400" cy="1202834"/>
          </a:xfrm>
          <a:prstGeom prst="rect">
            <a:avLst/>
          </a:prstGeom>
        </p:spPr>
      </p:pic>
      <p:pic>
        <p:nvPicPr>
          <p:cNvPr id="7" name="Picture 6" descr="image.png"/>
          <p:cNvPicPr>
            <a:picLocks noChangeAspect="1"/>
          </p:cNvPicPr>
          <p:nvPr/>
        </p:nvPicPr>
        <p:blipFill>
          <a:blip r:embed="rId3"/>
          <a:stretch>
            <a:fillRect/>
          </a:stretch>
        </p:blipFill>
        <p:spPr>
          <a:xfrm>
            <a:off x="365760" y="2757314"/>
            <a:ext cx="5486400" cy="1860297"/>
          </a:xfrm>
          <a:prstGeom prst="rect">
            <a:avLst/>
          </a:prstGeom>
        </p:spPr>
      </p:pic>
      <p:sp>
        <p:nvSpPr>
          <p:cNvPr id="8" name="Rectangle 7"/>
          <p:cNvSpPr/>
          <p:nvPr/>
        </p:nvSpPr>
        <p:spPr>
          <a:xfrm>
            <a:off x="6126480" y="1371600"/>
            <a:ext cx="5696712" cy="1618488"/>
          </a:xfrm>
          <a:prstGeom prst="rect">
            <a:avLst/>
          </a:prstGeom>
          <a:solidFill>
            <a:srgbClr val="E6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0" y="1371600"/>
            <a:ext cx="64008" cy="1618488"/>
          </a:xfrm>
          <a:prstGeom prst="rect">
            <a:avLst/>
          </a:prstGeom>
          <a:solidFill>
            <a:srgbClr val="6B5B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444752"/>
            <a:ext cx="5422392" cy="365760"/>
          </a:xfrm>
          <a:prstGeom prst="rect">
            <a:avLst/>
          </a:prstGeom>
          <a:noFill/>
        </p:spPr>
        <p:txBody>
          <a:bodyPr wrap="square">
            <a:spAutoFit/>
          </a:bodyPr>
          <a:lstStyle/>
          <a:p>
            <a:pPr algn="l"/>
            <a:r>
              <a:rPr sz="1250" b="1" i="0">
                <a:solidFill>
                  <a:srgbClr val="6B5B86"/>
                </a:solidFill>
                <a:latin typeface="Segoe UI"/>
              </a:rPr>
              <a:t>Pilotage de la démarche de durabilité</a:t>
            </a:r>
          </a:p>
        </p:txBody>
      </p:sp>
      <p:sp>
        <p:nvSpPr>
          <p:cNvPr id="11" name="TextBox 10"/>
          <p:cNvSpPr txBox="1"/>
          <p:nvPr/>
        </p:nvSpPr>
        <p:spPr>
          <a:xfrm>
            <a:off x="6309360" y="1810512"/>
            <a:ext cx="5422392" cy="1115568"/>
          </a:xfrm>
          <a:prstGeom prst="rect">
            <a:avLst/>
          </a:prstGeom>
          <a:noFill/>
        </p:spPr>
        <p:txBody>
          <a:bodyPr wrap="square">
            <a:spAutoFit/>
          </a:bodyPr>
          <a:lstStyle/>
          <a:p>
            <a:pPr algn="l"/>
            <a:r>
              <a:rPr sz="1050" b="0" i="0">
                <a:solidFill>
                  <a:srgbClr val="1E2B26"/>
                </a:solidFill>
                <a:latin typeface="Segoe UI"/>
              </a:rPr>
              <a:t>Un comité de durabilité existe, mais les données ESG ne font pas l'objet d'une vérification externe. Le pilotage repose donc sur des chiffres que personne d'extérieur n'a contrôlés : c'est une fragilité face aux banques, aux investisseurs et aux grands clients, qui accordent plus de crédit à une information vérifiée.</a:t>
            </a:r>
          </a:p>
        </p:txBody>
      </p:sp>
      <p:sp>
        <p:nvSpPr>
          <p:cNvPr id="12" name="Rectangle 11"/>
          <p:cNvSpPr/>
          <p:nvPr/>
        </p:nvSpPr>
        <p:spPr>
          <a:xfrm>
            <a:off x="6126480" y="3099816"/>
            <a:ext cx="5696712" cy="1618488"/>
          </a:xfrm>
          <a:prstGeom prst="rect">
            <a:avLst/>
          </a:prstGeom>
          <a:solidFill>
            <a:srgbClr val="E6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26480" y="3099816"/>
            <a:ext cx="64008" cy="1618488"/>
          </a:xfrm>
          <a:prstGeom prst="rect">
            <a:avLst/>
          </a:prstGeom>
          <a:solidFill>
            <a:srgbClr val="6B5B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3172968"/>
            <a:ext cx="5422392" cy="365760"/>
          </a:xfrm>
          <a:prstGeom prst="rect">
            <a:avLst/>
          </a:prstGeom>
          <a:noFill/>
        </p:spPr>
        <p:txBody>
          <a:bodyPr wrap="square">
            <a:spAutoFit/>
          </a:bodyPr>
          <a:lstStyle/>
          <a:p>
            <a:pPr algn="l"/>
            <a:r>
              <a:rPr sz="1250" b="1" i="0">
                <a:solidFill>
                  <a:srgbClr val="6B5B86"/>
                </a:solidFill>
                <a:latin typeface="Segoe UI"/>
              </a:rPr>
              <a:t>Le conseil d'administration</a:t>
            </a:r>
          </a:p>
        </p:txBody>
      </p:sp>
      <p:sp>
        <p:nvSpPr>
          <p:cNvPr id="15" name="TextBox 14"/>
          <p:cNvSpPr txBox="1"/>
          <p:nvPr/>
        </p:nvSpPr>
        <p:spPr>
          <a:xfrm>
            <a:off x="6309360" y="3538728"/>
            <a:ext cx="5422392" cy="1115568"/>
          </a:xfrm>
          <a:prstGeom prst="rect">
            <a:avLst/>
          </a:prstGeom>
          <a:noFill/>
        </p:spPr>
        <p:txBody>
          <a:bodyPr wrap="square">
            <a:spAutoFit/>
          </a:bodyPr>
          <a:lstStyle/>
          <a:p>
            <a:pPr algn="l"/>
            <a:r>
              <a:rPr sz="1050" b="0" i="0">
                <a:solidFill>
                  <a:srgbClr val="1E2B26"/>
                </a:solidFill>
                <a:latin typeface="Segoe UI"/>
              </a:rPr>
              <a:t>Le conseil compte 9 membres, dont 4 indépendants (45 %) et 4 femmes (44 %). Cette taille permet de réunir des compétences variées sans alourdir les délibérations.</a:t>
            </a:r>
          </a:p>
        </p:txBody>
      </p:sp>
      <p:sp>
        <p:nvSpPr>
          <p:cNvPr id="16" name="Rectangle 15"/>
          <p:cNvSpPr/>
          <p:nvPr/>
        </p:nvSpPr>
        <p:spPr>
          <a:xfrm>
            <a:off x="6126480" y="4828032"/>
            <a:ext cx="5696712" cy="1618488"/>
          </a:xfrm>
          <a:prstGeom prst="rect">
            <a:avLst/>
          </a:prstGeom>
          <a:solidFill>
            <a:srgbClr val="E6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4828032"/>
            <a:ext cx="64008" cy="1618488"/>
          </a:xfrm>
          <a:prstGeom prst="rect">
            <a:avLst/>
          </a:prstGeom>
          <a:solidFill>
            <a:srgbClr val="6B5B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4901184"/>
            <a:ext cx="5422392" cy="365760"/>
          </a:xfrm>
          <a:prstGeom prst="rect">
            <a:avLst/>
          </a:prstGeom>
          <a:noFill/>
        </p:spPr>
        <p:txBody>
          <a:bodyPr wrap="square">
            <a:spAutoFit/>
          </a:bodyPr>
          <a:lstStyle/>
          <a:p>
            <a:pPr algn="l"/>
            <a:r>
              <a:rPr sz="1250" b="1" i="0">
                <a:solidFill>
                  <a:srgbClr val="6B5B86"/>
                </a:solidFill>
                <a:latin typeface="Segoe UI"/>
              </a:rPr>
              <a:t>Éthique, intégrité et sécurité de l'information</a:t>
            </a:r>
          </a:p>
        </p:txBody>
      </p:sp>
      <p:sp>
        <p:nvSpPr>
          <p:cNvPr id="19" name="TextBox 18"/>
          <p:cNvSpPr txBox="1"/>
          <p:nvPr/>
        </p:nvSpPr>
        <p:spPr>
          <a:xfrm>
            <a:off x="6309360" y="5266944"/>
            <a:ext cx="5422392" cy="1115568"/>
          </a:xfrm>
          <a:prstGeom prst="rect">
            <a:avLst/>
          </a:prstGeom>
          <a:noFill/>
        </p:spPr>
        <p:txBody>
          <a:bodyPr wrap="square">
            <a:spAutoFit/>
          </a:bodyPr>
          <a:lstStyle/>
          <a:p>
            <a:pPr algn="l"/>
            <a:r>
              <a:rPr sz="1050" b="0" i="0">
                <a:solidFill>
                  <a:srgbClr val="1E2B26"/>
                </a:solidFill>
                <a:latin typeface="Segoe UI"/>
              </a:rPr>
              <a:t>Une violation de données a été déclarée. Chaque incident expose l'entreprise à des coûts de remédiation, à une perte de confiance des clients et, le cas échéant, à des obligations de notification.</a:t>
            </a:r>
          </a:p>
        </p:txBody>
      </p:sp>
      <p:sp>
        <p:nvSpPr>
          <p:cNvPr id="20" name="TextBox 19"/>
          <p:cNvSpPr txBox="1"/>
          <p:nvPr/>
        </p:nvSpPr>
        <p:spPr>
          <a:xfrm>
            <a:off x="8778240" y="6537960"/>
            <a:ext cx="3200400" cy="274320"/>
          </a:xfrm>
          <a:prstGeom prst="rect">
            <a:avLst/>
          </a:prstGeom>
          <a:noFill/>
        </p:spPr>
        <p:txBody>
          <a:bodyPr wrap="square">
            <a:spAutoFit/>
          </a:bodyPr>
          <a:lstStyle/>
          <a:p>
            <a:pPr algn="r"/>
            <a:r>
              <a:rPr sz="800" b="0" i="0">
                <a:solidFill>
                  <a:srgbClr val="5F6B64"/>
                </a:solidFill>
                <a:latin typeface="Segoe UI"/>
              </a:rPr>
              <a:t>Acme Industries   |   18 / 28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201168" cy="201168"/>
          </a:xfrm>
          <a:prstGeom prst="rect">
            <a:avLst/>
          </a:prstGeom>
          <a:solidFill>
            <a:srgbClr val="1F3D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10789920" cy="685800"/>
          </a:xfrm>
          <a:prstGeom prst="rect">
            <a:avLst/>
          </a:prstGeom>
          <a:noFill/>
        </p:spPr>
        <p:txBody>
          <a:bodyPr wrap="square">
            <a:spAutoFit/>
          </a:bodyPr>
          <a:lstStyle/>
          <a:p>
            <a:pPr algn="l"/>
            <a:r>
              <a:rPr sz="1320" b="1" i="0">
                <a:solidFill>
                  <a:srgbClr val="1E2B26"/>
                </a:solidFill>
                <a:latin typeface="Georgia"/>
              </a:rPr>
              <a:t>Le changement climatique concentre les enjeux ESG prioritaires</a:t>
            </a:r>
          </a:p>
        </p:txBody>
      </p:sp>
      <p:sp>
        <p:nvSpPr>
          <p:cNvPr id="5" name="Rectangle 4"/>
          <p:cNvSpPr/>
          <p:nvPr/>
        </p:nvSpPr>
        <p:spPr>
          <a:xfrm>
            <a:off x="457200" y="1024128"/>
            <a:ext cx="2011680" cy="18288"/>
          </a:xfrm>
          <a:prstGeom prst="rect">
            <a:avLst/>
          </a:prstGeom>
          <a:solidFill>
            <a:srgbClr val="1E2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320040" y="1600200"/>
            <a:ext cx="7299789" cy="4480560"/>
          </a:xfrm>
          <a:prstGeom prst="rect">
            <a:avLst/>
          </a:prstGeom>
        </p:spPr>
      </p:pic>
      <p:sp>
        <p:nvSpPr>
          <p:cNvPr id="7" name="Rounded Rectangle 6"/>
          <p:cNvSpPr/>
          <p:nvPr/>
        </p:nvSpPr>
        <p:spPr>
          <a:xfrm>
            <a:off x="8549640" y="1828800"/>
            <a:ext cx="3337560" cy="4023360"/>
          </a:xfrm>
          <a:prstGeom prst="roundRect">
            <a:avLst/>
          </a:prstGeom>
          <a:solidFill>
            <a:srgbClr val="E6E6DC"/>
          </a:solidFill>
          <a:ln w="15875">
            <a:solidFill>
              <a:srgbClr val="2E5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549640" y="1828800"/>
            <a:ext cx="82296" cy="4023360"/>
          </a:xfrm>
          <a:prstGeom prst="rect">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23960" y="2011680"/>
            <a:ext cx="2880360" cy="365760"/>
          </a:xfrm>
          <a:prstGeom prst="rect">
            <a:avLst/>
          </a:prstGeom>
          <a:noFill/>
        </p:spPr>
        <p:txBody>
          <a:bodyPr wrap="square">
            <a:spAutoFit/>
          </a:bodyPr>
          <a:lstStyle/>
          <a:p>
            <a:pPr algn="l"/>
            <a:r>
              <a:rPr sz="1200" b="1" i="0">
                <a:solidFill>
                  <a:srgbClr val="2E5A4B"/>
                </a:solidFill>
                <a:latin typeface="Segoe UI"/>
              </a:rPr>
              <a:t>LECTURE MÉTIER</a:t>
            </a:r>
          </a:p>
        </p:txBody>
      </p:sp>
      <p:sp>
        <p:nvSpPr>
          <p:cNvPr id="10" name="TextBox 9"/>
          <p:cNvSpPr txBox="1"/>
          <p:nvPr/>
        </p:nvSpPr>
        <p:spPr>
          <a:xfrm>
            <a:off x="8823960" y="2468880"/>
            <a:ext cx="2834640" cy="3200400"/>
          </a:xfrm>
          <a:prstGeom prst="rect">
            <a:avLst/>
          </a:prstGeom>
          <a:noFill/>
        </p:spPr>
        <p:txBody>
          <a:bodyPr wrap="square">
            <a:spAutoFit/>
          </a:bodyPr>
          <a:lstStyle/>
          <a:p>
            <a:pPr algn="l"/>
            <a:r>
              <a:rPr sz="1350" b="0" i="0">
                <a:solidFill>
                  <a:srgbClr val="1E2B26"/>
                </a:solidFill>
                <a:latin typeface="Segoe UI"/>
              </a:rPr>
              <a:t>Enjeux positionnés selon leur exposition estimée et leur sensibilité économique, à partir des données déclarées.</a:t>
            </a:r>
          </a:p>
        </p:txBody>
      </p:sp>
      <p:sp>
        <p:nvSpPr>
          <p:cNvPr id="11" name="TextBox 10"/>
          <p:cNvSpPr txBox="1"/>
          <p:nvPr/>
        </p:nvSpPr>
        <p:spPr>
          <a:xfrm>
            <a:off x="8778240" y="6537960"/>
            <a:ext cx="3200400" cy="274320"/>
          </a:xfrm>
          <a:prstGeom prst="rect">
            <a:avLst/>
          </a:prstGeom>
          <a:noFill/>
        </p:spPr>
        <p:txBody>
          <a:bodyPr wrap="square">
            <a:spAutoFit/>
          </a:bodyPr>
          <a:lstStyle/>
          <a:p>
            <a:pPr algn="r"/>
            <a:r>
              <a:rPr sz="800" b="0" i="0">
                <a:solidFill>
                  <a:srgbClr val="5F6B64"/>
                </a:solidFill>
                <a:latin typeface="Segoe UI"/>
              </a:rPr>
              <a:t>Acme Industries   |   19 / 28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201168" cy="201168"/>
          </a:xfrm>
          <a:prstGeom prst="rect">
            <a:avLst/>
          </a:prstGeom>
          <a:solidFill>
            <a:srgbClr val="1F3D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10789920" cy="685800"/>
          </a:xfrm>
          <a:prstGeom prst="rect">
            <a:avLst/>
          </a:prstGeom>
          <a:noFill/>
        </p:spPr>
        <p:txBody>
          <a:bodyPr wrap="square">
            <a:spAutoFit/>
          </a:bodyPr>
          <a:lstStyle/>
          <a:p>
            <a:pPr algn="l"/>
            <a:r>
              <a:rPr sz="1320" b="1" i="0">
                <a:solidFill>
                  <a:srgbClr val="1E2B26"/>
                </a:solidFill>
                <a:latin typeface="Georgia"/>
              </a:rPr>
              <a:t>52 % des investissements (CapEx) déjà alignés à la Taxonomie UE</a:t>
            </a:r>
          </a:p>
        </p:txBody>
      </p:sp>
      <p:sp>
        <p:nvSpPr>
          <p:cNvPr id="5" name="Rectangle 4"/>
          <p:cNvSpPr/>
          <p:nvPr/>
        </p:nvSpPr>
        <p:spPr>
          <a:xfrm>
            <a:off x="457200" y="1024128"/>
            <a:ext cx="2011680" cy="18288"/>
          </a:xfrm>
          <a:prstGeom prst="rect">
            <a:avLst/>
          </a:prstGeom>
          <a:solidFill>
            <a:srgbClr val="1E2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554480"/>
            <a:ext cx="4937760" cy="1737360"/>
          </a:xfrm>
          <a:prstGeom prst="rect">
            <a:avLst/>
          </a:prstGeom>
          <a:noFill/>
        </p:spPr>
        <p:txBody>
          <a:bodyPr wrap="square">
            <a:spAutoFit/>
          </a:bodyPr>
          <a:lstStyle/>
          <a:p>
            <a:pPr algn="l"/>
            <a:r>
              <a:rPr sz="9600" b="1" i="0">
                <a:solidFill>
                  <a:srgbClr val="2F6B4F"/>
                </a:solidFill>
                <a:latin typeface="Georgia"/>
              </a:rPr>
              <a:t>52 %</a:t>
            </a:r>
          </a:p>
        </p:txBody>
      </p:sp>
      <p:sp>
        <p:nvSpPr>
          <p:cNvPr id="7" name="TextBox 6"/>
          <p:cNvSpPr txBox="1"/>
          <p:nvPr/>
        </p:nvSpPr>
        <p:spPr>
          <a:xfrm>
            <a:off x="548640" y="3429000"/>
            <a:ext cx="4846320" cy="822960"/>
          </a:xfrm>
          <a:prstGeom prst="rect">
            <a:avLst/>
          </a:prstGeom>
          <a:noFill/>
        </p:spPr>
        <p:txBody>
          <a:bodyPr wrap="square">
            <a:spAutoFit/>
          </a:bodyPr>
          <a:lstStyle/>
          <a:p>
            <a:pPr algn="l"/>
            <a:r>
              <a:rPr sz="1500" b="1" i="0">
                <a:solidFill>
                  <a:srgbClr val="1E2B26"/>
                </a:solidFill>
                <a:latin typeface="Segoe UI"/>
              </a:rPr>
              <a:t>Part maximale d'activités alignées à la Taxonomie UE</a:t>
            </a:r>
          </a:p>
        </p:txBody>
      </p:sp>
      <p:sp>
        <p:nvSpPr>
          <p:cNvPr id="8" name="Rounded Rectangle 7"/>
          <p:cNvSpPr/>
          <p:nvPr/>
        </p:nvSpPr>
        <p:spPr>
          <a:xfrm>
            <a:off x="502920" y="4297680"/>
            <a:ext cx="4892040" cy="2103120"/>
          </a:xfrm>
          <a:prstGeom prst="roundRect">
            <a:avLst/>
          </a:prstGeom>
          <a:solidFill>
            <a:srgbClr val="E6E6DC"/>
          </a:solidFill>
          <a:ln w="15875">
            <a:solidFill>
              <a:srgbClr val="2F6B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4297680"/>
            <a:ext cx="82296" cy="2103120"/>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462272"/>
            <a:ext cx="4389120" cy="365760"/>
          </a:xfrm>
          <a:prstGeom prst="rect">
            <a:avLst/>
          </a:prstGeom>
          <a:noFill/>
        </p:spPr>
        <p:txBody>
          <a:bodyPr wrap="square">
            <a:spAutoFit/>
          </a:bodyPr>
          <a:lstStyle/>
          <a:p>
            <a:pPr algn="l"/>
            <a:r>
              <a:rPr sz="1150" b="1" i="0">
                <a:solidFill>
                  <a:srgbClr val="2F6B4F"/>
                </a:solidFill>
                <a:latin typeface="Segoe UI"/>
              </a:rPr>
              <a:t>LECTURE MÉTIER</a:t>
            </a:r>
          </a:p>
        </p:txBody>
      </p:sp>
      <p:sp>
        <p:nvSpPr>
          <p:cNvPr id="11" name="TextBox 10"/>
          <p:cNvSpPr txBox="1"/>
          <p:nvPr/>
        </p:nvSpPr>
        <p:spPr>
          <a:xfrm>
            <a:off x="777240" y="4828032"/>
            <a:ext cx="4434840" cy="1463040"/>
          </a:xfrm>
          <a:prstGeom prst="rect">
            <a:avLst/>
          </a:prstGeom>
          <a:noFill/>
        </p:spPr>
        <p:txBody>
          <a:bodyPr wrap="square">
            <a:spAutoFit/>
          </a:bodyPr>
          <a:lstStyle/>
          <a:p>
            <a:pPr algn="l"/>
            <a:r>
              <a:rPr sz="1300" b="0" i="0">
                <a:solidFill>
                  <a:srgbClr val="1E2B26"/>
                </a:solidFill>
                <a:latin typeface="Segoe UI"/>
              </a:rPr>
              <a:t>Parts d'activités déclarées comme alignées à la Taxonomie UE par l'entreprise. Le respect du principe DNSH et des garanties minimales sociales (diligence raisonnable au sens des Principes directeurs de l'OCDE et des Nations unies) n'est pas évalué dans ce rapport.</a:t>
            </a:r>
          </a:p>
        </p:txBody>
      </p:sp>
      <p:pic>
        <p:nvPicPr>
          <p:cNvPr id="12" name="Picture 11" descr="image.png"/>
          <p:cNvPicPr>
            <a:picLocks noChangeAspect="1"/>
          </p:cNvPicPr>
          <p:nvPr/>
        </p:nvPicPr>
        <p:blipFill>
          <a:blip r:embed="rId2"/>
          <a:stretch>
            <a:fillRect/>
          </a:stretch>
        </p:blipFill>
        <p:spPr>
          <a:xfrm>
            <a:off x="5760720" y="2286000"/>
            <a:ext cx="6126480" cy="2782209"/>
          </a:xfrm>
          <a:prstGeom prst="rect">
            <a:avLst/>
          </a:prstGeom>
        </p:spPr>
      </p:pic>
      <p:sp>
        <p:nvSpPr>
          <p:cNvPr id="13" name="TextBox 12"/>
          <p:cNvSpPr txBox="1"/>
          <p:nvPr/>
        </p:nvSpPr>
        <p:spPr>
          <a:xfrm>
            <a:off x="8778240" y="6537960"/>
            <a:ext cx="3200400" cy="274320"/>
          </a:xfrm>
          <a:prstGeom prst="rect">
            <a:avLst/>
          </a:prstGeom>
          <a:noFill/>
        </p:spPr>
        <p:txBody>
          <a:bodyPr wrap="square">
            <a:spAutoFit/>
          </a:bodyPr>
          <a:lstStyle/>
          <a:p>
            <a:pPr algn="r"/>
            <a:r>
              <a:rPr sz="800" b="0" i="0">
                <a:solidFill>
                  <a:srgbClr val="5F6B64"/>
                </a:solidFill>
                <a:latin typeface="Segoe UI"/>
              </a:rPr>
              <a:t>Acme Industries   |   20 / 28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201168" cy="201168"/>
          </a:xfrm>
          <a:prstGeom prst="rect">
            <a:avLst/>
          </a:prstGeom>
          <a:solidFill>
            <a:srgbClr val="1F3D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10789920" cy="685800"/>
          </a:xfrm>
          <a:prstGeom prst="rect">
            <a:avLst/>
          </a:prstGeom>
          <a:noFill/>
        </p:spPr>
        <p:txBody>
          <a:bodyPr wrap="square">
            <a:spAutoFit/>
          </a:bodyPr>
          <a:lstStyle/>
          <a:p>
            <a:pPr algn="l"/>
            <a:r>
              <a:rPr sz="1560" b="1" i="0">
                <a:solidFill>
                  <a:srgbClr val="1E2B26"/>
                </a:solidFill>
                <a:latin typeface="Georgia"/>
              </a:rPr>
              <a:t>5 forces établies, 4 leviers de progression</a:t>
            </a:r>
          </a:p>
        </p:txBody>
      </p:sp>
      <p:sp>
        <p:nvSpPr>
          <p:cNvPr id="5" name="Rectangle 4"/>
          <p:cNvSpPr/>
          <p:nvPr/>
        </p:nvSpPr>
        <p:spPr>
          <a:xfrm>
            <a:off x="457200" y="1024128"/>
            <a:ext cx="2011680" cy="18288"/>
          </a:xfrm>
          <a:prstGeom prst="rect">
            <a:avLst/>
          </a:prstGeom>
          <a:solidFill>
            <a:srgbClr val="1E2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143000"/>
            <a:ext cx="5669280" cy="5257800"/>
          </a:xfrm>
          <a:prstGeom prst="rect">
            <a:avLst/>
          </a:prstGeom>
          <a:solidFill>
            <a:srgbClr val="E6E6DC"/>
          </a:solidFill>
          <a:ln w="12700">
            <a:solidFill>
              <a:srgbClr val="2F6B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1188720" cy="914400"/>
          </a:xfrm>
          <a:prstGeom prst="rect">
            <a:avLst/>
          </a:prstGeom>
          <a:noFill/>
        </p:spPr>
        <p:txBody>
          <a:bodyPr wrap="square">
            <a:spAutoFit/>
          </a:bodyPr>
          <a:lstStyle/>
          <a:p>
            <a:pPr algn="l"/>
            <a:r>
              <a:rPr sz="4600" b="1" i="0">
                <a:solidFill>
                  <a:srgbClr val="2F6B4F"/>
                </a:solidFill>
                <a:latin typeface="Georgia"/>
              </a:rPr>
              <a:t>5</a:t>
            </a:r>
          </a:p>
        </p:txBody>
      </p:sp>
      <p:sp>
        <p:nvSpPr>
          <p:cNvPr id="8" name="TextBox 7"/>
          <p:cNvSpPr txBox="1"/>
          <p:nvPr/>
        </p:nvSpPr>
        <p:spPr>
          <a:xfrm>
            <a:off x="1600200" y="1572768"/>
            <a:ext cx="4206240" cy="640080"/>
          </a:xfrm>
          <a:prstGeom prst="rect">
            <a:avLst/>
          </a:prstGeom>
          <a:noFill/>
        </p:spPr>
        <p:txBody>
          <a:bodyPr wrap="square">
            <a:spAutoFit/>
          </a:bodyPr>
          <a:lstStyle/>
          <a:p>
            <a:pPr algn="l"/>
            <a:r>
              <a:rPr sz="1500" b="1" i="0">
                <a:solidFill>
                  <a:srgbClr val="1E2B26"/>
                </a:solidFill>
                <a:latin typeface="Segoe UI"/>
              </a:rPr>
              <a:t>POINTS FORTS</a:t>
            </a:r>
          </a:p>
        </p:txBody>
      </p:sp>
      <p:sp>
        <p:nvSpPr>
          <p:cNvPr id="9" name="Rectangle 8"/>
          <p:cNvSpPr/>
          <p:nvPr/>
        </p:nvSpPr>
        <p:spPr>
          <a:xfrm>
            <a:off x="548640" y="2423160"/>
            <a:ext cx="5120640" cy="18288"/>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66928" y="2770632"/>
            <a:ext cx="146304" cy="146304"/>
          </a:xfrm>
          <a:prstGeom prst="ellipse">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697480"/>
            <a:ext cx="4800600" cy="658368"/>
          </a:xfrm>
          <a:prstGeom prst="rect">
            <a:avLst/>
          </a:prstGeom>
          <a:noFill/>
        </p:spPr>
        <p:txBody>
          <a:bodyPr wrap="square">
            <a:spAutoFit/>
          </a:bodyPr>
          <a:lstStyle/>
          <a:p>
            <a:pPr algn="l"/>
            <a:r>
              <a:rPr sz="1250" b="0" i="0">
                <a:solidFill>
                  <a:srgbClr val="1E2B26"/>
                </a:solidFill>
                <a:latin typeface="Segoe UI"/>
              </a:rPr>
              <a:t>Excellente performance environnementale globale</a:t>
            </a:r>
          </a:p>
        </p:txBody>
      </p:sp>
      <p:sp>
        <p:nvSpPr>
          <p:cNvPr id="12" name="Oval 11"/>
          <p:cNvSpPr/>
          <p:nvPr/>
        </p:nvSpPr>
        <p:spPr>
          <a:xfrm>
            <a:off x="566928" y="3483864"/>
            <a:ext cx="146304" cy="146304"/>
          </a:xfrm>
          <a:prstGeom prst="ellipse">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410712"/>
            <a:ext cx="4800600" cy="658368"/>
          </a:xfrm>
          <a:prstGeom prst="rect">
            <a:avLst/>
          </a:prstGeom>
          <a:noFill/>
        </p:spPr>
        <p:txBody>
          <a:bodyPr wrap="square">
            <a:spAutoFit/>
          </a:bodyPr>
          <a:lstStyle/>
          <a:p>
            <a:pPr algn="l"/>
            <a:r>
              <a:rPr sz="1250" b="0" i="0">
                <a:solidFill>
                  <a:srgbClr val="1E2B26"/>
                </a:solidFill>
                <a:latin typeface="Segoe UI"/>
              </a:rPr>
              <a:t>Comité de durabilité en place au niveau du CA</a:t>
            </a:r>
          </a:p>
        </p:txBody>
      </p:sp>
      <p:sp>
        <p:nvSpPr>
          <p:cNvPr id="14" name="Oval 13"/>
          <p:cNvSpPr/>
          <p:nvPr/>
        </p:nvSpPr>
        <p:spPr>
          <a:xfrm>
            <a:off x="566928" y="4197096"/>
            <a:ext cx="146304" cy="146304"/>
          </a:xfrm>
          <a:prstGeom prst="ellipse">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4123944"/>
            <a:ext cx="4800600" cy="658368"/>
          </a:xfrm>
          <a:prstGeom prst="rect">
            <a:avLst/>
          </a:prstGeom>
          <a:noFill/>
        </p:spPr>
        <p:txBody>
          <a:bodyPr wrap="square">
            <a:spAutoFit/>
          </a:bodyPr>
          <a:lstStyle/>
          <a:p>
            <a:pPr algn="l"/>
            <a:r>
              <a:rPr sz="1250" b="0" i="0">
                <a:solidFill>
                  <a:srgbClr val="1E2B26"/>
                </a:solidFill>
                <a:latin typeface="Segoe UI"/>
              </a:rPr>
              <a:t>Parité exemplaire au Conseil d'Administration (44 %)</a:t>
            </a:r>
          </a:p>
        </p:txBody>
      </p:sp>
      <p:sp>
        <p:nvSpPr>
          <p:cNvPr id="16" name="Oval 15"/>
          <p:cNvSpPr/>
          <p:nvPr/>
        </p:nvSpPr>
        <p:spPr>
          <a:xfrm>
            <a:off x="566928" y="4910328"/>
            <a:ext cx="146304" cy="146304"/>
          </a:xfrm>
          <a:prstGeom prst="ellipse">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37176"/>
            <a:ext cx="4800600" cy="658368"/>
          </a:xfrm>
          <a:prstGeom prst="rect">
            <a:avLst/>
          </a:prstGeom>
          <a:noFill/>
        </p:spPr>
        <p:txBody>
          <a:bodyPr wrap="square">
            <a:spAutoFit/>
          </a:bodyPr>
          <a:lstStyle/>
          <a:p>
            <a:pPr algn="l"/>
            <a:r>
              <a:rPr sz="1250" b="0" i="0">
                <a:solidFill>
                  <a:srgbClr val="1E2B26"/>
                </a:solidFill>
                <a:latin typeface="Segoe UI"/>
              </a:rPr>
              <a:t>Gouvernance de haute qualité et transparente</a:t>
            </a:r>
          </a:p>
        </p:txBody>
      </p:sp>
      <p:sp>
        <p:nvSpPr>
          <p:cNvPr id="18" name="Oval 17"/>
          <p:cNvSpPr/>
          <p:nvPr/>
        </p:nvSpPr>
        <p:spPr>
          <a:xfrm>
            <a:off x="566928" y="5623560"/>
            <a:ext cx="146304" cy="146304"/>
          </a:xfrm>
          <a:prstGeom prst="ellipse">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550408"/>
            <a:ext cx="4800600" cy="658368"/>
          </a:xfrm>
          <a:prstGeom prst="rect">
            <a:avLst/>
          </a:prstGeom>
          <a:noFill/>
        </p:spPr>
        <p:txBody>
          <a:bodyPr wrap="square">
            <a:spAutoFit/>
          </a:bodyPr>
          <a:lstStyle/>
          <a:p>
            <a:pPr algn="l"/>
            <a:r>
              <a:rPr sz="1250" b="0" i="0">
                <a:solidFill>
                  <a:srgbClr val="1E2B26"/>
                </a:solidFill>
                <a:latin typeface="Segoe UI"/>
              </a:rPr>
              <a:t>Reporting complet des émissions Scope 1, 2 et 3</a:t>
            </a:r>
          </a:p>
        </p:txBody>
      </p:sp>
      <p:sp>
        <p:nvSpPr>
          <p:cNvPr id="20" name="Rectangle 19"/>
          <p:cNvSpPr/>
          <p:nvPr/>
        </p:nvSpPr>
        <p:spPr>
          <a:xfrm>
            <a:off x="6245352" y="1143000"/>
            <a:ext cx="5669280" cy="5257800"/>
          </a:xfrm>
          <a:prstGeom prst="rect">
            <a:avLst/>
          </a:prstGeom>
          <a:solidFill>
            <a:srgbClr val="E6E6DC"/>
          </a:solidFill>
          <a:ln w="1270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19672" y="1325880"/>
            <a:ext cx="1188720" cy="914400"/>
          </a:xfrm>
          <a:prstGeom prst="rect">
            <a:avLst/>
          </a:prstGeom>
          <a:noFill/>
        </p:spPr>
        <p:txBody>
          <a:bodyPr wrap="square">
            <a:spAutoFit/>
          </a:bodyPr>
          <a:lstStyle/>
          <a:p>
            <a:pPr algn="l"/>
            <a:r>
              <a:rPr sz="4600" b="1" i="0">
                <a:solidFill>
                  <a:srgbClr val="E74C3C"/>
                </a:solidFill>
                <a:latin typeface="Georgia"/>
              </a:rPr>
              <a:t>4</a:t>
            </a:r>
          </a:p>
        </p:txBody>
      </p:sp>
      <p:sp>
        <p:nvSpPr>
          <p:cNvPr id="22" name="TextBox 21"/>
          <p:cNvSpPr txBox="1"/>
          <p:nvPr/>
        </p:nvSpPr>
        <p:spPr>
          <a:xfrm>
            <a:off x="7571232" y="1572768"/>
            <a:ext cx="4206240" cy="640080"/>
          </a:xfrm>
          <a:prstGeom prst="rect">
            <a:avLst/>
          </a:prstGeom>
          <a:noFill/>
        </p:spPr>
        <p:txBody>
          <a:bodyPr wrap="square">
            <a:spAutoFit/>
          </a:bodyPr>
          <a:lstStyle/>
          <a:p>
            <a:pPr algn="l"/>
            <a:r>
              <a:rPr sz="1500" b="1" i="0">
                <a:solidFill>
                  <a:srgbClr val="1E2B26"/>
                </a:solidFill>
                <a:latin typeface="Segoe UI"/>
              </a:rPr>
              <a:t>AXES D'AMÉLIORATION</a:t>
            </a:r>
          </a:p>
        </p:txBody>
      </p:sp>
      <p:sp>
        <p:nvSpPr>
          <p:cNvPr id="23" name="Rectangle 22"/>
          <p:cNvSpPr/>
          <p:nvPr/>
        </p:nvSpPr>
        <p:spPr>
          <a:xfrm>
            <a:off x="6519672" y="2423160"/>
            <a:ext cx="5120640" cy="1828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537960" y="2770632"/>
            <a:ext cx="146304" cy="146304"/>
          </a:xfrm>
          <a:prstGeom prst="ellipse">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67144" y="2697480"/>
            <a:ext cx="4800600" cy="658368"/>
          </a:xfrm>
          <a:prstGeom prst="rect">
            <a:avLst/>
          </a:prstGeom>
          <a:noFill/>
        </p:spPr>
        <p:txBody>
          <a:bodyPr wrap="square">
            <a:spAutoFit/>
          </a:bodyPr>
          <a:lstStyle/>
          <a:p>
            <a:pPr algn="l"/>
            <a:r>
              <a:rPr sz="1250" b="0" i="0">
                <a:solidFill>
                  <a:srgbClr val="1E2B26"/>
                </a:solidFill>
                <a:latin typeface="Segoe UI"/>
              </a:rPr>
              <a:t>Énergie renouvelable à renforcer (actuellement 42 %, cible de l'entreprise : 60 % en 2030)</a:t>
            </a:r>
          </a:p>
        </p:txBody>
      </p:sp>
      <p:sp>
        <p:nvSpPr>
          <p:cNvPr id="26" name="Oval 25"/>
          <p:cNvSpPr/>
          <p:nvPr/>
        </p:nvSpPr>
        <p:spPr>
          <a:xfrm>
            <a:off x="6537960" y="3483864"/>
            <a:ext cx="146304" cy="146304"/>
          </a:xfrm>
          <a:prstGeom prst="ellipse">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67144" y="3410712"/>
            <a:ext cx="4800600" cy="658368"/>
          </a:xfrm>
          <a:prstGeom prst="rect">
            <a:avLst/>
          </a:prstGeom>
          <a:noFill/>
        </p:spPr>
        <p:txBody>
          <a:bodyPr wrap="square">
            <a:spAutoFit/>
          </a:bodyPr>
          <a:lstStyle/>
          <a:p>
            <a:pPr algn="l"/>
            <a:r>
              <a:rPr sz="1250" b="0" i="0">
                <a:solidFill>
                  <a:srgbClr val="1E2B26"/>
                </a:solidFill>
                <a:latin typeface="Segoe UI"/>
              </a:rPr>
              <a:t>Déséquilibre de genre dans les effectifs (34 % de femmes)</a:t>
            </a:r>
          </a:p>
        </p:txBody>
      </p:sp>
      <p:sp>
        <p:nvSpPr>
          <p:cNvPr id="28" name="Oval 27"/>
          <p:cNvSpPr/>
          <p:nvPr/>
        </p:nvSpPr>
        <p:spPr>
          <a:xfrm>
            <a:off x="6537960" y="4197096"/>
            <a:ext cx="146304" cy="146304"/>
          </a:xfrm>
          <a:prstGeom prst="ellipse">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67144" y="4123944"/>
            <a:ext cx="4800600" cy="658368"/>
          </a:xfrm>
          <a:prstGeom prst="rect">
            <a:avLst/>
          </a:prstGeom>
          <a:noFill/>
        </p:spPr>
        <p:txBody>
          <a:bodyPr wrap="square">
            <a:spAutoFit/>
          </a:bodyPr>
          <a:lstStyle/>
          <a:p>
            <a:pPr algn="l"/>
            <a:r>
              <a:rPr sz="1250" b="0" i="0">
                <a:solidFill>
                  <a:srgbClr val="1E2B26"/>
                </a:solidFill>
                <a:latin typeface="Segoe UI"/>
              </a:rPr>
              <a:t>Une violation de données — cybersécurité à renforcer</a:t>
            </a:r>
          </a:p>
        </p:txBody>
      </p:sp>
      <p:sp>
        <p:nvSpPr>
          <p:cNvPr id="30" name="Oval 29"/>
          <p:cNvSpPr/>
          <p:nvPr/>
        </p:nvSpPr>
        <p:spPr>
          <a:xfrm>
            <a:off x="6537960" y="4910328"/>
            <a:ext cx="146304" cy="146304"/>
          </a:xfrm>
          <a:prstGeom prst="ellipse">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67144" y="4837176"/>
            <a:ext cx="4800600" cy="658368"/>
          </a:xfrm>
          <a:prstGeom prst="rect">
            <a:avLst/>
          </a:prstGeom>
          <a:noFill/>
        </p:spPr>
        <p:txBody>
          <a:bodyPr wrap="square">
            <a:spAutoFit/>
          </a:bodyPr>
          <a:lstStyle/>
          <a:p>
            <a:pPr algn="l"/>
            <a:r>
              <a:rPr sz="1250" b="0" i="0">
                <a:solidFill>
                  <a:srgbClr val="1E2B26"/>
                </a:solidFill>
                <a:latin typeface="Segoe UI"/>
              </a:rPr>
              <a:t>Absence d'audit ESG indépendant</a:t>
            </a:r>
          </a:p>
        </p:txBody>
      </p:sp>
      <p:sp>
        <p:nvSpPr>
          <p:cNvPr id="32" name="TextBox 31"/>
          <p:cNvSpPr txBox="1"/>
          <p:nvPr/>
        </p:nvSpPr>
        <p:spPr>
          <a:xfrm>
            <a:off x="8778240" y="6537960"/>
            <a:ext cx="3200400" cy="274320"/>
          </a:xfrm>
          <a:prstGeom prst="rect">
            <a:avLst/>
          </a:prstGeom>
          <a:noFill/>
        </p:spPr>
        <p:txBody>
          <a:bodyPr wrap="square">
            <a:spAutoFit/>
          </a:bodyPr>
          <a:lstStyle/>
          <a:p>
            <a:pPr algn="r"/>
            <a:r>
              <a:rPr sz="800" b="0" i="0">
                <a:solidFill>
                  <a:srgbClr val="5F6B64"/>
                </a:solidFill>
                <a:latin typeface="Segoe UI"/>
              </a:rPr>
              <a:t>Acme Industries   |   21 / 28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201168" cy="201168"/>
          </a:xfrm>
          <a:prstGeom prst="rect">
            <a:avLst/>
          </a:prstGeom>
          <a:solidFill>
            <a:srgbClr val="1F3D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10789920" cy="685800"/>
          </a:xfrm>
          <a:prstGeom prst="rect">
            <a:avLst/>
          </a:prstGeom>
          <a:noFill/>
        </p:spPr>
        <p:txBody>
          <a:bodyPr wrap="square">
            <a:spAutoFit/>
          </a:bodyPr>
          <a:lstStyle/>
          <a:p>
            <a:pPr algn="l"/>
            <a:r>
              <a:rPr sz="1320" b="1" i="0">
                <a:solidFill>
                  <a:srgbClr val="1E2B26"/>
                </a:solidFill>
                <a:latin typeface="Georgia"/>
              </a:rPr>
              <a:t>Où se concentrent vos risques et vos leviers de valeur</a:t>
            </a:r>
          </a:p>
        </p:txBody>
      </p:sp>
      <p:sp>
        <p:nvSpPr>
          <p:cNvPr id="5" name="Rectangle 4"/>
          <p:cNvSpPr/>
          <p:nvPr/>
        </p:nvSpPr>
        <p:spPr>
          <a:xfrm>
            <a:off x="457200" y="1024128"/>
            <a:ext cx="2011680" cy="18288"/>
          </a:xfrm>
          <a:prstGeom prst="rect">
            <a:avLst/>
          </a:prstGeom>
          <a:solidFill>
            <a:srgbClr val="1E2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143000"/>
            <a:ext cx="5669280" cy="5257800"/>
          </a:xfrm>
          <a:prstGeom prst="rect">
            <a:avLst/>
          </a:prstGeom>
          <a:solidFill>
            <a:srgbClr val="E6E6DC"/>
          </a:solidFill>
          <a:ln w="1270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8640" y="1371600"/>
            <a:ext cx="566928" cy="566928"/>
          </a:xfrm>
          <a:prstGeom prst="ellipse">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408176"/>
            <a:ext cx="566928" cy="502920"/>
          </a:xfrm>
          <a:prstGeom prst="rect">
            <a:avLst/>
          </a:prstGeom>
          <a:noFill/>
        </p:spPr>
        <p:txBody>
          <a:bodyPr wrap="square">
            <a:spAutoFit/>
          </a:bodyPr>
          <a:lstStyle/>
          <a:p>
            <a:pPr algn="ctr"/>
            <a:r>
              <a:rPr sz="2600" b="1" i="0">
                <a:solidFill>
                  <a:srgbClr val="FFFFFF"/>
                </a:solidFill>
                <a:latin typeface="Georgia"/>
              </a:rPr>
              <a:t>!</a:t>
            </a:r>
          </a:p>
        </p:txBody>
      </p:sp>
      <p:sp>
        <p:nvSpPr>
          <p:cNvPr id="9" name="TextBox 8"/>
          <p:cNvSpPr txBox="1"/>
          <p:nvPr/>
        </p:nvSpPr>
        <p:spPr>
          <a:xfrm>
            <a:off x="1234440" y="1481328"/>
            <a:ext cx="4572000" cy="548640"/>
          </a:xfrm>
          <a:prstGeom prst="rect">
            <a:avLst/>
          </a:prstGeom>
          <a:noFill/>
        </p:spPr>
        <p:txBody>
          <a:bodyPr wrap="square">
            <a:spAutoFit/>
          </a:bodyPr>
          <a:lstStyle/>
          <a:p>
            <a:pPr algn="l"/>
            <a:r>
              <a:rPr sz="1600" b="1" i="0">
                <a:solidFill>
                  <a:srgbClr val="1E2B26"/>
                </a:solidFill>
                <a:latin typeface="Segoe UI"/>
              </a:rPr>
              <a:t>RISQUES MAJEURS</a:t>
            </a:r>
          </a:p>
        </p:txBody>
      </p:sp>
      <p:sp>
        <p:nvSpPr>
          <p:cNvPr id="10" name="Rectangle 9"/>
          <p:cNvSpPr/>
          <p:nvPr/>
        </p:nvSpPr>
        <p:spPr>
          <a:xfrm>
            <a:off x="548640" y="2194560"/>
            <a:ext cx="5120640" cy="18288"/>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468880"/>
            <a:ext cx="1161288" cy="27432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487168"/>
            <a:ext cx="1161288" cy="237744"/>
          </a:xfrm>
          <a:prstGeom prst="rect">
            <a:avLst/>
          </a:prstGeom>
          <a:noFill/>
        </p:spPr>
        <p:txBody>
          <a:bodyPr wrap="square">
            <a:spAutoFit/>
          </a:bodyPr>
          <a:lstStyle/>
          <a:p>
            <a:pPr algn="ctr"/>
            <a:r>
              <a:rPr sz="950" b="1" i="0">
                <a:solidFill>
                  <a:srgbClr val="FFFFFF"/>
                </a:solidFill>
                <a:latin typeface="Segoe UI"/>
              </a:rPr>
              <a:t>Fiabilité</a:t>
            </a:r>
          </a:p>
        </p:txBody>
      </p:sp>
      <p:sp>
        <p:nvSpPr>
          <p:cNvPr id="13" name="Oval 12"/>
          <p:cNvSpPr/>
          <p:nvPr/>
        </p:nvSpPr>
        <p:spPr>
          <a:xfrm>
            <a:off x="5257800" y="2468880"/>
            <a:ext cx="384048" cy="274320"/>
          </a:xfrm>
          <a:prstGeom prst="ellipse">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57800" y="2496312"/>
            <a:ext cx="384048" cy="219456"/>
          </a:xfrm>
          <a:prstGeom prst="rect">
            <a:avLst/>
          </a:prstGeom>
          <a:noFill/>
        </p:spPr>
        <p:txBody>
          <a:bodyPr wrap="square">
            <a:spAutoFit/>
          </a:bodyPr>
          <a:lstStyle/>
          <a:p>
            <a:pPr algn="ctr"/>
            <a:r>
              <a:rPr sz="950" b="1" i="0">
                <a:solidFill>
                  <a:srgbClr val="FFFFFF"/>
                </a:solidFill>
                <a:latin typeface="Segoe UI"/>
              </a:rPr>
              <a:t>P1</a:t>
            </a:r>
          </a:p>
        </p:txBody>
      </p:sp>
      <p:sp>
        <p:nvSpPr>
          <p:cNvPr id="15" name="TextBox 14"/>
          <p:cNvSpPr txBox="1"/>
          <p:nvPr/>
        </p:nvSpPr>
        <p:spPr>
          <a:xfrm>
            <a:off x="548640" y="2816352"/>
            <a:ext cx="5120640" cy="548640"/>
          </a:xfrm>
          <a:prstGeom prst="rect">
            <a:avLst/>
          </a:prstGeom>
          <a:noFill/>
        </p:spPr>
        <p:txBody>
          <a:bodyPr wrap="square">
            <a:spAutoFit/>
          </a:bodyPr>
          <a:lstStyle/>
          <a:p>
            <a:pPr algn="l"/>
            <a:r>
              <a:rPr sz="1250" b="0" i="0">
                <a:solidFill>
                  <a:srgbClr val="1E2B26"/>
                </a:solidFill>
                <a:latin typeface="Segoe UI"/>
              </a:rPr>
              <a:t>Reporting non audité : crédibilité limitée auprès des investisseurs</a:t>
            </a:r>
          </a:p>
        </p:txBody>
      </p:sp>
      <p:sp>
        <p:nvSpPr>
          <p:cNvPr id="16" name="Rounded Rectangle 15"/>
          <p:cNvSpPr/>
          <p:nvPr/>
        </p:nvSpPr>
        <p:spPr>
          <a:xfrm>
            <a:off x="548640" y="3429000"/>
            <a:ext cx="1261872" cy="27432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447288"/>
            <a:ext cx="1261872" cy="237744"/>
          </a:xfrm>
          <a:prstGeom prst="rect">
            <a:avLst/>
          </a:prstGeom>
          <a:noFill/>
        </p:spPr>
        <p:txBody>
          <a:bodyPr wrap="square">
            <a:spAutoFit/>
          </a:bodyPr>
          <a:lstStyle/>
          <a:p>
            <a:pPr algn="ctr"/>
            <a:r>
              <a:rPr sz="950" b="1" i="0">
                <a:solidFill>
                  <a:srgbClr val="FFFFFF"/>
                </a:solidFill>
                <a:latin typeface="Segoe UI"/>
              </a:rPr>
              <a:t>Transition</a:t>
            </a:r>
          </a:p>
        </p:txBody>
      </p:sp>
      <p:sp>
        <p:nvSpPr>
          <p:cNvPr id="18" name="Oval 17"/>
          <p:cNvSpPr/>
          <p:nvPr/>
        </p:nvSpPr>
        <p:spPr>
          <a:xfrm>
            <a:off x="5257800" y="3429000"/>
            <a:ext cx="384048" cy="274320"/>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57800" y="3456432"/>
            <a:ext cx="384048" cy="219456"/>
          </a:xfrm>
          <a:prstGeom prst="rect">
            <a:avLst/>
          </a:prstGeom>
          <a:noFill/>
        </p:spPr>
        <p:txBody>
          <a:bodyPr wrap="square">
            <a:spAutoFit/>
          </a:bodyPr>
          <a:lstStyle/>
          <a:p>
            <a:pPr algn="ctr"/>
            <a:r>
              <a:rPr sz="950" b="1" i="0">
                <a:solidFill>
                  <a:srgbClr val="FFFFFF"/>
                </a:solidFill>
                <a:latin typeface="Segoe UI"/>
              </a:rPr>
              <a:t>P2</a:t>
            </a:r>
          </a:p>
        </p:txBody>
      </p:sp>
      <p:sp>
        <p:nvSpPr>
          <p:cNvPr id="20" name="TextBox 19"/>
          <p:cNvSpPr txBox="1"/>
          <p:nvPr/>
        </p:nvSpPr>
        <p:spPr>
          <a:xfrm>
            <a:off x="548640" y="3776472"/>
            <a:ext cx="5120640" cy="548640"/>
          </a:xfrm>
          <a:prstGeom prst="rect">
            <a:avLst/>
          </a:prstGeom>
          <a:noFill/>
        </p:spPr>
        <p:txBody>
          <a:bodyPr wrap="square">
            <a:spAutoFit/>
          </a:bodyPr>
          <a:lstStyle/>
          <a:p>
            <a:pPr algn="l"/>
            <a:r>
              <a:rPr sz="1250" b="0" i="0">
                <a:solidFill>
                  <a:srgbClr val="1E2B26"/>
                </a:solidFill>
                <a:latin typeface="Segoe UI"/>
              </a:rPr>
              <a:t>Dépendance énergie fossile : exposition à la hausse des prix</a:t>
            </a:r>
          </a:p>
        </p:txBody>
      </p:sp>
      <p:sp>
        <p:nvSpPr>
          <p:cNvPr id="21" name="Rounded Rectangle 20"/>
          <p:cNvSpPr/>
          <p:nvPr/>
        </p:nvSpPr>
        <p:spPr>
          <a:xfrm>
            <a:off x="548640" y="4389120"/>
            <a:ext cx="859536" cy="27432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407408"/>
            <a:ext cx="859536" cy="237744"/>
          </a:xfrm>
          <a:prstGeom prst="rect">
            <a:avLst/>
          </a:prstGeom>
          <a:noFill/>
        </p:spPr>
        <p:txBody>
          <a:bodyPr wrap="square">
            <a:spAutoFit/>
          </a:bodyPr>
          <a:lstStyle/>
          <a:p>
            <a:pPr algn="ctr"/>
            <a:r>
              <a:rPr sz="950" b="1" i="0">
                <a:solidFill>
                  <a:srgbClr val="FFFFFF"/>
                </a:solidFill>
                <a:latin typeface="Segoe UI"/>
              </a:rPr>
              <a:t>Social</a:t>
            </a:r>
          </a:p>
        </p:txBody>
      </p:sp>
      <p:sp>
        <p:nvSpPr>
          <p:cNvPr id="23" name="Oval 22"/>
          <p:cNvSpPr/>
          <p:nvPr/>
        </p:nvSpPr>
        <p:spPr>
          <a:xfrm>
            <a:off x="5257800" y="4389120"/>
            <a:ext cx="384048" cy="274320"/>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57800" y="4416552"/>
            <a:ext cx="384048" cy="219456"/>
          </a:xfrm>
          <a:prstGeom prst="rect">
            <a:avLst/>
          </a:prstGeom>
          <a:noFill/>
        </p:spPr>
        <p:txBody>
          <a:bodyPr wrap="square">
            <a:spAutoFit/>
          </a:bodyPr>
          <a:lstStyle/>
          <a:p>
            <a:pPr algn="ctr"/>
            <a:r>
              <a:rPr sz="950" b="1" i="0">
                <a:solidFill>
                  <a:srgbClr val="FFFFFF"/>
                </a:solidFill>
                <a:latin typeface="Segoe UI"/>
              </a:rPr>
              <a:t>P2</a:t>
            </a:r>
          </a:p>
        </p:txBody>
      </p:sp>
      <p:sp>
        <p:nvSpPr>
          <p:cNvPr id="25" name="TextBox 24"/>
          <p:cNvSpPr txBox="1"/>
          <p:nvPr/>
        </p:nvSpPr>
        <p:spPr>
          <a:xfrm>
            <a:off x="548640" y="4736592"/>
            <a:ext cx="5120640" cy="548640"/>
          </a:xfrm>
          <a:prstGeom prst="rect">
            <a:avLst/>
          </a:prstGeom>
          <a:noFill/>
        </p:spPr>
        <p:txBody>
          <a:bodyPr wrap="square">
            <a:spAutoFit/>
          </a:bodyPr>
          <a:lstStyle/>
          <a:p>
            <a:pPr algn="l"/>
            <a:r>
              <a:rPr sz="1250" b="0" i="0">
                <a:solidFill>
                  <a:srgbClr val="1E2B26"/>
                </a:solidFill>
                <a:latin typeface="Segoe UI"/>
              </a:rPr>
              <a:t>Mixité de l'effectif déséquilibrée : risque d'attractivité employeur</a:t>
            </a:r>
          </a:p>
        </p:txBody>
      </p:sp>
      <p:sp>
        <p:nvSpPr>
          <p:cNvPr id="26" name="Rounded Rectangle 25"/>
          <p:cNvSpPr/>
          <p:nvPr/>
        </p:nvSpPr>
        <p:spPr>
          <a:xfrm>
            <a:off x="548640" y="5349240"/>
            <a:ext cx="1261872" cy="27432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367528"/>
            <a:ext cx="1261872" cy="237744"/>
          </a:xfrm>
          <a:prstGeom prst="rect">
            <a:avLst/>
          </a:prstGeom>
          <a:noFill/>
        </p:spPr>
        <p:txBody>
          <a:bodyPr wrap="square">
            <a:spAutoFit/>
          </a:bodyPr>
          <a:lstStyle/>
          <a:p>
            <a:pPr algn="ctr"/>
            <a:r>
              <a:rPr sz="950" b="1" i="0">
                <a:solidFill>
                  <a:srgbClr val="FFFFFF"/>
                </a:solidFill>
                <a:latin typeface="Segoe UI"/>
              </a:rPr>
              <a:t>Réputation</a:t>
            </a:r>
          </a:p>
        </p:txBody>
      </p:sp>
      <p:sp>
        <p:nvSpPr>
          <p:cNvPr id="28" name="Oval 27"/>
          <p:cNvSpPr/>
          <p:nvPr/>
        </p:nvSpPr>
        <p:spPr>
          <a:xfrm>
            <a:off x="5257800" y="5349240"/>
            <a:ext cx="384048" cy="274320"/>
          </a:xfrm>
          <a:prstGeom prst="ellipse">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57800" y="5376672"/>
            <a:ext cx="384048" cy="219456"/>
          </a:xfrm>
          <a:prstGeom prst="rect">
            <a:avLst/>
          </a:prstGeom>
          <a:noFill/>
        </p:spPr>
        <p:txBody>
          <a:bodyPr wrap="square">
            <a:spAutoFit/>
          </a:bodyPr>
          <a:lstStyle/>
          <a:p>
            <a:pPr algn="ctr"/>
            <a:r>
              <a:rPr sz="950" b="1" i="0">
                <a:solidFill>
                  <a:srgbClr val="FFFFFF"/>
                </a:solidFill>
                <a:latin typeface="Segoe UI"/>
              </a:rPr>
              <a:t>P2</a:t>
            </a:r>
          </a:p>
        </p:txBody>
      </p:sp>
      <p:sp>
        <p:nvSpPr>
          <p:cNvPr id="30" name="TextBox 29"/>
          <p:cNvSpPr txBox="1"/>
          <p:nvPr/>
        </p:nvSpPr>
        <p:spPr>
          <a:xfrm>
            <a:off x="548640" y="5696712"/>
            <a:ext cx="5120640" cy="548640"/>
          </a:xfrm>
          <a:prstGeom prst="rect">
            <a:avLst/>
          </a:prstGeom>
          <a:noFill/>
        </p:spPr>
        <p:txBody>
          <a:bodyPr wrap="square">
            <a:spAutoFit/>
          </a:bodyPr>
          <a:lstStyle/>
          <a:p>
            <a:pPr algn="l"/>
            <a:r>
              <a:rPr sz="1250" b="0" i="0">
                <a:solidFill>
                  <a:srgbClr val="1E2B26"/>
                </a:solidFill>
                <a:latin typeface="Segoe UI"/>
              </a:rPr>
              <a:t>Incident cyber déclaré : risque réputationnel et RGPD</a:t>
            </a:r>
          </a:p>
        </p:txBody>
      </p:sp>
      <p:sp>
        <p:nvSpPr>
          <p:cNvPr id="31" name="Rectangle 30"/>
          <p:cNvSpPr/>
          <p:nvPr/>
        </p:nvSpPr>
        <p:spPr>
          <a:xfrm>
            <a:off x="6245352" y="1143000"/>
            <a:ext cx="5669280" cy="5257800"/>
          </a:xfrm>
          <a:prstGeom prst="rect">
            <a:avLst/>
          </a:prstGeom>
          <a:solidFill>
            <a:srgbClr val="E6E6DC"/>
          </a:solidFill>
          <a:ln w="12700">
            <a:solidFill>
              <a:srgbClr val="2F6B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519672" y="1371600"/>
            <a:ext cx="566928" cy="566928"/>
          </a:xfrm>
          <a:prstGeom prst="ellipse">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19672" y="1408176"/>
            <a:ext cx="566928" cy="502920"/>
          </a:xfrm>
          <a:prstGeom prst="rect">
            <a:avLst/>
          </a:prstGeom>
          <a:noFill/>
        </p:spPr>
        <p:txBody>
          <a:bodyPr wrap="square">
            <a:spAutoFit/>
          </a:bodyPr>
          <a:lstStyle/>
          <a:p>
            <a:pPr algn="ctr"/>
            <a:r>
              <a:rPr sz="2600" b="1" i="0">
                <a:solidFill>
                  <a:srgbClr val="FFFFFF"/>
                </a:solidFill>
                <a:latin typeface="Georgia"/>
              </a:rPr>
              <a:t>+</a:t>
            </a:r>
          </a:p>
        </p:txBody>
      </p:sp>
      <p:sp>
        <p:nvSpPr>
          <p:cNvPr id="34" name="TextBox 33"/>
          <p:cNvSpPr txBox="1"/>
          <p:nvPr/>
        </p:nvSpPr>
        <p:spPr>
          <a:xfrm>
            <a:off x="7205472" y="1481328"/>
            <a:ext cx="4572000" cy="548640"/>
          </a:xfrm>
          <a:prstGeom prst="rect">
            <a:avLst/>
          </a:prstGeom>
          <a:noFill/>
        </p:spPr>
        <p:txBody>
          <a:bodyPr wrap="square">
            <a:spAutoFit/>
          </a:bodyPr>
          <a:lstStyle/>
          <a:p>
            <a:pPr algn="l"/>
            <a:r>
              <a:rPr sz="1600" b="1" i="0">
                <a:solidFill>
                  <a:srgbClr val="1E2B26"/>
                </a:solidFill>
                <a:latin typeface="Segoe UI"/>
              </a:rPr>
              <a:t>OPPORTUNITÉS MAJEURES</a:t>
            </a:r>
          </a:p>
        </p:txBody>
      </p:sp>
      <p:sp>
        <p:nvSpPr>
          <p:cNvPr id="35" name="Rectangle 34"/>
          <p:cNvSpPr/>
          <p:nvPr/>
        </p:nvSpPr>
        <p:spPr>
          <a:xfrm>
            <a:off x="6519672" y="2194560"/>
            <a:ext cx="5120640" cy="18288"/>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519672" y="2468880"/>
            <a:ext cx="1362456" cy="274320"/>
          </a:xfrm>
          <a:prstGeom prst="round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19672" y="2487168"/>
            <a:ext cx="1362456" cy="237744"/>
          </a:xfrm>
          <a:prstGeom prst="rect">
            <a:avLst/>
          </a:prstGeom>
          <a:noFill/>
        </p:spPr>
        <p:txBody>
          <a:bodyPr wrap="square">
            <a:spAutoFit/>
          </a:bodyPr>
          <a:lstStyle/>
          <a:p>
            <a:pPr algn="ctr"/>
            <a:r>
              <a:rPr sz="950" b="1" i="0">
                <a:solidFill>
                  <a:srgbClr val="FFFFFF"/>
                </a:solidFill>
                <a:latin typeface="Segoe UI"/>
              </a:rPr>
              <a:t>Financement</a:t>
            </a:r>
          </a:p>
        </p:txBody>
      </p:sp>
      <p:sp>
        <p:nvSpPr>
          <p:cNvPr id="38" name="TextBox 37"/>
          <p:cNvSpPr txBox="1"/>
          <p:nvPr/>
        </p:nvSpPr>
        <p:spPr>
          <a:xfrm>
            <a:off x="6519672" y="2816352"/>
            <a:ext cx="5120640" cy="548640"/>
          </a:xfrm>
          <a:prstGeom prst="rect">
            <a:avLst/>
          </a:prstGeom>
          <a:noFill/>
        </p:spPr>
        <p:txBody>
          <a:bodyPr wrap="square">
            <a:spAutoFit/>
          </a:bodyPr>
          <a:lstStyle/>
          <a:p>
            <a:pPr algn="l"/>
            <a:r>
              <a:rPr sz="1250" b="0" i="0">
                <a:solidFill>
                  <a:srgbClr val="1E2B26"/>
                </a:solidFill>
                <a:latin typeface="Segoe UI"/>
              </a:rPr>
              <a:t>Gouvernance solide : accès facilité aux financements ESG (green bonds, prêts indexés)</a:t>
            </a:r>
          </a:p>
        </p:txBody>
      </p:sp>
      <p:sp>
        <p:nvSpPr>
          <p:cNvPr id="39" name="Rounded Rectangle 38"/>
          <p:cNvSpPr/>
          <p:nvPr/>
        </p:nvSpPr>
        <p:spPr>
          <a:xfrm>
            <a:off x="6519672" y="3429000"/>
            <a:ext cx="1362456" cy="274320"/>
          </a:xfrm>
          <a:prstGeom prst="round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19672" y="3447288"/>
            <a:ext cx="1362456" cy="237744"/>
          </a:xfrm>
          <a:prstGeom prst="rect">
            <a:avLst/>
          </a:prstGeom>
          <a:noFill/>
        </p:spPr>
        <p:txBody>
          <a:bodyPr wrap="square">
            <a:spAutoFit/>
          </a:bodyPr>
          <a:lstStyle/>
          <a:p>
            <a:pPr algn="ctr"/>
            <a:r>
              <a:rPr sz="950" b="1" i="0">
                <a:solidFill>
                  <a:srgbClr val="FFFFFF"/>
                </a:solidFill>
                <a:latin typeface="Segoe UI"/>
              </a:rPr>
              <a:t>Financement</a:t>
            </a:r>
          </a:p>
        </p:txBody>
      </p:sp>
      <p:sp>
        <p:nvSpPr>
          <p:cNvPr id="41" name="TextBox 40"/>
          <p:cNvSpPr txBox="1"/>
          <p:nvPr/>
        </p:nvSpPr>
        <p:spPr>
          <a:xfrm>
            <a:off x="6519672" y="3776472"/>
            <a:ext cx="5120640" cy="548640"/>
          </a:xfrm>
          <a:prstGeom prst="rect">
            <a:avLst/>
          </a:prstGeom>
          <a:noFill/>
        </p:spPr>
        <p:txBody>
          <a:bodyPr wrap="square">
            <a:spAutoFit/>
          </a:bodyPr>
          <a:lstStyle/>
          <a:p>
            <a:pPr algn="l"/>
            <a:r>
              <a:rPr sz="1250" b="0" i="0">
                <a:solidFill>
                  <a:srgbClr val="1E2B26"/>
                </a:solidFill>
                <a:latin typeface="Segoe UI"/>
              </a:rPr>
              <a:t>Activités alignées Taxonomie : éligibilité aux financements verts</a:t>
            </a:r>
          </a:p>
        </p:txBody>
      </p:sp>
      <p:sp>
        <p:nvSpPr>
          <p:cNvPr id="42" name="Rounded Rectangle 41"/>
          <p:cNvSpPr/>
          <p:nvPr/>
        </p:nvSpPr>
        <p:spPr>
          <a:xfrm>
            <a:off x="6519672" y="4389120"/>
            <a:ext cx="758952" cy="274320"/>
          </a:xfrm>
          <a:prstGeom prst="round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19672" y="4407408"/>
            <a:ext cx="758952" cy="237744"/>
          </a:xfrm>
          <a:prstGeom prst="rect">
            <a:avLst/>
          </a:prstGeom>
          <a:noFill/>
        </p:spPr>
        <p:txBody>
          <a:bodyPr wrap="square">
            <a:spAutoFit/>
          </a:bodyPr>
          <a:lstStyle/>
          <a:p>
            <a:pPr algn="ctr"/>
            <a:r>
              <a:rPr sz="950" b="1" i="0">
                <a:solidFill>
                  <a:srgbClr val="FFFFFF"/>
                </a:solidFill>
                <a:latin typeface="Segoe UI"/>
              </a:rPr>
              <a:t>Coûts</a:t>
            </a:r>
          </a:p>
        </p:txBody>
      </p:sp>
      <p:sp>
        <p:nvSpPr>
          <p:cNvPr id="44" name="TextBox 43"/>
          <p:cNvSpPr txBox="1"/>
          <p:nvPr/>
        </p:nvSpPr>
        <p:spPr>
          <a:xfrm>
            <a:off x="6519672" y="4736592"/>
            <a:ext cx="5120640" cy="548640"/>
          </a:xfrm>
          <a:prstGeom prst="rect">
            <a:avLst/>
          </a:prstGeom>
          <a:noFill/>
        </p:spPr>
        <p:txBody>
          <a:bodyPr wrap="square">
            <a:spAutoFit/>
          </a:bodyPr>
          <a:lstStyle/>
          <a:p>
            <a:pPr algn="l"/>
            <a:r>
              <a:rPr sz="1250" b="0" i="0">
                <a:solidFill>
                  <a:srgbClr val="1E2B26"/>
                </a:solidFill>
                <a:latin typeface="Segoe UI"/>
              </a:rPr>
              <a:t>Mix renouvelable engagé : réduction des coûts énergétiques à terme</a:t>
            </a:r>
          </a:p>
        </p:txBody>
      </p:sp>
      <p:sp>
        <p:nvSpPr>
          <p:cNvPr id="45" name="Rounded Rectangle 44"/>
          <p:cNvSpPr/>
          <p:nvPr/>
        </p:nvSpPr>
        <p:spPr>
          <a:xfrm>
            <a:off x="6519672" y="5349240"/>
            <a:ext cx="960120" cy="274320"/>
          </a:xfrm>
          <a:prstGeom prst="round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19672" y="5367528"/>
            <a:ext cx="960120" cy="237744"/>
          </a:xfrm>
          <a:prstGeom prst="rect">
            <a:avLst/>
          </a:prstGeom>
          <a:noFill/>
        </p:spPr>
        <p:txBody>
          <a:bodyPr wrap="square">
            <a:spAutoFit/>
          </a:bodyPr>
          <a:lstStyle/>
          <a:p>
            <a:pPr algn="ctr"/>
            <a:r>
              <a:rPr sz="950" b="1" i="0">
                <a:solidFill>
                  <a:srgbClr val="FFFFFF"/>
                </a:solidFill>
                <a:latin typeface="Segoe UI"/>
              </a:rPr>
              <a:t>Talents</a:t>
            </a:r>
          </a:p>
        </p:txBody>
      </p:sp>
      <p:sp>
        <p:nvSpPr>
          <p:cNvPr id="47" name="TextBox 46"/>
          <p:cNvSpPr txBox="1"/>
          <p:nvPr/>
        </p:nvSpPr>
        <p:spPr>
          <a:xfrm>
            <a:off x="6519672" y="5696712"/>
            <a:ext cx="5120640" cy="548640"/>
          </a:xfrm>
          <a:prstGeom prst="rect">
            <a:avLst/>
          </a:prstGeom>
          <a:noFill/>
        </p:spPr>
        <p:txBody>
          <a:bodyPr wrap="square">
            <a:spAutoFit/>
          </a:bodyPr>
          <a:lstStyle/>
          <a:p>
            <a:pPr algn="l"/>
            <a:r>
              <a:rPr sz="1250" b="0" i="0">
                <a:solidFill>
                  <a:srgbClr val="1E2B26"/>
                </a:solidFill>
                <a:latin typeface="Segoe UI"/>
              </a:rPr>
              <a:t>Politique sociale : marque employeur et rétention des talents renforcées</a:t>
            </a:r>
          </a:p>
        </p:txBody>
      </p:sp>
      <p:sp>
        <p:nvSpPr>
          <p:cNvPr id="48" name="TextBox 47"/>
          <p:cNvSpPr txBox="1"/>
          <p:nvPr/>
        </p:nvSpPr>
        <p:spPr>
          <a:xfrm>
            <a:off x="8778240" y="6537960"/>
            <a:ext cx="3200400" cy="274320"/>
          </a:xfrm>
          <a:prstGeom prst="rect">
            <a:avLst/>
          </a:prstGeom>
          <a:noFill/>
        </p:spPr>
        <p:txBody>
          <a:bodyPr wrap="square">
            <a:spAutoFit/>
          </a:bodyPr>
          <a:lstStyle/>
          <a:p>
            <a:pPr algn="r"/>
            <a:r>
              <a:rPr sz="800" b="0" i="0">
                <a:solidFill>
                  <a:srgbClr val="5F6B64"/>
                </a:solidFill>
                <a:latin typeface="Segoe UI"/>
              </a:rPr>
              <a:t>Acme Industries   |   22 / 28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3D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51560"/>
            <a:ext cx="5486400" cy="2926080"/>
          </a:xfrm>
          <a:prstGeom prst="rect">
            <a:avLst/>
          </a:prstGeom>
          <a:noFill/>
        </p:spPr>
        <p:txBody>
          <a:bodyPr wrap="square">
            <a:spAutoFit/>
          </a:bodyPr>
          <a:lstStyle/>
          <a:p>
            <a:pPr algn="l"/>
            <a:r>
              <a:rPr sz="20000" b="1" i="0">
                <a:solidFill>
                  <a:srgbClr val="E6E6DC"/>
                </a:solidFill>
                <a:latin typeface="Georgia"/>
              </a:rPr>
              <a:t>02</a:t>
            </a:r>
          </a:p>
        </p:txBody>
      </p:sp>
      <p:sp>
        <p:nvSpPr>
          <p:cNvPr id="5" name="TextBox 4"/>
          <p:cNvSpPr txBox="1"/>
          <p:nvPr/>
        </p:nvSpPr>
        <p:spPr>
          <a:xfrm>
            <a:off x="640080" y="4160520"/>
            <a:ext cx="10881360" cy="1463040"/>
          </a:xfrm>
          <a:prstGeom prst="rect">
            <a:avLst/>
          </a:prstGeom>
          <a:noFill/>
        </p:spPr>
        <p:txBody>
          <a:bodyPr wrap="square">
            <a:spAutoFit/>
          </a:bodyPr>
          <a:lstStyle/>
          <a:p>
            <a:pPr algn="l"/>
            <a:r>
              <a:rPr sz="4000" b="1" i="0">
                <a:solidFill>
                  <a:srgbClr val="F3F0E8"/>
                </a:solidFill>
                <a:latin typeface="Georgia"/>
              </a:rPr>
              <a:t>PLAN D'ACTION</a:t>
            </a:r>
          </a:p>
        </p:txBody>
      </p:sp>
      <p:sp>
        <p:nvSpPr>
          <p:cNvPr id="6" name="Rectangle 5"/>
          <p:cNvSpPr/>
          <p:nvPr/>
        </p:nvSpPr>
        <p:spPr>
          <a:xfrm>
            <a:off x="685800" y="3977639"/>
            <a:ext cx="2011680" cy="73152"/>
          </a:xfrm>
          <a:prstGeom prst="rect">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5532120"/>
            <a:ext cx="10515600" cy="822960"/>
          </a:xfrm>
          <a:prstGeom prst="rect">
            <a:avLst/>
          </a:prstGeom>
          <a:noFill/>
        </p:spPr>
        <p:txBody>
          <a:bodyPr wrap="square">
            <a:spAutoFit/>
          </a:bodyPr>
          <a:lstStyle/>
          <a:p>
            <a:pPr algn="l"/>
            <a:r>
              <a:rPr sz="1600" b="0" i="1">
                <a:solidFill>
                  <a:srgbClr val="C9D8C5"/>
                </a:solidFill>
                <a:latin typeface="Segoe UI"/>
              </a:rPr>
              <a:t>Quoi faire, dans quel ordre, sous quel horizon.</a:t>
            </a:r>
          </a:p>
        </p:txBody>
      </p:sp>
      <p:sp>
        <p:nvSpPr>
          <p:cNvPr id="8" name="TextBox 7"/>
          <p:cNvSpPr txBox="1"/>
          <p:nvPr/>
        </p:nvSpPr>
        <p:spPr>
          <a:xfrm>
            <a:off x="8778240" y="6537960"/>
            <a:ext cx="3200400" cy="274320"/>
          </a:xfrm>
          <a:prstGeom prst="rect">
            <a:avLst/>
          </a:prstGeom>
          <a:noFill/>
        </p:spPr>
        <p:txBody>
          <a:bodyPr wrap="square">
            <a:spAutoFit/>
          </a:bodyPr>
          <a:lstStyle/>
          <a:p>
            <a:pPr algn="r"/>
            <a:r>
              <a:rPr sz="800" b="0" i="0">
                <a:solidFill>
                  <a:srgbClr val="5F6B64"/>
                </a:solidFill>
                <a:latin typeface="Segoe UI"/>
              </a:rPr>
              <a:t>Acme Industries   |   23 / 28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201168" cy="201168"/>
          </a:xfrm>
          <a:prstGeom prst="rect">
            <a:avLst/>
          </a:prstGeom>
          <a:solidFill>
            <a:srgbClr val="1F3D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10789920" cy="685800"/>
          </a:xfrm>
          <a:prstGeom prst="rect">
            <a:avLst/>
          </a:prstGeom>
          <a:noFill/>
        </p:spPr>
        <p:txBody>
          <a:bodyPr wrap="square">
            <a:spAutoFit/>
          </a:bodyPr>
          <a:lstStyle/>
          <a:p>
            <a:pPr algn="l"/>
            <a:r>
              <a:rPr sz="1560" b="1" i="0">
                <a:solidFill>
                  <a:srgbClr val="1E2B26"/>
                </a:solidFill>
                <a:latin typeface="Georgia"/>
              </a:rPr>
              <a:t>Par où commencer : l'effort au regard de l'impact</a:t>
            </a:r>
          </a:p>
        </p:txBody>
      </p:sp>
      <p:sp>
        <p:nvSpPr>
          <p:cNvPr id="5" name="Rectangle 4"/>
          <p:cNvSpPr/>
          <p:nvPr/>
        </p:nvSpPr>
        <p:spPr>
          <a:xfrm>
            <a:off x="457200" y="1024128"/>
            <a:ext cx="2011680" cy="18288"/>
          </a:xfrm>
          <a:prstGeom prst="rect">
            <a:avLst/>
          </a:prstGeom>
          <a:solidFill>
            <a:srgbClr val="1E2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png"/>
          <p:cNvPicPr>
            <a:picLocks noChangeAspect="1"/>
          </p:cNvPicPr>
          <p:nvPr/>
        </p:nvPicPr>
        <p:blipFill>
          <a:blip r:embed="rId2"/>
          <a:stretch>
            <a:fillRect/>
          </a:stretch>
        </p:blipFill>
        <p:spPr>
          <a:xfrm>
            <a:off x="320040" y="1463040"/>
            <a:ext cx="8412480" cy="5163522"/>
          </a:xfrm>
          <a:prstGeom prst="rect">
            <a:avLst/>
          </a:prstGeom>
        </p:spPr>
      </p:pic>
      <p:sp>
        <p:nvSpPr>
          <p:cNvPr id="7" name="Rounded Rectangle 6"/>
          <p:cNvSpPr/>
          <p:nvPr/>
        </p:nvSpPr>
        <p:spPr>
          <a:xfrm>
            <a:off x="8915400" y="1600200"/>
            <a:ext cx="2971800" cy="4206240"/>
          </a:xfrm>
          <a:prstGeom prst="roundRect">
            <a:avLst/>
          </a:prstGeom>
          <a:solidFill>
            <a:srgbClr val="E6E6DC"/>
          </a:solidFill>
          <a:ln w="15875">
            <a:solidFill>
              <a:srgbClr val="2E5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915400" y="1600200"/>
            <a:ext cx="82296" cy="4206240"/>
          </a:xfrm>
          <a:prstGeom prst="rect">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71432" y="1783080"/>
            <a:ext cx="2514600" cy="320040"/>
          </a:xfrm>
          <a:prstGeom prst="rect">
            <a:avLst/>
          </a:prstGeom>
          <a:noFill/>
        </p:spPr>
        <p:txBody>
          <a:bodyPr wrap="square">
            <a:spAutoFit/>
          </a:bodyPr>
          <a:lstStyle/>
          <a:p>
            <a:pPr algn="l"/>
            <a:r>
              <a:rPr sz="1200" b="1" i="0">
                <a:solidFill>
                  <a:srgbClr val="2E5A4B"/>
                </a:solidFill>
                <a:latin typeface="Segoe UI"/>
              </a:rPr>
              <a:t>LECTURE MÉTIER</a:t>
            </a:r>
          </a:p>
        </p:txBody>
      </p:sp>
      <p:sp>
        <p:nvSpPr>
          <p:cNvPr id="10" name="TextBox 9"/>
          <p:cNvSpPr txBox="1"/>
          <p:nvPr/>
        </p:nvSpPr>
        <p:spPr>
          <a:xfrm>
            <a:off x="9171432" y="2194560"/>
            <a:ext cx="2514600" cy="3474720"/>
          </a:xfrm>
          <a:prstGeom prst="rect">
            <a:avLst/>
          </a:prstGeom>
          <a:noFill/>
        </p:spPr>
        <p:txBody>
          <a:bodyPr wrap="square">
            <a:spAutoFit/>
          </a:bodyPr>
          <a:lstStyle/>
          <a:p>
            <a:pPr algn="l"/>
            <a:r>
              <a:rPr sz="1300" b="0" i="0">
                <a:solidFill>
                  <a:srgbClr val="1E2B26"/>
                </a:solidFill>
                <a:latin typeface="Segoe UI"/>
              </a:rPr>
              <a:t>Trois actions combinent fort impact et effort limité — les actions 2, 3 et 4 — et peuvent être lancées immédiatement à moyens constants. Le chantier structurant du quadrant haut-droit justifie un budget et un responsable dédiés : il porte l'essentiel du potentiel de progression du score.</a:t>
            </a:r>
          </a:p>
        </p:txBody>
      </p:sp>
      <p:sp>
        <p:nvSpPr>
          <p:cNvPr id="11" name="TextBox 10"/>
          <p:cNvSpPr txBox="1"/>
          <p:nvPr/>
        </p:nvSpPr>
        <p:spPr>
          <a:xfrm>
            <a:off x="8778240" y="6537960"/>
            <a:ext cx="3200400" cy="274320"/>
          </a:xfrm>
          <a:prstGeom prst="rect">
            <a:avLst/>
          </a:prstGeom>
          <a:noFill/>
        </p:spPr>
        <p:txBody>
          <a:bodyPr wrap="square">
            <a:spAutoFit/>
          </a:bodyPr>
          <a:lstStyle/>
          <a:p>
            <a:pPr algn="r"/>
            <a:r>
              <a:rPr sz="800" b="0" i="0">
                <a:solidFill>
                  <a:srgbClr val="5F6B64"/>
                </a:solidFill>
                <a:latin typeface="Segoe UI"/>
              </a:rPr>
              <a:t>Acme Industries   |   24 / 28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201168" cy="201168"/>
          </a:xfrm>
          <a:prstGeom prst="rect">
            <a:avLst/>
          </a:prstGeom>
          <a:solidFill>
            <a:srgbClr val="1F3D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10789920" cy="685800"/>
          </a:xfrm>
          <a:prstGeom prst="rect">
            <a:avLst/>
          </a:prstGeom>
          <a:noFill/>
        </p:spPr>
        <p:txBody>
          <a:bodyPr wrap="square">
            <a:spAutoFit/>
          </a:bodyPr>
          <a:lstStyle/>
          <a:p>
            <a:pPr algn="l"/>
            <a:r>
              <a:rPr sz="2000" b="1" i="0">
                <a:solidFill>
                  <a:srgbClr val="1E2B26"/>
                </a:solidFill>
                <a:latin typeface="Georgia"/>
              </a:rPr>
              <a:t>Recommandations Prioritaires</a:t>
            </a:r>
          </a:p>
        </p:txBody>
      </p:sp>
      <p:sp>
        <p:nvSpPr>
          <p:cNvPr id="5" name="Rectangle 4"/>
          <p:cNvSpPr/>
          <p:nvPr/>
        </p:nvSpPr>
        <p:spPr>
          <a:xfrm>
            <a:off x="457200" y="1024128"/>
            <a:ext cx="2011680" cy="18288"/>
          </a:xfrm>
          <a:prstGeom prst="rect">
            <a:avLst/>
          </a:prstGeom>
          <a:solidFill>
            <a:srgbClr val="1E2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11064240" cy="457200"/>
          </a:xfrm>
          <a:prstGeom prst="rect">
            <a:avLst/>
          </a:prstGeom>
          <a:noFill/>
        </p:spPr>
        <p:txBody>
          <a:bodyPr wrap="square">
            <a:spAutoFit/>
          </a:bodyPr>
          <a:lstStyle/>
          <a:p>
            <a:pPr algn="l"/>
            <a:r>
              <a:rPr sz="1300" b="0" i="0">
                <a:solidFill>
                  <a:srgbClr val="5F6B64"/>
                </a:solidFill>
                <a:latin typeface="Segoe UI"/>
              </a:rPr>
              <a:t>Plan d'action priorisé — chaque levier, son bénéfice attendu et son horizon de mise en œuvre.</a:t>
            </a:r>
          </a:p>
        </p:txBody>
      </p:sp>
      <p:sp>
        <p:nvSpPr>
          <p:cNvPr id="7" name="Rectangle 6"/>
          <p:cNvSpPr/>
          <p:nvPr/>
        </p:nvSpPr>
        <p:spPr>
          <a:xfrm>
            <a:off x="548640" y="1783080"/>
            <a:ext cx="11064240" cy="932688"/>
          </a:xfrm>
          <a:prstGeom prst="rect">
            <a:avLst/>
          </a:prstGeom>
          <a:solidFill>
            <a:srgbClr val="E6E6DC"/>
          </a:solidFill>
          <a:ln w="15875">
            <a:solidFill>
              <a:srgbClr val="2F6B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002536"/>
            <a:ext cx="502920" cy="502920"/>
          </a:xfrm>
          <a:prstGeom prst="ellipse">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057400"/>
            <a:ext cx="502920" cy="411480"/>
          </a:xfrm>
          <a:prstGeom prst="rect">
            <a:avLst/>
          </a:prstGeom>
          <a:noFill/>
        </p:spPr>
        <p:txBody>
          <a:bodyPr wrap="square">
            <a:spAutoFit/>
          </a:bodyPr>
          <a:lstStyle/>
          <a:p>
            <a:pPr algn="ctr"/>
            <a:r>
              <a:rPr sz="1800" b="1" i="0">
                <a:solidFill>
                  <a:srgbClr val="FFFFFF"/>
                </a:solidFill>
                <a:latin typeface="Georgia"/>
              </a:rPr>
              <a:t>1</a:t>
            </a:r>
          </a:p>
        </p:txBody>
      </p:sp>
      <p:sp>
        <p:nvSpPr>
          <p:cNvPr id="10" name="TextBox 9"/>
          <p:cNvSpPr txBox="1"/>
          <p:nvPr/>
        </p:nvSpPr>
        <p:spPr>
          <a:xfrm>
            <a:off x="1508760" y="1892808"/>
            <a:ext cx="7955279" cy="411480"/>
          </a:xfrm>
          <a:prstGeom prst="rect">
            <a:avLst/>
          </a:prstGeom>
          <a:noFill/>
        </p:spPr>
        <p:txBody>
          <a:bodyPr wrap="square">
            <a:spAutoFit/>
          </a:bodyPr>
          <a:lstStyle/>
          <a:p>
            <a:pPr algn="l"/>
            <a:r>
              <a:rPr sz="1500" b="1" i="0">
                <a:solidFill>
                  <a:srgbClr val="1E2B26"/>
                </a:solidFill>
                <a:latin typeface="Georgia"/>
              </a:rPr>
              <a:t>Atteindre la cible de 60 % d'énergie renouvelable fixée pour 2030</a:t>
            </a:r>
          </a:p>
        </p:txBody>
      </p:sp>
      <p:sp>
        <p:nvSpPr>
          <p:cNvPr id="11" name="TextBox 10"/>
          <p:cNvSpPr txBox="1"/>
          <p:nvPr/>
        </p:nvSpPr>
        <p:spPr>
          <a:xfrm>
            <a:off x="1508760" y="2286000"/>
            <a:ext cx="8412480" cy="457200"/>
          </a:xfrm>
          <a:prstGeom prst="rect">
            <a:avLst/>
          </a:prstGeom>
          <a:noFill/>
        </p:spPr>
        <p:txBody>
          <a:bodyPr wrap="square">
            <a:spAutoFit/>
          </a:bodyPr>
          <a:lstStyle/>
          <a:p>
            <a:pPr algn="l"/>
            <a:r>
              <a:rPr sz="1100" b="0" i="0">
                <a:solidFill>
                  <a:srgbClr val="5F6B64"/>
                </a:solidFill>
                <a:latin typeface="Segoe UI"/>
              </a:rPr>
              <a:t>Réduit les émissions Scope 2 et l'exposition aux prix de l'énergie ; premier levier d'une trajectoire de réduction.  —  Direction des opérations</a:t>
            </a:r>
          </a:p>
        </p:txBody>
      </p:sp>
      <p:sp>
        <p:nvSpPr>
          <p:cNvPr id="12" name="Rounded Rectangle 11"/>
          <p:cNvSpPr/>
          <p:nvPr/>
        </p:nvSpPr>
        <p:spPr>
          <a:xfrm>
            <a:off x="9829800" y="2039112"/>
            <a:ext cx="1554480" cy="420624"/>
          </a:xfrm>
          <a:prstGeom prst="round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29800" y="2103120"/>
            <a:ext cx="1554480" cy="320040"/>
          </a:xfrm>
          <a:prstGeom prst="rect">
            <a:avLst/>
          </a:prstGeom>
          <a:noFill/>
        </p:spPr>
        <p:txBody>
          <a:bodyPr wrap="square">
            <a:spAutoFit/>
          </a:bodyPr>
          <a:lstStyle/>
          <a:p>
            <a:pPr algn="ctr"/>
            <a:r>
              <a:rPr sz="1100" b="1" i="0">
                <a:solidFill>
                  <a:srgbClr val="FFFFFF"/>
                </a:solidFill>
                <a:latin typeface="Segoe UI"/>
              </a:rPr>
              <a:t>2027</a:t>
            </a:r>
          </a:p>
        </p:txBody>
      </p:sp>
      <p:sp>
        <p:nvSpPr>
          <p:cNvPr id="14" name="Rectangle 13"/>
          <p:cNvSpPr/>
          <p:nvPr/>
        </p:nvSpPr>
        <p:spPr>
          <a:xfrm>
            <a:off x="548640" y="2843784"/>
            <a:ext cx="11064240" cy="932688"/>
          </a:xfrm>
          <a:prstGeom prst="rect">
            <a:avLst/>
          </a:prstGeom>
          <a:solidFill>
            <a:srgbClr val="E6E6DC"/>
          </a:solidFill>
          <a:ln w="15875">
            <a:solidFill>
              <a:srgbClr val="3D6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77240" y="3063240"/>
            <a:ext cx="502920" cy="502920"/>
          </a:xfrm>
          <a:prstGeom prst="ellipse">
            <a:avLst/>
          </a:prstGeom>
          <a:solidFill>
            <a:srgbClr val="3D6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118104"/>
            <a:ext cx="502920" cy="411480"/>
          </a:xfrm>
          <a:prstGeom prst="rect">
            <a:avLst/>
          </a:prstGeom>
          <a:noFill/>
        </p:spPr>
        <p:txBody>
          <a:bodyPr wrap="square">
            <a:spAutoFit/>
          </a:bodyPr>
          <a:lstStyle/>
          <a:p>
            <a:pPr algn="ctr"/>
            <a:r>
              <a:rPr sz="1800" b="1" i="0">
                <a:solidFill>
                  <a:srgbClr val="FFFFFF"/>
                </a:solidFill>
                <a:latin typeface="Georgia"/>
              </a:rPr>
              <a:t>2</a:t>
            </a:r>
          </a:p>
        </p:txBody>
      </p:sp>
      <p:sp>
        <p:nvSpPr>
          <p:cNvPr id="17" name="TextBox 16"/>
          <p:cNvSpPr txBox="1"/>
          <p:nvPr/>
        </p:nvSpPr>
        <p:spPr>
          <a:xfrm>
            <a:off x="1508760" y="2953512"/>
            <a:ext cx="7955279" cy="411480"/>
          </a:xfrm>
          <a:prstGeom prst="rect">
            <a:avLst/>
          </a:prstGeom>
          <a:noFill/>
        </p:spPr>
        <p:txBody>
          <a:bodyPr wrap="square">
            <a:spAutoFit/>
          </a:bodyPr>
          <a:lstStyle/>
          <a:p>
            <a:pPr algn="l"/>
            <a:r>
              <a:rPr sz="1500" b="1" i="0">
                <a:solidFill>
                  <a:srgbClr val="1E2B26"/>
                </a:solidFill>
                <a:latin typeface="Georgia"/>
              </a:rPr>
              <a:t>Définir des objectifs chiffrés de parité femme-homme</a:t>
            </a:r>
          </a:p>
        </p:txBody>
      </p:sp>
      <p:sp>
        <p:nvSpPr>
          <p:cNvPr id="18" name="TextBox 17"/>
          <p:cNvSpPr txBox="1"/>
          <p:nvPr/>
        </p:nvSpPr>
        <p:spPr>
          <a:xfrm>
            <a:off x="1508760" y="3346704"/>
            <a:ext cx="8412480" cy="457200"/>
          </a:xfrm>
          <a:prstGeom prst="rect">
            <a:avLst/>
          </a:prstGeom>
          <a:noFill/>
        </p:spPr>
        <p:txBody>
          <a:bodyPr wrap="square">
            <a:spAutoFit/>
          </a:bodyPr>
          <a:lstStyle/>
          <a:p>
            <a:pPr algn="l"/>
            <a:r>
              <a:rPr sz="1100" b="0" i="0">
                <a:solidFill>
                  <a:srgbClr val="5F6B64"/>
                </a:solidFill>
                <a:latin typeface="Segoe UI"/>
              </a:rPr>
              <a:t>Renforce la diversité des équipes et l'attractivité employeur ; améliore la fidélisation des talents.  —  Direction des ressources humaines</a:t>
            </a:r>
          </a:p>
        </p:txBody>
      </p:sp>
      <p:sp>
        <p:nvSpPr>
          <p:cNvPr id="19" name="Rounded Rectangle 18"/>
          <p:cNvSpPr/>
          <p:nvPr/>
        </p:nvSpPr>
        <p:spPr>
          <a:xfrm>
            <a:off x="9829800" y="3099816"/>
            <a:ext cx="1554480" cy="420624"/>
          </a:xfrm>
          <a:prstGeom prst="roundRect">
            <a:avLst/>
          </a:prstGeom>
          <a:solidFill>
            <a:srgbClr val="3D6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29800" y="3163824"/>
            <a:ext cx="1554480" cy="320040"/>
          </a:xfrm>
          <a:prstGeom prst="rect">
            <a:avLst/>
          </a:prstGeom>
          <a:noFill/>
        </p:spPr>
        <p:txBody>
          <a:bodyPr wrap="square">
            <a:spAutoFit/>
          </a:bodyPr>
          <a:lstStyle/>
          <a:p>
            <a:pPr algn="ctr"/>
            <a:r>
              <a:rPr sz="1100" b="1" i="0">
                <a:solidFill>
                  <a:srgbClr val="FFFFFF"/>
                </a:solidFill>
                <a:latin typeface="Segoe UI"/>
              </a:rPr>
              <a:t>2026</a:t>
            </a:r>
          </a:p>
        </p:txBody>
      </p:sp>
      <p:sp>
        <p:nvSpPr>
          <p:cNvPr id="21" name="Rectangle 20"/>
          <p:cNvSpPr/>
          <p:nvPr/>
        </p:nvSpPr>
        <p:spPr>
          <a:xfrm>
            <a:off x="548640" y="3904488"/>
            <a:ext cx="11064240" cy="932688"/>
          </a:xfrm>
          <a:prstGeom prst="rect">
            <a:avLst/>
          </a:prstGeom>
          <a:solidFill>
            <a:srgbClr val="E6E6DC"/>
          </a:solidFill>
          <a:ln w="15875">
            <a:solidFill>
              <a:srgbClr val="6B5B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7240" y="4123944"/>
            <a:ext cx="502920" cy="502920"/>
          </a:xfrm>
          <a:prstGeom prst="ellipse">
            <a:avLst/>
          </a:prstGeom>
          <a:solidFill>
            <a:srgbClr val="6B5B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178808"/>
            <a:ext cx="502920" cy="411480"/>
          </a:xfrm>
          <a:prstGeom prst="rect">
            <a:avLst/>
          </a:prstGeom>
          <a:noFill/>
        </p:spPr>
        <p:txBody>
          <a:bodyPr wrap="square">
            <a:spAutoFit/>
          </a:bodyPr>
          <a:lstStyle/>
          <a:p>
            <a:pPr algn="ctr"/>
            <a:r>
              <a:rPr sz="1800" b="1" i="0">
                <a:solidFill>
                  <a:srgbClr val="FFFFFF"/>
                </a:solidFill>
                <a:latin typeface="Georgia"/>
              </a:rPr>
              <a:t>3</a:t>
            </a:r>
          </a:p>
        </p:txBody>
      </p:sp>
      <p:sp>
        <p:nvSpPr>
          <p:cNvPr id="24" name="TextBox 23"/>
          <p:cNvSpPr txBox="1"/>
          <p:nvPr/>
        </p:nvSpPr>
        <p:spPr>
          <a:xfrm>
            <a:off x="1508760" y="4014216"/>
            <a:ext cx="7955279" cy="411480"/>
          </a:xfrm>
          <a:prstGeom prst="rect">
            <a:avLst/>
          </a:prstGeom>
          <a:noFill/>
        </p:spPr>
        <p:txBody>
          <a:bodyPr wrap="square">
            <a:spAutoFit/>
          </a:bodyPr>
          <a:lstStyle/>
          <a:p>
            <a:pPr algn="l"/>
            <a:r>
              <a:rPr sz="1500" b="1" i="0">
                <a:solidFill>
                  <a:srgbClr val="1E2B26"/>
                </a:solidFill>
                <a:latin typeface="Georgia"/>
              </a:rPr>
              <a:t>Commander un audit ESG indépendant annuel</a:t>
            </a:r>
          </a:p>
        </p:txBody>
      </p:sp>
      <p:sp>
        <p:nvSpPr>
          <p:cNvPr id="25" name="TextBox 24"/>
          <p:cNvSpPr txBox="1"/>
          <p:nvPr/>
        </p:nvSpPr>
        <p:spPr>
          <a:xfrm>
            <a:off x="1508760" y="4407408"/>
            <a:ext cx="8412480" cy="457200"/>
          </a:xfrm>
          <a:prstGeom prst="rect">
            <a:avLst/>
          </a:prstGeom>
          <a:noFill/>
        </p:spPr>
        <p:txBody>
          <a:bodyPr wrap="square">
            <a:spAutoFit/>
          </a:bodyPr>
          <a:lstStyle/>
          <a:p>
            <a:pPr algn="l"/>
            <a:r>
              <a:rPr sz="1100" b="0" i="0">
                <a:solidFill>
                  <a:srgbClr val="5F6B64"/>
                </a:solidFill>
                <a:latin typeface="Segoe UI"/>
              </a:rPr>
              <a:t>Apporte l'assurance d'un tiers indépendant, exigée des entreprises soumises à la CSRD ; renforce la confiance des investisseurs.  —  Direction générale</a:t>
            </a:r>
          </a:p>
        </p:txBody>
      </p:sp>
      <p:sp>
        <p:nvSpPr>
          <p:cNvPr id="26" name="Rounded Rectangle 25"/>
          <p:cNvSpPr/>
          <p:nvPr/>
        </p:nvSpPr>
        <p:spPr>
          <a:xfrm>
            <a:off x="9829800" y="4160520"/>
            <a:ext cx="1554480" cy="420624"/>
          </a:xfrm>
          <a:prstGeom prst="roundRect">
            <a:avLst/>
          </a:prstGeom>
          <a:solidFill>
            <a:srgbClr val="6B5B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29800" y="4224528"/>
            <a:ext cx="1554480" cy="320040"/>
          </a:xfrm>
          <a:prstGeom prst="rect">
            <a:avLst/>
          </a:prstGeom>
          <a:noFill/>
        </p:spPr>
        <p:txBody>
          <a:bodyPr wrap="square">
            <a:spAutoFit/>
          </a:bodyPr>
          <a:lstStyle/>
          <a:p>
            <a:pPr algn="ctr"/>
            <a:r>
              <a:rPr sz="1100" b="1" i="0">
                <a:solidFill>
                  <a:srgbClr val="FFFFFF"/>
                </a:solidFill>
                <a:latin typeface="Segoe UI"/>
              </a:rPr>
              <a:t>Annuel</a:t>
            </a:r>
          </a:p>
        </p:txBody>
      </p:sp>
      <p:sp>
        <p:nvSpPr>
          <p:cNvPr id="28" name="Rectangle 27"/>
          <p:cNvSpPr/>
          <p:nvPr/>
        </p:nvSpPr>
        <p:spPr>
          <a:xfrm>
            <a:off x="548640" y="4965192"/>
            <a:ext cx="11064240" cy="932688"/>
          </a:xfrm>
          <a:prstGeom prst="rect">
            <a:avLst/>
          </a:prstGeom>
          <a:solidFill>
            <a:srgbClr val="E6E6DC"/>
          </a:solidFill>
          <a:ln w="15875">
            <a:solidFill>
              <a:srgbClr val="6B5B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77240" y="5184648"/>
            <a:ext cx="502920" cy="502920"/>
          </a:xfrm>
          <a:prstGeom prst="ellipse">
            <a:avLst/>
          </a:prstGeom>
          <a:solidFill>
            <a:srgbClr val="6B5B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5239512"/>
            <a:ext cx="502920" cy="411480"/>
          </a:xfrm>
          <a:prstGeom prst="rect">
            <a:avLst/>
          </a:prstGeom>
          <a:noFill/>
        </p:spPr>
        <p:txBody>
          <a:bodyPr wrap="square">
            <a:spAutoFit/>
          </a:bodyPr>
          <a:lstStyle/>
          <a:p>
            <a:pPr algn="ctr"/>
            <a:r>
              <a:rPr sz="1800" b="1" i="0">
                <a:solidFill>
                  <a:srgbClr val="FFFFFF"/>
                </a:solidFill>
                <a:latin typeface="Georgia"/>
              </a:rPr>
              <a:t>4</a:t>
            </a:r>
          </a:p>
        </p:txBody>
      </p:sp>
      <p:sp>
        <p:nvSpPr>
          <p:cNvPr id="31" name="TextBox 30"/>
          <p:cNvSpPr txBox="1"/>
          <p:nvPr/>
        </p:nvSpPr>
        <p:spPr>
          <a:xfrm>
            <a:off x="1508760" y="5074920"/>
            <a:ext cx="7955279" cy="411480"/>
          </a:xfrm>
          <a:prstGeom prst="rect">
            <a:avLst/>
          </a:prstGeom>
          <a:noFill/>
        </p:spPr>
        <p:txBody>
          <a:bodyPr wrap="square">
            <a:spAutoFit/>
          </a:bodyPr>
          <a:lstStyle/>
          <a:p>
            <a:pPr algn="l"/>
            <a:r>
              <a:rPr sz="1500" b="1" i="0">
                <a:solidFill>
                  <a:srgbClr val="1E2B26"/>
                </a:solidFill>
                <a:latin typeface="Georgia"/>
              </a:rPr>
              <a:t>Aligner la stratégie ESG sur les ODD &amp; la TCFD</a:t>
            </a:r>
          </a:p>
        </p:txBody>
      </p:sp>
      <p:sp>
        <p:nvSpPr>
          <p:cNvPr id="32" name="TextBox 31"/>
          <p:cNvSpPr txBox="1"/>
          <p:nvPr/>
        </p:nvSpPr>
        <p:spPr>
          <a:xfrm>
            <a:off x="1508760" y="5468112"/>
            <a:ext cx="8412480" cy="457200"/>
          </a:xfrm>
          <a:prstGeom prst="rect">
            <a:avLst/>
          </a:prstGeom>
          <a:noFill/>
        </p:spPr>
        <p:txBody>
          <a:bodyPr wrap="square">
            <a:spAutoFit/>
          </a:bodyPr>
          <a:lstStyle/>
          <a:p>
            <a:pPr algn="l"/>
            <a:r>
              <a:rPr sz="1100" b="0" i="0">
                <a:solidFill>
                  <a:srgbClr val="5F6B64"/>
                </a:solidFill>
                <a:latin typeface="Segoe UI"/>
              </a:rPr>
              <a:t>Renforce l'alignement sur les cadres de référence (ODD, TCFD) et la comparabilité du reporting.  —  Direction RSE</a:t>
            </a:r>
          </a:p>
        </p:txBody>
      </p:sp>
      <p:sp>
        <p:nvSpPr>
          <p:cNvPr id="33" name="Rounded Rectangle 32"/>
          <p:cNvSpPr/>
          <p:nvPr/>
        </p:nvSpPr>
        <p:spPr>
          <a:xfrm>
            <a:off x="9829800" y="5221224"/>
            <a:ext cx="1554480" cy="420624"/>
          </a:xfrm>
          <a:prstGeom prst="roundRect">
            <a:avLst/>
          </a:prstGeom>
          <a:solidFill>
            <a:srgbClr val="6B5B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829800" y="5285232"/>
            <a:ext cx="1554480" cy="320040"/>
          </a:xfrm>
          <a:prstGeom prst="rect">
            <a:avLst/>
          </a:prstGeom>
          <a:noFill/>
        </p:spPr>
        <p:txBody>
          <a:bodyPr wrap="square">
            <a:spAutoFit/>
          </a:bodyPr>
          <a:lstStyle/>
          <a:p>
            <a:pPr algn="ctr"/>
            <a:r>
              <a:rPr sz="1100" b="1" i="0">
                <a:solidFill>
                  <a:srgbClr val="FFFFFF"/>
                </a:solidFill>
                <a:latin typeface="Segoe UI"/>
              </a:rPr>
              <a:t>Continu</a:t>
            </a:r>
          </a:p>
        </p:txBody>
      </p:sp>
      <p:sp>
        <p:nvSpPr>
          <p:cNvPr id="35" name="TextBox 34"/>
          <p:cNvSpPr txBox="1"/>
          <p:nvPr/>
        </p:nvSpPr>
        <p:spPr>
          <a:xfrm>
            <a:off x="8778240" y="6537960"/>
            <a:ext cx="3200400" cy="274320"/>
          </a:xfrm>
          <a:prstGeom prst="rect">
            <a:avLst/>
          </a:prstGeom>
          <a:noFill/>
        </p:spPr>
        <p:txBody>
          <a:bodyPr wrap="square">
            <a:spAutoFit/>
          </a:bodyPr>
          <a:lstStyle/>
          <a:p>
            <a:pPr algn="r"/>
            <a:r>
              <a:rPr sz="800" b="0" i="0">
                <a:solidFill>
                  <a:srgbClr val="5F6B64"/>
                </a:solidFill>
                <a:latin typeface="Segoe UI"/>
              </a:rPr>
              <a:t>Acme Industries   |   25 / 28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201168" cy="201168"/>
          </a:xfrm>
          <a:prstGeom prst="rect">
            <a:avLst/>
          </a:prstGeom>
          <a:solidFill>
            <a:srgbClr val="1F3D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10789920" cy="685800"/>
          </a:xfrm>
          <a:prstGeom prst="rect">
            <a:avLst/>
          </a:prstGeom>
          <a:noFill/>
        </p:spPr>
        <p:txBody>
          <a:bodyPr wrap="square">
            <a:spAutoFit/>
          </a:bodyPr>
          <a:lstStyle/>
          <a:p>
            <a:pPr algn="l"/>
            <a:r>
              <a:rPr sz="1800" b="1" i="0">
                <a:solidFill>
                  <a:srgbClr val="1E2B26"/>
                </a:solidFill>
                <a:latin typeface="Georgia"/>
              </a:rPr>
              <a:t>Un plan d'action ESG sur 12 mois</a:t>
            </a:r>
          </a:p>
        </p:txBody>
      </p:sp>
      <p:sp>
        <p:nvSpPr>
          <p:cNvPr id="5" name="Rectangle 4"/>
          <p:cNvSpPr/>
          <p:nvPr/>
        </p:nvSpPr>
        <p:spPr>
          <a:xfrm>
            <a:off x="457200" y="1024128"/>
            <a:ext cx="2011680" cy="18288"/>
          </a:xfrm>
          <a:prstGeom prst="rect">
            <a:avLst/>
          </a:prstGeom>
          <a:solidFill>
            <a:srgbClr val="1E2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0040" y="1371600"/>
            <a:ext cx="3703320" cy="822960"/>
          </a:xfrm>
          <a:prstGeom prst="roundRect">
            <a:avLst/>
          </a:prstGeom>
          <a:solidFill>
            <a:srgbClr val="1F3D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63040"/>
            <a:ext cx="3246120" cy="411480"/>
          </a:xfrm>
          <a:prstGeom prst="rect">
            <a:avLst/>
          </a:prstGeom>
          <a:noFill/>
        </p:spPr>
        <p:txBody>
          <a:bodyPr wrap="square">
            <a:spAutoFit/>
          </a:bodyPr>
          <a:lstStyle/>
          <a:p>
            <a:pPr algn="l"/>
            <a:r>
              <a:rPr sz="1900" b="1" i="0">
                <a:solidFill>
                  <a:srgbClr val="2E5A4B"/>
                </a:solidFill>
                <a:latin typeface="Georgia"/>
              </a:rPr>
              <a:t>0-3 mois</a:t>
            </a:r>
          </a:p>
        </p:txBody>
      </p:sp>
      <p:sp>
        <p:nvSpPr>
          <p:cNvPr id="8" name="TextBox 7"/>
          <p:cNvSpPr txBox="1"/>
          <p:nvPr/>
        </p:nvSpPr>
        <p:spPr>
          <a:xfrm>
            <a:off x="548640" y="1874519"/>
            <a:ext cx="3246120" cy="320040"/>
          </a:xfrm>
          <a:prstGeom prst="rect">
            <a:avLst/>
          </a:prstGeom>
          <a:noFill/>
        </p:spPr>
        <p:txBody>
          <a:bodyPr wrap="square">
            <a:spAutoFit/>
          </a:bodyPr>
          <a:lstStyle/>
          <a:p>
            <a:pPr algn="l"/>
            <a:r>
              <a:rPr sz="1100" b="0" i="0">
                <a:solidFill>
                  <a:srgbClr val="C9D8C5"/>
                </a:solidFill>
                <a:latin typeface="Segoe UI"/>
              </a:rPr>
              <a:t>Quick wins &amp; fondations</a:t>
            </a:r>
          </a:p>
        </p:txBody>
      </p:sp>
      <p:sp>
        <p:nvSpPr>
          <p:cNvPr id="9" name="Rounded Rectangle 8"/>
          <p:cNvSpPr/>
          <p:nvPr/>
        </p:nvSpPr>
        <p:spPr>
          <a:xfrm>
            <a:off x="320040" y="2377440"/>
            <a:ext cx="3703320" cy="822960"/>
          </a:xfrm>
          <a:prstGeom prst="roundRect">
            <a:avLst/>
          </a:prstGeom>
          <a:solidFill>
            <a:srgbClr val="E6E6DC"/>
          </a:solidFill>
          <a:ln w="12700">
            <a:solidFill>
              <a:srgbClr val="6B5B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 y="2487168"/>
            <a:ext cx="64008" cy="603504"/>
          </a:xfrm>
          <a:prstGeom prst="rect">
            <a:avLst/>
          </a:prstGeom>
          <a:solidFill>
            <a:srgbClr val="6B5B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 y="2487168"/>
            <a:ext cx="3291840" cy="548640"/>
          </a:xfrm>
          <a:prstGeom prst="rect">
            <a:avLst/>
          </a:prstGeom>
          <a:noFill/>
        </p:spPr>
        <p:txBody>
          <a:bodyPr wrap="square">
            <a:spAutoFit/>
          </a:bodyPr>
          <a:lstStyle/>
          <a:p>
            <a:pPr algn="l"/>
            <a:r>
              <a:rPr sz="1200" b="1" i="0">
                <a:solidFill>
                  <a:srgbClr val="1E2B26"/>
                </a:solidFill>
                <a:latin typeface="Segoe UI"/>
              </a:rPr>
              <a:t>Commander un audit ESG indépendant annuel</a:t>
            </a:r>
          </a:p>
        </p:txBody>
      </p:sp>
      <p:sp>
        <p:nvSpPr>
          <p:cNvPr id="12" name="Rounded Rectangle 11"/>
          <p:cNvSpPr/>
          <p:nvPr/>
        </p:nvSpPr>
        <p:spPr>
          <a:xfrm>
            <a:off x="2862072" y="2907792"/>
            <a:ext cx="1051560" cy="237744"/>
          </a:xfrm>
          <a:prstGeom prst="roundRect">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62072" y="2926080"/>
            <a:ext cx="1051560" cy="201168"/>
          </a:xfrm>
          <a:prstGeom prst="rect">
            <a:avLst/>
          </a:prstGeom>
          <a:noFill/>
        </p:spPr>
        <p:txBody>
          <a:bodyPr wrap="square">
            <a:spAutoFit/>
          </a:bodyPr>
          <a:lstStyle/>
          <a:p>
            <a:pPr algn="ctr"/>
            <a:r>
              <a:rPr sz="850" b="1" i="0">
                <a:solidFill>
                  <a:srgbClr val="1F3D33"/>
                </a:solidFill>
                <a:latin typeface="Segoe UI"/>
              </a:rPr>
              <a:t>QUICK WIN</a:t>
            </a:r>
          </a:p>
        </p:txBody>
      </p:sp>
      <p:sp>
        <p:nvSpPr>
          <p:cNvPr id="14" name="Rounded Rectangle 13"/>
          <p:cNvSpPr/>
          <p:nvPr/>
        </p:nvSpPr>
        <p:spPr>
          <a:xfrm>
            <a:off x="4279392" y="1371600"/>
            <a:ext cx="3703320" cy="822960"/>
          </a:xfrm>
          <a:prstGeom prst="roundRect">
            <a:avLst/>
          </a:prstGeom>
          <a:solidFill>
            <a:srgbClr val="1F3D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7992" y="1463040"/>
            <a:ext cx="3246120" cy="411480"/>
          </a:xfrm>
          <a:prstGeom prst="rect">
            <a:avLst/>
          </a:prstGeom>
          <a:noFill/>
        </p:spPr>
        <p:txBody>
          <a:bodyPr wrap="square">
            <a:spAutoFit/>
          </a:bodyPr>
          <a:lstStyle/>
          <a:p>
            <a:pPr algn="l"/>
            <a:r>
              <a:rPr sz="1900" b="1" i="0">
                <a:solidFill>
                  <a:srgbClr val="2E5A4B"/>
                </a:solidFill>
                <a:latin typeface="Georgia"/>
              </a:rPr>
              <a:t>3-6 mois</a:t>
            </a:r>
          </a:p>
        </p:txBody>
      </p:sp>
      <p:sp>
        <p:nvSpPr>
          <p:cNvPr id="16" name="TextBox 15"/>
          <p:cNvSpPr txBox="1"/>
          <p:nvPr/>
        </p:nvSpPr>
        <p:spPr>
          <a:xfrm>
            <a:off x="4507992" y="1874519"/>
            <a:ext cx="3246120" cy="320040"/>
          </a:xfrm>
          <a:prstGeom prst="rect">
            <a:avLst/>
          </a:prstGeom>
          <a:noFill/>
        </p:spPr>
        <p:txBody>
          <a:bodyPr wrap="square">
            <a:spAutoFit/>
          </a:bodyPr>
          <a:lstStyle/>
          <a:p>
            <a:pPr algn="l"/>
            <a:r>
              <a:rPr sz="1100" b="0" i="0">
                <a:solidFill>
                  <a:srgbClr val="C9D8C5"/>
                </a:solidFill>
                <a:latin typeface="Segoe UI"/>
              </a:rPr>
              <a:t>Structuration</a:t>
            </a:r>
          </a:p>
        </p:txBody>
      </p:sp>
      <p:sp>
        <p:nvSpPr>
          <p:cNvPr id="17" name="Rounded Rectangle 16"/>
          <p:cNvSpPr/>
          <p:nvPr/>
        </p:nvSpPr>
        <p:spPr>
          <a:xfrm>
            <a:off x="4279392" y="2377440"/>
            <a:ext cx="3703320" cy="822960"/>
          </a:xfrm>
          <a:prstGeom prst="roundRect">
            <a:avLst/>
          </a:prstGeom>
          <a:solidFill>
            <a:srgbClr val="E6E6DC"/>
          </a:solidFill>
          <a:ln w="12700">
            <a:solidFill>
              <a:srgbClr val="3D6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79392" y="2487168"/>
            <a:ext cx="64008" cy="603504"/>
          </a:xfrm>
          <a:prstGeom prst="rect">
            <a:avLst/>
          </a:prstGeom>
          <a:solidFill>
            <a:srgbClr val="3D6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35424" y="2487168"/>
            <a:ext cx="3291840" cy="548640"/>
          </a:xfrm>
          <a:prstGeom prst="rect">
            <a:avLst/>
          </a:prstGeom>
          <a:noFill/>
        </p:spPr>
        <p:txBody>
          <a:bodyPr wrap="square">
            <a:spAutoFit/>
          </a:bodyPr>
          <a:lstStyle/>
          <a:p>
            <a:pPr algn="l"/>
            <a:r>
              <a:rPr sz="1200" b="1" i="0">
                <a:solidFill>
                  <a:srgbClr val="1E2B26"/>
                </a:solidFill>
                <a:latin typeface="Segoe UI"/>
              </a:rPr>
              <a:t>Définir des objectifs chiffrés de parité femme-homme</a:t>
            </a:r>
          </a:p>
        </p:txBody>
      </p:sp>
      <p:sp>
        <p:nvSpPr>
          <p:cNvPr id="20" name="Rounded Rectangle 19"/>
          <p:cNvSpPr/>
          <p:nvPr/>
        </p:nvSpPr>
        <p:spPr>
          <a:xfrm>
            <a:off x="6821424" y="2907792"/>
            <a:ext cx="1051560" cy="237744"/>
          </a:xfrm>
          <a:prstGeom prst="roundRect">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21424" y="2926080"/>
            <a:ext cx="1051560" cy="201168"/>
          </a:xfrm>
          <a:prstGeom prst="rect">
            <a:avLst/>
          </a:prstGeom>
          <a:noFill/>
        </p:spPr>
        <p:txBody>
          <a:bodyPr wrap="square">
            <a:spAutoFit/>
          </a:bodyPr>
          <a:lstStyle/>
          <a:p>
            <a:pPr algn="ctr"/>
            <a:r>
              <a:rPr sz="850" b="1" i="0">
                <a:solidFill>
                  <a:srgbClr val="1F3D33"/>
                </a:solidFill>
                <a:latin typeface="Segoe UI"/>
              </a:rPr>
              <a:t>QUICK WIN</a:t>
            </a:r>
          </a:p>
        </p:txBody>
      </p:sp>
      <p:sp>
        <p:nvSpPr>
          <p:cNvPr id="22" name="Rounded Rectangle 21"/>
          <p:cNvSpPr/>
          <p:nvPr/>
        </p:nvSpPr>
        <p:spPr>
          <a:xfrm>
            <a:off x="4279392" y="3310128"/>
            <a:ext cx="3703320" cy="822960"/>
          </a:xfrm>
          <a:prstGeom prst="roundRect">
            <a:avLst/>
          </a:prstGeom>
          <a:solidFill>
            <a:srgbClr val="E6E6DC"/>
          </a:solidFill>
          <a:ln w="12700">
            <a:solidFill>
              <a:srgbClr val="6B5B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79392" y="3419856"/>
            <a:ext cx="64008" cy="603504"/>
          </a:xfrm>
          <a:prstGeom prst="rect">
            <a:avLst/>
          </a:prstGeom>
          <a:solidFill>
            <a:srgbClr val="6B5B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35424" y="3419856"/>
            <a:ext cx="3291840" cy="548640"/>
          </a:xfrm>
          <a:prstGeom prst="rect">
            <a:avLst/>
          </a:prstGeom>
          <a:noFill/>
        </p:spPr>
        <p:txBody>
          <a:bodyPr wrap="square">
            <a:spAutoFit/>
          </a:bodyPr>
          <a:lstStyle/>
          <a:p>
            <a:pPr algn="l"/>
            <a:r>
              <a:rPr sz="1200" b="1" i="0">
                <a:solidFill>
                  <a:srgbClr val="1E2B26"/>
                </a:solidFill>
                <a:latin typeface="Segoe UI"/>
              </a:rPr>
              <a:t>Aligner la stratégie ESG sur les ODD &amp; la TCFD</a:t>
            </a:r>
          </a:p>
        </p:txBody>
      </p:sp>
      <p:sp>
        <p:nvSpPr>
          <p:cNvPr id="25" name="Rounded Rectangle 24"/>
          <p:cNvSpPr/>
          <p:nvPr/>
        </p:nvSpPr>
        <p:spPr>
          <a:xfrm>
            <a:off x="8238744" y="1371600"/>
            <a:ext cx="3703320" cy="822960"/>
          </a:xfrm>
          <a:prstGeom prst="roundRect">
            <a:avLst/>
          </a:prstGeom>
          <a:solidFill>
            <a:srgbClr val="1F3D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67344" y="1463040"/>
            <a:ext cx="3246120" cy="411480"/>
          </a:xfrm>
          <a:prstGeom prst="rect">
            <a:avLst/>
          </a:prstGeom>
          <a:noFill/>
        </p:spPr>
        <p:txBody>
          <a:bodyPr wrap="square">
            <a:spAutoFit/>
          </a:bodyPr>
          <a:lstStyle/>
          <a:p>
            <a:pPr algn="l"/>
            <a:r>
              <a:rPr sz="1900" b="1" i="0">
                <a:solidFill>
                  <a:srgbClr val="2E5A4B"/>
                </a:solidFill>
                <a:latin typeface="Georgia"/>
              </a:rPr>
              <a:t>6-12 mois</a:t>
            </a:r>
          </a:p>
        </p:txBody>
      </p:sp>
      <p:sp>
        <p:nvSpPr>
          <p:cNvPr id="27" name="TextBox 26"/>
          <p:cNvSpPr txBox="1"/>
          <p:nvPr/>
        </p:nvSpPr>
        <p:spPr>
          <a:xfrm>
            <a:off x="8467344" y="1874519"/>
            <a:ext cx="3246120" cy="320040"/>
          </a:xfrm>
          <a:prstGeom prst="rect">
            <a:avLst/>
          </a:prstGeom>
          <a:noFill/>
        </p:spPr>
        <p:txBody>
          <a:bodyPr wrap="square">
            <a:spAutoFit/>
          </a:bodyPr>
          <a:lstStyle/>
          <a:p>
            <a:pPr algn="l"/>
            <a:r>
              <a:rPr sz="1100" b="0" i="0">
                <a:solidFill>
                  <a:srgbClr val="C9D8C5"/>
                </a:solidFill>
                <a:latin typeface="Segoe UI"/>
              </a:rPr>
              <a:t>Deploiement</a:t>
            </a:r>
          </a:p>
        </p:txBody>
      </p:sp>
      <p:sp>
        <p:nvSpPr>
          <p:cNvPr id="28" name="Rounded Rectangle 27"/>
          <p:cNvSpPr/>
          <p:nvPr/>
        </p:nvSpPr>
        <p:spPr>
          <a:xfrm>
            <a:off x="8238744" y="2377440"/>
            <a:ext cx="3703320" cy="822960"/>
          </a:xfrm>
          <a:prstGeom prst="roundRect">
            <a:avLst/>
          </a:prstGeom>
          <a:solidFill>
            <a:srgbClr val="E6E6DC"/>
          </a:solidFill>
          <a:ln w="12700">
            <a:solidFill>
              <a:srgbClr val="2F6B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38744" y="2487168"/>
            <a:ext cx="64008" cy="603504"/>
          </a:xfrm>
          <a:prstGeom prst="rect">
            <a:avLst/>
          </a:prstGeom>
          <a:solidFill>
            <a:srgbClr val="2F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94776" y="2487168"/>
            <a:ext cx="3291840" cy="548640"/>
          </a:xfrm>
          <a:prstGeom prst="rect">
            <a:avLst/>
          </a:prstGeom>
          <a:noFill/>
        </p:spPr>
        <p:txBody>
          <a:bodyPr wrap="square">
            <a:spAutoFit/>
          </a:bodyPr>
          <a:lstStyle/>
          <a:p>
            <a:pPr algn="l"/>
            <a:r>
              <a:rPr sz="1200" b="1" i="0">
                <a:solidFill>
                  <a:srgbClr val="1E2B26"/>
                </a:solidFill>
                <a:latin typeface="Segoe UI"/>
              </a:rPr>
              <a:t>Atteindre la cible de 60 % d'énergie renouvelable fixée pour 2030</a:t>
            </a:r>
          </a:p>
        </p:txBody>
      </p:sp>
      <p:sp>
        <p:nvSpPr>
          <p:cNvPr id="31" name="TextBox 30"/>
          <p:cNvSpPr txBox="1"/>
          <p:nvPr/>
        </p:nvSpPr>
        <p:spPr>
          <a:xfrm>
            <a:off x="8778240" y="6537960"/>
            <a:ext cx="3200400" cy="274320"/>
          </a:xfrm>
          <a:prstGeom prst="rect">
            <a:avLst/>
          </a:prstGeom>
          <a:noFill/>
        </p:spPr>
        <p:txBody>
          <a:bodyPr wrap="square">
            <a:spAutoFit/>
          </a:bodyPr>
          <a:lstStyle/>
          <a:p>
            <a:pPr algn="r"/>
            <a:r>
              <a:rPr sz="800" b="0" i="0">
                <a:solidFill>
                  <a:srgbClr val="5F6B64"/>
                </a:solidFill>
                <a:latin typeface="Segoe UI"/>
              </a:rPr>
              <a:t>Acme Industries   |   26 / 28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3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84048"/>
            <a:ext cx="201168" cy="201168"/>
          </a:xfrm>
          <a:prstGeom prst="rect">
            <a:avLst/>
          </a:prstGeom>
          <a:solidFill>
            <a:srgbClr val="1F3D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37744"/>
            <a:ext cx="10789920" cy="685800"/>
          </a:xfrm>
          <a:prstGeom prst="rect">
            <a:avLst/>
          </a:prstGeom>
          <a:noFill/>
        </p:spPr>
        <p:txBody>
          <a:bodyPr wrap="square">
            <a:spAutoFit/>
          </a:bodyPr>
          <a:lstStyle/>
          <a:p>
            <a:pPr algn="l"/>
            <a:r>
              <a:rPr sz="2000" b="1" i="0">
                <a:solidFill>
                  <a:srgbClr val="1E2B26"/>
                </a:solidFill>
                <a:latin typeface="Georgia"/>
              </a:rPr>
              <a:t>Les 90 premiers jours</a:t>
            </a:r>
          </a:p>
        </p:txBody>
      </p:sp>
      <p:sp>
        <p:nvSpPr>
          <p:cNvPr id="5" name="Rectangle 4"/>
          <p:cNvSpPr/>
          <p:nvPr/>
        </p:nvSpPr>
        <p:spPr>
          <a:xfrm>
            <a:off x="457200" y="1024128"/>
            <a:ext cx="2011680" cy="18288"/>
          </a:xfrm>
          <a:prstGeom prst="rect">
            <a:avLst/>
          </a:prstGeom>
          <a:solidFill>
            <a:srgbClr val="1E2B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6675120" cy="548640"/>
          </a:xfrm>
          <a:prstGeom prst="rect">
            <a:avLst/>
          </a:prstGeom>
          <a:noFill/>
        </p:spPr>
        <p:txBody>
          <a:bodyPr wrap="square">
            <a:spAutoFit/>
          </a:bodyPr>
          <a:lstStyle/>
          <a:p>
            <a:pPr algn="l"/>
            <a:r>
              <a:rPr sz="1300" b="0" i="0">
                <a:solidFill>
                  <a:srgbClr val="5F6B64"/>
                </a:solidFill>
                <a:latin typeface="Segoe UI"/>
              </a:rPr>
              <a:t>Ces décisions permettent d'engager le plan sans attendre les chantiers structurants :</a:t>
            </a:r>
          </a:p>
        </p:txBody>
      </p:sp>
      <p:sp>
        <p:nvSpPr>
          <p:cNvPr id="7" name="Oval 6"/>
          <p:cNvSpPr/>
          <p:nvPr/>
        </p:nvSpPr>
        <p:spPr>
          <a:xfrm>
            <a:off x="457200" y="2011680"/>
            <a:ext cx="548640" cy="548640"/>
          </a:xfrm>
          <a:prstGeom prst="ellipse">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057400"/>
            <a:ext cx="548640" cy="457200"/>
          </a:xfrm>
          <a:prstGeom prst="rect">
            <a:avLst/>
          </a:prstGeom>
          <a:noFill/>
        </p:spPr>
        <p:txBody>
          <a:bodyPr wrap="square">
            <a:spAutoFit/>
          </a:bodyPr>
          <a:lstStyle/>
          <a:p>
            <a:pPr algn="ctr"/>
            <a:r>
              <a:rPr sz="2000" b="1" i="0">
                <a:solidFill>
                  <a:srgbClr val="FFFFFF"/>
                </a:solidFill>
                <a:latin typeface="Georgia"/>
              </a:rPr>
              <a:t>1</a:t>
            </a:r>
          </a:p>
        </p:txBody>
      </p:sp>
      <p:sp>
        <p:nvSpPr>
          <p:cNvPr id="9" name="TextBox 8"/>
          <p:cNvSpPr txBox="1"/>
          <p:nvPr/>
        </p:nvSpPr>
        <p:spPr>
          <a:xfrm>
            <a:off x="1188720" y="1993392"/>
            <a:ext cx="5943600" cy="1371600"/>
          </a:xfrm>
          <a:prstGeom prst="rect">
            <a:avLst/>
          </a:prstGeom>
          <a:noFill/>
        </p:spPr>
        <p:txBody>
          <a:bodyPr wrap="square">
            <a:spAutoFit/>
          </a:bodyPr>
          <a:lstStyle/>
          <a:p>
            <a:pPr algn="l"/>
            <a:r>
              <a:rPr sz="1300" b="0" i="0">
                <a:solidFill>
                  <a:srgbClr val="1E2B26"/>
                </a:solidFill>
                <a:latin typeface="Segoe UI"/>
              </a:rPr>
              <a:t>Analyser les causes de chaque incident et vérifier que le dispositif d'alerte, les contrôles internes et la sensibilisation couvrent les situations rencontrées.</a:t>
            </a:r>
          </a:p>
        </p:txBody>
      </p:sp>
      <p:sp>
        <p:nvSpPr>
          <p:cNvPr id="10" name="Oval 9"/>
          <p:cNvSpPr/>
          <p:nvPr/>
        </p:nvSpPr>
        <p:spPr>
          <a:xfrm>
            <a:off x="457200" y="3474720"/>
            <a:ext cx="548640" cy="548640"/>
          </a:xfrm>
          <a:prstGeom prst="ellipse">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520440"/>
            <a:ext cx="548640" cy="457200"/>
          </a:xfrm>
          <a:prstGeom prst="rect">
            <a:avLst/>
          </a:prstGeom>
          <a:noFill/>
        </p:spPr>
        <p:txBody>
          <a:bodyPr wrap="square">
            <a:spAutoFit/>
          </a:bodyPr>
          <a:lstStyle/>
          <a:p>
            <a:pPr algn="ctr"/>
            <a:r>
              <a:rPr sz="2000" b="1" i="0">
                <a:solidFill>
                  <a:srgbClr val="FFFFFF"/>
                </a:solidFill>
                <a:latin typeface="Georgia"/>
              </a:rPr>
              <a:t>2</a:t>
            </a:r>
          </a:p>
        </p:txBody>
      </p:sp>
      <p:sp>
        <p:nvSpPr>
          <p:cNvPr id="12" name="TextBox 11"/>
          <p:cNvSpPr txBox="1"/>
          <p:nvPr/>
        </p:nvSpPr>
        <p:spPr>
          <a:xfrm>
            <a:off x="1188720" y="3456432"/>
            <a:ext cx="5943600" cy="1371600"/>
          </a:xfrm>
          <a:prstGeom prst="rect">
            <a:avLst/>
          </a:prstGeom>
          <a:noFill/>
        </p:spPr>
        <p:txBody>
          <a:bodyPr wrap="square">
            <a:spAutoFit/>
          </a:bodyPr>
          <a:lstStyle/>
          <a:p>
            <a:pPr algn="l"/>
            <a:r>
              <a:rPr sz="1300" b="0" i="0">
                <a:solidFill>
                  <a:srgbClr val="1E2B26"/>
                </a:solidFill>
                <a:latin typeface="Segoe UI"/>
              </a:rPr>
              <a:t>Faire revoir par un tiers deux ou trois indicateurs clés avant la prochaine publication.</a:t>
            </a:r>
          </a:p>
        </p:txBody>
      </p:sp>
      <p:sp>
        <p:nvSpPr>
          <p:cNvPr id="13" name="Rectangle 12"/>
          <p:cNvSpPr/>
          <p:nvPr/>
        </p:nvSpPr>
        <p:spPr>
          <a:xfrm>
            <a:off x="7543800" y="1371600"/>
            <a:ext cx="4251960" cy="5029200"/>
          </a:xfrm>
          <a:prstGeom prst="rect">
            <a:avLst/>
          </a:prstGeom>
          <a:solidFill>
            <a:srgbClr val="E6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43800" y="1371600"/>
            <a:ext cx="73152" cy="5029200"/>
          </a:xfrm>
          <a:prstGeom prst="rect">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18120" y="1508760"/>
            <a:ext cx="3840480" cy="411480"/>
          </a:xfrm>
          <a:prstGeom prst="rect">
            <a:avLst/>
          </a:prstGeom>
          <a:noFill/>
        </p:spPr>
        <p:txBody>
          <a:bodyPr wrap="square">
            <a:spAutoFit/>
          </a:bodyPr>
          <a:lstStyle/>
          <a:p>
            <a:pPr algn="l"/>
            <a:r>
              <a:rPr sz="1400" b="1" i="0">
                <a:solidFill>
                  <a:srgbClr val="2E5A4B"/>
                </a:solidFill>
                <a:latin typeface="Segoe UI"/>
              </a:rPr>
              <a:t>Si rien ne change d'ici 2030</a:t>
            </a:r>
          </a:p>
        </p:txBody>
      </p:sp>
      <p:sp>
        <p:nvSpPr>
          <p:cNvPr id="16" name="TextBox 15"/>
          <p:cNvSpPr txBox="1"/>
          <p:nvPr/>
        </p:nvSpPr>
        <p:spPr>
          <a:xfrm>
            <a:off x="7818120" y="2011680"/>
            <a:ext cx="3840480" cy="4297680"/>
          </a:xfrm>
          <a:prstGeom prst="rect">
            <a:avLst/>
          </a:prstGeom>
          <a:noFill/>
        </p:spPr>
        <p:txBody>
          <a:bodyPr wrap="square">
            <a:spAutoFit/>
          </a:bodyPr>
          <a:lstStyle/>
          <a:p>
            <a:pPr algn="l"/>
            <a:r>
              <a:rPr sz="1150" b="0" i="0">
                <a:solidFill>
                  <a:srgbClr val="1E2B26"/>
                </a:solidFill>
                <a:latin typeface="Segoe UI"/>
              </a:rPr>
              <a:t>Pour l'intégrité et la sécurité de l'information, chaque nouvel incident sera lu comme le signe d'un défaut de contrôle, avec des conséquences croissantes sur la réputation et les relations d'affaires.
Pour le pilotage de la démarche, la démarche restera dépendante de quelques personnes et difficile à rendre crédible à l'extérieur.</a:t>
            </a:r>
          </a:p>
        </p:txBody>
      </p:sp>
      <p:sp>
        <p:nvSpPr>
          <p:cNvPr id="17" name="TextBox 16"/>
          <p:cNvSpPr txBox="1"/>
          <p:nvPr/>
        </p:nvSpPr>
        <p:spPr>
          <a:xfrm>
            <a:off x="8778240" y="6537960"/>
            <a:ext cx="3200400" cy="274320"/>
          </a:xfrm>
          <a:prstGeom prst="rect">
            <a:avLst/>
          </a:prstGeom>
          <a:noFill/>
        </p:spPr>
        <p:txBody>
          <a:bodyPr wrap="square">
            <a:spAutoFit/>
          </a:bodyPr>
          <a:lstStyle/>
          <a:p>
            <a:pPr algn="r"/>
            <a:r>
              <a:rPr sz="800" b="0" i="0">
                <a:solidFill>
                  <a:srgbClr val="5F6B64"/>
                </a:solidFill>
                <a:latin typeface="Segoe UI"/>
              </a:rPr>
              <a:t>Acme Industries   |   27 / 28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3D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40080"/>
            <a:ext cx="10515600" cy="822960"/>
          </a:xfrm>
          <a:prstGeom prst="rect">
            <a:avLst/>
          </a:prstGeom>
          <a:noFill/>
        </p:spPr>
        <p:txBody>
          <a:bodyPr wrap="square">
            <a:spAutoFit/>
          </a:bodyPr>
          <a:lstStyle/>
          <a:p>
            <a:pPr algn="l"/>
            <a:r>
              <a:rPr sz="3000" b="1" i="0">
                <a:solidFill>
                  <a:srgbClr val="F3F0E8"/>
                </a:solidFill>
                <a:latin typeface="Georgia"/>
              </a:rPr>
              <a:t>Conclusion &amp; Engagements</a:t>
            </a:r>
          </a:p>
        </p:txBody>
      </p:sp>
      <p:sp>
        <p:nvSpPr>
          <p:cNvPr id="5" name="Rectangle 4"/>
          <p:cNvSpPr/>
          <p:nvPr/>
        </p:nvSpPr>
        <p:spPr>
          <a:xfrm>
            <a:off x="621792" y="1481328"/>
            <a:ext cx="1645920" cy="54864"/>
          </a:xfrm>
          <a:prstGeom prst="rect">
            <a:avLst/>
          </a:prstGeom>
          <a:solidFill>
            <a:srgbClr val="2E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783080"/>
            <a:ext cx="10972800" cy="1188720"/>
          </a:xfrm>
          <a:prstGeom prst="rect">
            <a:avLst/>
          </a:prstGeom>
          <a:noFill/>
        </p:spPr>
        <p:txBody>
          <a:bodyPr wrap="square">
            <a:spAutoFit/>
          </a:bodyPr>
          <a:lstStyle/>
          <a:p>
            <a:pPr algn="l"/>
            <a:r>
              <a:rPr sz="2000" b="1" i="0">
                <a:solidFill>
                  <a:srgbClr val="F3F0E8"/>
                </a:solidFill>
                <a:latin typeface="Georgia"/>
              </a:rPr>
              <a:t>Acme Industries affiche un profil ESG solide (70/100, A), porté par la gouvernance (75/100) ; le social (65/100) concentre le potentiel de progression.</a:t>
            </a:r>
          </a:p>
        </p:txBody>
      </p:sp>
      <p:sp>
        <p:nvSpPr>
          <p:cNvPr id="7" name="TextBox 6"/>
          <p:cNvSpPr txBox="1"/>
          <p:nvPr/>
        </p:nvSpPr>
        <p:spPr>
          <a:xfrm>
            <a:off x="594360" y="3246120"/>
            <a:ext cx="7315200" cy="365760"/>
          </a:xfrm>
          <a:prstGeom prst="rect">
            <a:avLst/>
          </a:prstGeom>
          <a:noFill/>
        </p:spPr>
        <p:txBody>
          <a:bodyPr wrap="square">
            <a:spAutoFit/>
          </a:bodyPr>
          <a:lstStyle/>
          <a:p>
            <a:pPr algn="l"/>
            <a:r>
              <a:rPr sz="1300" b="1" i="0">
                <a:solidFill>
                  <a:srgbClr val="2E5A4B"/>
                </a:solidFill>
                <a:latin typeface="Segoe UI"/>
              </a:rPr>
              <a:t>NOS ENGAGEMENTS PRIORITAIRES</a:t>
            </a:r>
          </a:p>
        </p:txBody>
      </p:sp>
      <p:sp>
        <p:nvSpPr>
          <p:cNvPr id="8" name="TextBox 7"/>
          <p:cNvSpPr txBox="1"/>
          <p:nvPr/>
        </p:nvSpPr>
        <p:spPr>
          <a:xfrm>
            <a:off x="594360" y="3794760"/>
            <a:ext cx="822960" cy="640080"/>
          </a:xfrm>
          <a:prstGeom prst="rect">
            <a:avLst/>
          </a:prstGeom>
          <a:noFill/>
        </p:spPr>
        <p:txBody>
          <a:bodyPr wrap="square">
            <a:spAutoFit/>
          </a:bodyPr>
          <a:lstStyle/>
          <a:p>
            <a:pPr algn="l"/>
            <a:r>
              <a:rPr sz="3000" b="1" i="0">
                <a:solidFill>
                  <a:srgbClr val="2E5A4B"/>
                </a:solidFill>
                <a:latin typeface="Georgia"/>
              </a:rPr>
              <a:t>01</a:t>
            </a:r>
          </a:p>
        </p:txBody>
      </p:sp>
      <p:sp>
        <p:nvSpPr>
          <p:cNvPr id="9" name="TextBox 8"/>
          <p:cNvSpPr txBox="1"/>
          <p:nvPr/>
        </p:nvSpPr>
        <p:spPr>
          <a:xfrm>
            <a:off x="1554480" y="3840480"/>
            <a:ext cx="8229600" cy="457200"/>
          </a:xfrm>
          <a:prstGeom prst="rect">
            <a:avLst/>
          </a:prstGeom>
          <a:noFill/>
        </p:spPr>
        <p:txBody>
          <a:bodyPr wrap="square">
            <a:spAutoFit/>
          </a:bodyPr>
          <a:lstStyle/>
          <a:p>
            <a:pPr algn="l"/>
            <a:r>
              <a:rPr sz="1600" b="1" i="0">
                <a:solidFill>
                  <a:srgbClr val="F3F0E8"/>
                </a:solidFill>
                <a:latin typeface="Segoe UI"/>
              </a:rPr>
              <a:t>Atteindre la cible de 60 % d'énergie renouvelable fixée pour 2030</a:t>
            </a:r>
          </a:p>
        </p:txBody>
      </p:sp>
      <p:sp>
        <p:nvSpPr>
          <p:cNvPr id="10" name="TextBox 9"/>
          <p:cNvSpPr txBox="1"/>
          <p:nvPr/>
        </p:nvSpPr>
        <p:spPr>
          <a:xfrm>
            <a:off x="9966960" y="3867912"/>
            <a:ext cx="1737360" cy="365760"/>
          </a:xfrm>
          <a:prstGeom prst="rect">
            <a:avLst/>
          </a:prstGeom>
          <a:noFill/>
        </p:spPr>
        <p:txBody>
          <a:bodyPr wrap="square">
            <a:spAutoFit/>
          </a:bodyPr>
          <a:lstStyle/>
          <a:p>
            <a:pPr algn="r"/>
            <a:r>
              <a:rPr sz="1300" b="1" i="0">
                <a:solidFill>
                  <a:srgbClr val="C9D8C5"/>
                </a:solidFill>
                <a:latin typeface="Segoe UI"/>
              </a:rPr>
              <a:t>2027</a:t>
            </a:r>
          </a:p>
        </p:txBody>
      </p:sp>
      <p:sp>
        <p:nvSpPr>
          <p:cNvPr id="11" name="Rectangle 10"/>
          <p:cNvSpPr/>
          <p:nvPr/>
        </p:nvSpPr>
        <p:spPr>
          <a:xfrm>
            <a:off x="1554480" y="4453128"/>
            <a:ext cx="10149840" cy="10972"/>
          </a:xfrm>
          <a:prstGeom prst="rect">
            <a:avLst/>
          </a:prstGeom>
          <a:solidFill>
            <a:srgbClr val="555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4581144"/>
            <a:ext cx="822960" cy="640080"/>
          </a:xfrm>
          <a:prstGeom prst="rect">
            <a:avLst/>
          </a:prstGeom>
          <a:noFill/>
        </p:spPr>
        <p:txBody>
          <a:bodyPr wrap="square">
            <a:spAutoFit/>
          </a:bodyPr>
          <a:lstStyle/>
          <a:p>
            <a:pPr algn="l"/>
            <a:r>
              <a:rPr sz="3000" b="1" i="0">
                <a:solidFill>
                  <a:srgbClr val="2E5A4B"/>
                </a:solidFill>
                <a:latin typeface="Georgia"/>
              </a:rPr>
              <a:t>02</a:t>
            </a:r>
          </a:p>
        </p:txBody>
      </p:sp>
      <p:sp>
        <p:nvSpPr>
          <p:cNvPr id="13" name="TextBox 12"/>
          <p:cNvSpPr txBox="1"/>
          <p:nvPr/>
        </p:nvSpPr>
        <p:spPr>
          <a:xfrm>
            <a:off x="1554480" y="4626864"/>
            <a:ext cx="8229600" cy="457200"/>
          </a:xfrm>
          <a:prstGeom prst="rect">
            <a:avLst/>
          </a:prstGeom>
          <a:noFill/>
        </p:spPr>
        <p:txBody>
          <a:bodyPr wrap="square">
            <a:spAutoFit/>
          </a:bodyPr>
          <a:lstStyle/>
          <a:p>
            <a:pPr algn="l"/>
            <a:r>
              <a:rPr sz="1600" b="1" i="0">
                <a:solidFill>
                  <a:srgbClr val="F3F0E8"/>
                </a:solidFill>
                <a:latin typeface="Segoe UI"/>
              </a:rPr>
              <a:t>Définir des objectifs chiffrés de parité femme-homme</a:t>
            </a:r>
          </a:p>
        </p:txBody>
      </p:sp>
      <p:sp>
        <p:nvSpPr>
          <p:cNvPr id="14" name="TextBox 13"/>
          <p:cNvSpPr txBox="1"/>
          <p:nvPr/>
        </p:nvSpPr>
        <p:spPr>
          <a:xfrm>
            <a:off x="9966960" y="4654296"/>
            <a:ext cx="1737360" cy="365760"/>
          </a:xfrm>
          <a:prstGeom prst="rect">
            <a:avLst/>
          </a:prstGeom>
          <a:noFill/>
        </p:spPr>
        <p:txBody>
          <a:bodyPr wrap="square">
            <a:spAutoFit/>
          </a:bodyPr>
          <a:lstStyle/>
          <a:p>
            <a:pPr algn="r"/>
            <a:r>
              <a:rPr sz="1300" b="1" i="0">
                <a:solidFill>
                  <a:srgbClr val="C9D8C5"/>
                </a:solidFill>
                <a:latin typeface="Segoe UI"/>
              </a:rPr>
              <a:t>2026</a:t>
            </a:r>
          </a:p>
        </p:txBody>
      </p:sp>
      <p:sp>
        <p:nvSpPr>
          <p:cNvPr id="15" name="Rectangle 14"/>
          <p:cNvSpPr/>
          <p:nvPr/>
        </p:nvSpPr>
        <p:spPr>
          <a:xfrm>
            <a:off x="1554480" y="5239512"/>
            <a:ext cx="10149840" cy="10972"/>
          </a:xfrm>
          <a:prstGeom prst="rect">
            <a:avLst/>
          </a:prstGeom>
          <a:solidFill>
            <a:srgbClr val="555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5367528"/>
            <a:ext cx="822960" cy="640080"/>
          </a:xfrm>
          <a:prstGeom prst="rect">
            <a:avLst/>
          </a:prstGeom>
          <a:noFill/>
        </p:spPr>
        <p:txBody>
          <a:bodyPr wrap="square">
            <a:spAutoFit/>
          </a:bodyPr>
          <a:lstStyle/>
          <a:p>
            <a:pPr algn="l"/>
            <a:r>
              <a:rPr sz="3000" b="1" i="0">
                <a:solidFill>
                  <a:srgbClr val="2E5A4B"/>
                </a:solidFill>
                <a:latin typeface="Georgia"/>
              </a:rPr>
              <a:t>03</a:t>
            </a:r>
          </a:p>
        </p:txBody>
      </p:sp>
      <p:sp>
        <p:nvSpPr>
          <p:cNvPr id="17" name="TextBox 16"/>
          <p:cNvSpPr txBox="1"/>
          <p:nvPr/>
        </p:nvSpPr>
        <p:spPr>
          <a:xfrm>
            <a:off x="1554480" y="5413248"/>
            <a:ext cx="8229600" cy="457200"/>
          </a:xfrm>
          <a:prstGeom prst="rect">
            <a:avLst/>
          </a:prstGeom>
          <a:noFill/>
        </p:spPr>
        <p:txBody>
          <a:bodyPr wrap="square">
            <a:spAutoFit/>
          </a:bodyPr>
          <a:lstStyle/>
          <a:p>
            <a:pPr algn="l"/>
            <a:r>
              <a:rPr sz="1600" b="1" i="0">
                <a:solidFill>
                  <a:srgbClr val="F3F0E8"/>
                </a:solidFill>
                <a:latin typeface="Segoe UI"/>
              </a:rPr>
              <a:t>Commander un audit ESG indépendant annuel</a:t>
            </a:r>
          </a:p>
        </p:txBody>
      </p:sp>
      <p:sp>
        <p:nvSpPr>
          <p:cNvPr id="18" name="TextBox 17"/>
          <p:cNvSpPr txBox="1"/>
          <p:nvPr/>
        </p:nvSpPr>
        <p:spPr>
          <a:xfrm>
            <a:off x="9966960" y="5440680"/>
            <a:ext cx="1737360" cy="365760"/>
          </a:xfrm>
          <a:prstGeom prst="rect">
            <a:avLst/>
          </a:prstGeom>
          <a:noFill/>
        </p:spPr>
        <p:txBody>
          <a:bodyPr wrap="square">
            <a:spAutoFit/>
          </a:bodyPr>
          <a:lstStyle/>
          <a:p>
            <a:pPr algn="r"/>
            <a:r>
              <a:rPr sz="1300" b="1" i="0">
                <a:solidFill>
                  <a:srgbClr val="C9D8C5"/>
                </a:solidFill>
                <a:latin typeface="Segoe UI"/>
              </a:rPr>
              <a:t>Annuel</a:t>
            </a:r>
          </a:p>
        </p:txBody>
      </p:sp>
      <p:sp>
        <p:nvSpPr>
          <p:cNvPr id="19" name="TextBox 18"/>
          <p:cNvSpPr txBox="1"/>
          <p:nvPr/>
        </p:nvSpPr>
        <p:spPr>
          <a:xfrm>
            <a:off x="594360" y="6400800"/>
            <a:ext cx="10058400" cy="365760"/>
          </a:xfrm>
          <a:prstGeom prst="rect">
            <a:avLst/>
          </a:prstGeom>
          <a:noFill/>
        </p:spPr>
        <p:txBody>
          <a:bodyPr wrap="square">
            <a:spAutoFit/>
          </a:bodyPr>
          <a:lstStyle/>
          <a:p>
            <a:pPr algn="l"/>
            <a:r>
              <a:rPr sz="900" b="0" i="1">
                <a:solidFill>
                  <a:srgbClr val="C9D8C5"/>
                </a:solidFill>
                <a:latin typeface="Segoe UI"/>
              </a:rPr>
              <a:t>© 2025 Acme Industries — Document confidentiel</a:t>
            </a:r>
          </a:p>
        </p:txBody>
      </p:sp>
      <p:sp>
        <p:nvSpPr>
          <p:cNvPr id="20" name="TextBox 19"/>
          <p:cNvSpPr txBox="1"/>
          <p:nvPr/>
        </p:nvSpPr>
        <p:spPr>
          <a:xfrm>
            <a:off x="8778240" y="6537960"/>
            <a:ext cx="3200400" cy="274320"/>
          </a:xfrm>
          <a:prstGeom prst="rect">
            <a:avLst/>
          </a:prstGeom>
          <a:noFill/>
        </p:spPr>
        <p:txBody>
          <a:bodyPr wrap="square">
            <a:spAutoFit/>
          </a:bodyPr>
          <a:lstStyle/>
          <a:p>
            <a:pPr algn="r"/>
            <a:r>
              <a:rPr sz="800" b="0" i="0">
                <a:solidFill>
                  <a:srgbClr val="5F6B64"/>
                </a:solidFill>
                <a:latin typeface="Segoe UI"/>
              </a:rPr>
              <a:t>Acme Industries   |   28 / 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