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Industries présente son rapport de durabilité pour l'exercice 2025. Acteur du secteur industrie manufacturière (France), l'entreprise emploie 320 collaborateurs et a réalisé un chiffre d'affaires de 48 millions d'euros sur l'exercice.</a:t>
            </a:r>
          </a:p>
          <a:p/>
          <a:p>
            <a:r>
              <a:t>Le diagnostic suit 29 indicateurs répartis entre l'environnement, le social et la gouvernance ; 20 sont renseignés pour cet exercice, soit un taux de complétude de 69 %. La lecture des piliers est fiable sur les indicateurs renseignés ; les données manquantes sont signalées section par section.</a:t>
            </a:r>
          </a:p>
          <a:p/>
          <a:p>
            <a:r>
              <a:t>Le rapport suit trois temps. La situation présente la performance de chaque pilier et les indicateurs qui la fondent. Le diagnostic confronte ces résultats aux exigences de reporting du référentiel CSRD / ESRS, aux risques et aux opportunités identifiés. Le plan d'action traduit ces constats en recommandations priorisées et en feuille de route sur douze mois. Les objectifs de l'entreprise sont fixés à l'horizon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70/100, le pilier environnemental est aligné sur le score global. Rapportées au chiffre d'affaires, les émissions représentent 171 t CO2e par million d'euros, une intensité satisfaisante selon la grille interne du diagnostic, différenciée par famille de secteurs. La part d'énergie renouvelable atteint 42 %, un niveau satisfaisant selon la grille de lecture du diagnostic. 63 % des déchets sont valorisés, ce que la grille du diagnostic classe comme solide.</a:t>
            </a:r>
          </a:p>
          <a:p/>
          <a:p>
            <a:r>
              <a:t>La consommation d'énergie atteint 21 500 MWh, soit 67,2 MWh par salarié. La consommation d'eau de l'exercice est de 120 000 m3. Restent à documenter : le volume de déchets et les initiatives en faveur de la biodiversité. Leur collecte, au prochain exercice, fiabilisera la lecture de ce pilier.</a:t>
            </a:r>
          </a:p>
          <a:p/>
          <a:p>
            <a:r>
              <a:t>Le plan d'action retient un levier pour ce pilier : augmenter la part d'énergie renouvelable à 50 % (objectif : 50 % d'énergie renouvelable dans le mix ; échéance : 2027).</a:t>
            </a:r>
          </a:p>
          <a:p/>
          <a:p>
            <a:r>
              <a:t>L'empreinte mesurée s'élève à 8 200 t CO2e sur les scopes renseignés. Le Scope 3 en concentre la plus grande part (60 %) : c'est le périmètre sur lequel les leviers de réduction auront le plus d'effet. Rapportées à l'effectif, les émissions représentent 25,6 t CO2e par salarié.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65/100, le pilier social se situe 4 points en dessous du score global (70/100). Les femmes représentent 34 % de l'effectif, une situation satisfaisante selon la grille de lecture retenue. Chaque salarié a suivi en moyenne 22 h de formation sur l'exercice, un effort satisfaisant au regard de la grille du diagnostic. Le taux de fréquence des accidents s'établit à 6,2 (moyenne nationale publiée par l'Assurance Maladie pour 2024 : 16,0), un résultat solide selon la grille de lecture retenue. Le taux de rotation du personnel est de 11 %, un niveau satisfaisant selon la grille du diagnostic.</a:t>
            </a:r>
          </a:p>
          <a:p/>
          <a:p>
            <a:r>
              <a:t>L'effectif s'établit à 320 collaborateurs sur l'exercice. Restent à documenter : le nombre d'accidents du travail, l'investissement communautaire, la part d'achats locaux, la satisfaction client et l'emploi de personnes en situation de handicap. Leur collecte, au prochain exercice, fiabilisera la lecture de ce pilier.</a:t>
            </a:r>
          </a:p>
          <a:p/>
          <a:p>
            <a:r>
              <a:t>Le plan d'action retient un levier pour ce pilier : définir des objectifs chiffrés de parité femme-homme (objectif : cible de mixité définie et suivie annuellement ; échéance : 2026).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75/100, le pilier de gouvernance se situe 6 points au-dessus du score global (70/100). Les administrateurs indépendants représentent 45 % du conseil, une proportion satisfaisante selon la grille du diagnostic. Les femmes occupent 44 % des sièges du conseil, une représentation exemplaire selon la grille de lecture retenue.</a:t>
            </a:r>
          </a:p>
          <a:p/>
          <a:p>
            <a:r>
              <a:t>Le conseil compte 9 membres. Un comité de durabilité est en place : il donne un cadre de pilotage aux engagements présentés dans ce rapport. Aucun audit ESG indépendant n'a été conduit sur l'exercice. Aucun manquement éthique n'a été enregistré. Un incident de cybersécurité a été déclaré. Restent à documenter : les cas de corruption et le budget RSE. Leur collecte, au prochain exercice, fiabilisera la lecture de ce pilier.</a:t>
            </a:r>
          </a:p>
          <a:p/>
          <a:p>
            <a:r>
              <a:t>Le plan d'action retient 2 leviers pour ce pilier : commander un audit ESG indépendant annuel (objectif : assurance limitée obtenue sur le reporting ; échéance : annuel); aligner la stratégie ESG sur les ODD &amp; la TCFD (objectif : alignement ODD / TCFD documenté ; échéance : continu).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met en regard les résultats et leurs causes. Il identifie 5 forces et 4 axes de progrès, examine la couverture de 6 exigences de reporting (dont 1 encore ouverte) et hiérarchise 4 risques majeurs (dont 1 de priorité 1).</a:t>
            </a:r>
          </a:p>
          <a:p/>
          <a:p>
            <a:r>
              <a:t>Le positionnement ci-dessous compare les trois piliers entre eux, sans référence externe : il indique où se concentre la marge de progression de l'entreprise.</a:t>
            </a:r>
          </a:p>
          <a:p/>
          <a:p>
            <a:r>
              <a:t>Le tableau ci-dessous examine 6 exigences de reporting du référentiel CSRD / ESRS : 4 sont couvertes par les données de l'exercice, 1 reste ouverte ou partiellement couverte. Chaque ligne indique la référence concernée et ce qui manque pour la couvrir.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retient 4 risques majeurs. Leur priorité combine l'impact estimé et la probabilité d'occurrence : 1 est classé en priorité 1 et appelle une action dans les douze prochains mois.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traduit le diagnostic en actions. Il propose 4 recommandations, dont 2 gains rapides, et les ordonne dans une feuille de route en trois phases sur douze mois, en cohérence avec l'horizon 2030 fixé par l'entreprise.</a:t>
            </a:r>
          </a:p>
          <a:p/>
          <a:p>
            <a:r>
              <a:t>Les recommandations sont ordonnées par priorité. Elles se répartissent entre l'environnement (1), le social (1) et la gouvernance (2) ; chacune précise un objectif, un responsable et une échéance.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répartit les actions en trois phases. 0-3 mois : 1 action, 3-6 mois : 2 actions et 6-12 mois : 1 action. Les gains rapides, signalés dans le tableau, peuvent être engagés sans attendre les chantiers structurants.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8.png"/><Relationship Id="rId7"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70</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70</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+14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(70/100, A), porté par la gouvernance (75/100) ; le social (65/100)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8" name="Rounded Rectangle 17"/>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1" name="TextBox 20"/>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65</a:t>
            </a:r>
          </a:p>
        </p:txBody>
      </p:sp>
      <p:sp>
        <p:nvSpPr>
          <p:cNvPr id="22" name="Rounded Rectangle 21"/>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0" y="4873752"/>
            <a:ext cx="2020824"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5" name="TextBox 24"/>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6" name="Rounded Rectangle 25"/>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10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1" name="Rounded Rectangle 30"/>
          <p:cNvSpPr/>
          <p:nvPr/>
        </p:nvSpPr>
        <p:spPr>
          <a:xfrm>
            <a:off x="7178040" y="3941064"/>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36" name="Rounded Rectangle 35"/>
          <p:cNvSpPr/>
          <p:nvPr/>
        </p:nvSpPr>
        <p:spPr>
          <a:xfrm>
            <a:off x="7178040" y="4562856"/>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Non couvert par ce reporting</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Cibles climatiques non documentées dans ce reporting</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8 200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21 500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120 000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parité femmes-hommes (34 %), levier à activer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65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Socle social solide ; la diversité et la formation sont les leviers pour transformer la conformité en avantage compétitif.</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45 %</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52 %</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4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opérationnel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(44 %)</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4</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 objectif 50 %)</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18" name="Oval 17"/>
          <p:cNvSpPr/>
          <p:nvPr/>
        </p:nvSpPr>
        <p:spPr>
          <a:xfrm>
            <a:off x="5257800" y="342900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Intensité carbone élevée : marge exposée à la tarification du carbone</a:t>
            </a:r>
          </a:p>
        </p:txBody>
      </p:sp>
      <p:sp>
        <p:nvSpPr>
          <p:cNvPr id="21" name="Rounded Rectangle 20"/>
          <p:cNvSpPr/>
          <p:nvPr/>
        </p:nvSpPr>
        <p:spPr>
          <a:xfrm>
            <a:off x="548640" y="4389120"/>
            <a:ext cx="1563624"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1563624" cy="237744"/>
          </a:xfrm>
          <a:prstGeom prst="rect">
            <a:avLst/>
          </a:prstGeom>
          <a:noFill/>
        </p:spPr>
        <p:txBody>
          <a:bodyPr wrap="square">
            <a:spAutoFit/>
          </a:bodyPr>
          <a:lstStyle/>
          <a:p>
            <a:pPr algn="ctr"/>
            <a:r>
              <a:rPr sz="950" b="1" i="0">
                <a:solidFill>
                  <a:srgbClr val="FFFFFF"/>
                </a:solidFill>
                <a:latin typeface="Segoe UI"/>
              </a:rPr>
              <a:t>Réglementaire</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Parité sous la cible : risque réglementaire et d'attractivité</a:t>
            </a:r>
          </a:p>
        </p:txBody>
      </p:sp>
      <p:sp>
        <p:nvSpPr>
          <p:cNvPr id="26" name="Rounded Rectangle 25"/>
          <p:cNvSpPr/>
          <p:nvPr/>
        </p:nvSpPr>
        <p:spPr>
          <a:xfrm>
            <a:off x="548640" y="534924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261872" cy="237744"/>
          </a:xfrm>
          <a:prstGeom prst="rect">
            <a:avLst/>
          </a:prstGeom>
          <a:noFill/>
        </p:spPr>
        <p:txBody>
          <a:bodyPr wrap="square">
            <a:spAutoFit/>
          </a:bodyPr>
          <a:lstStyle/>
          <a:p>
            <a:pPr algn="ctr"/>
            <a:r>
              <a:rPr sz="950" b="1" i="0">
                <a:solidFill>
                  <a:srgbClr val="FFFFFF"/>
                </a:solidFill>
                <a:latin typeface="Segoe UI"/>
              </a:rPr>
              <a:t>Réputation</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Incident cyber déclaré : risque réputationnel et RGPD</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Augmenter la part d'énergie renouvelable à 50 %</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désormais requise par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Augmenter la part d'énergie renouvelable à 50 %</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(70/100, A), porté par la gouvernance (75/100) ; le social (65/100)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Augmenter la part d'énergie renouvelable à 50 %</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