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37760"/>
            <a:ext cx="12188952" cy="192024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8229600" cy="457200"/>
          </a:xfrm>
          <a:prstGeom prst="rect">
            <a:avLst/>
          </a:prstGeom>
          <a:noFill/>
        </p:spPr>
        <p:txBody>
          <a:bodyPr wrap="square">
            <a:spAutoFit/>
          </a:bodyPr>
          <a:lstStyle/>
          <a:p>
            <a:pPr algn="l"/>
            <a:r>
              <a:rPr sz="1500" b="1" i="0">
                <a:solidFill>
                  <a:srgbClr val="C9D8C5"/>
                </a:solidFill>
                <a:latin typeface="Segoe UI"/>
              </a:rPr>
              <a:t>RAPPORT ESG — SYNTHÈSE EXÉCUTIVE</a:t>
            </a:r>
          </a:p>
        </p:txBody>
      </p:sp>
      <p:sp>
        <p:nvSpPr>
          <p:cNvPr id="6" name="TextBox 5"/>
          <p:cNvSpPr txBox="1"/>
          <p:nvPr/>
        </p:nvSpPr>
        <p:spPr>
          <a:xfrm>
            <a:off x="548640" y="1600200"/>
            <a:ext cx="8412480" cy="1737360"/>
          </a:xfrm>
          <a:prstGeom prst="rect">
            <a:avLst/>
          </a:prstGeom>
          <a:noFill/>
        </p:spPr>
        <p:txBody>
          <a:bodyPr wrap="square">
            <a:spAutoFit/>
          </a:bodyPr>
          <a:lstStyle/>
          <a:p>
            <a:pPr algn="l"/>
            <a:r>
              <a:rPr sz="5200" b="1" i="0">
                <a:solidFill>
                  <a:srgbClr val="F3F0E8"/>
                </a:solidFill>
                <a:latin typeface="Georgia"/>
              </a:rPr>
              <a:t>ACME INDUSTRIES</a:t>
            </a:r>
          </a:p>
        </p:txBody>
      </p:sp>
      <p:sp>
        <p:nvSpPr>
          <p:cNvPr id="7" name="Rectangle 6"/>
          <p:cNvSpPr/>
          <p:nvPr/>
        </p:nvSpPr>
        <p:spPr>
          <a:xfrm>
            <a:off x="594360" y="3429000"/>
            <a:ext cx="1828800" cy="54864"/>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657600"/>
            <a:ext cx="7772400" cy="640080"/>
          </a:xfrm>
          <a:prstGeom prst="rect">
            <a:avLst/>
          </a:prstGeom>
          <a:noFill/>
        </p:spPr>
        <p:txBody>
          <a:bodyPr wrap="square">
            <a:spAutoFit/>
          </a:bodyPr>
          <a:lstStyle/>
          <a:p>
            <a:pPr algn="l"/>
            <a:r>
              <a:rPr sz="2100" b="0" i="1">
                <a:solidFill>
                  <a:srgbClr val="C9D8C5"/>
                </a:solidFill>
                <a:latin typeface="Segoe UI"/>
              </a:rPr>
              <a:t>Une performance ESG solide et engagée</a:t>
            </a:r>
          </a:p>
        </p:txBody>
      </p:sp>
      <p:sp>
        <p:nvSpPr>
          <p:cNvPr id="9" name="TextBox 8"/>
          <p:cNvSpPr txBox="1"/>
          <p:nvPr/>
        </p:nvSpPr>
        <p:spPr>
          <a:xfrm>
            <a:off x="594360" y="5989320"/>
            <a:ext cx="7315200" cy="457200"/>
          </a:xfrm>
          <a:prstGeom prst="rect">
            <a:avLst/>
          </a:prstGeom>
          <a:noFill/>
        </p:spPr>
        <p:txBody>
          <a:bodyPr wrap="square">
            <a:spAutoFit/>
          </a:bodyPr>
          <a:lstStyle/>
          <a:p>
            <a:pPr algn="l"/>
            <a:r>
              <a:rPr sz="1300" b="0" i="0">
                <a:solidFill>
                  <a:srgbClr val="C9D8C5"/>
                </a:solidFill>
                <a:latin typeface="Segoe UI"/>
              </a:rPr>
              <a:t>Exercice 2025   |   Industrie manufacturière   |   France</a:t>
            </a:r>
          </a:p>
        </p:txBody>
      </p:sp>
      <p:sp>
        <p:nvSpPr>
          <p:cNvPr id="10" name="TextBox 9"/>
          <p:cNvSpPr txBox="1"/>
          <p:nvPr/>
        </p:nvSpPr>
        <p:spPr>
          <a:xfrm>
            <a:off x="7818120" y="4892040"/>
            <a:ext cx="2194560" cy="1463040"/>
          </a:xfrm>
          <a:prstGeom prst="rect">
            <a:avLst/>
          </a:prstGeom>
          <a:noFill/>
        </p:spPr>
        <p:txBody>
          <a:bodyPr wrap="square">
            <a:spAutoFit/>
          </a:bodyPr>
          <a:lstStyle/>
          <a:p>
            <a:pPr algn="r"/>
            <a:r>
              <a:rPr sz="8200" b="1" i="0">
                <a:solidFill>
                  <a:srgbClr val="C9D8C5"/>
                </a:solidFill>
                <a:latin typeface="Georgia"/>
              </a:rPr>
              <a:t>66</a:t>
            </a:r>
          </a:p>
        </p:txBody>
      </p:sp>
      <p:sp>
        <p:nvSpPr>
          <p:cNvPr id="11" name="TextBox 10"/>
          <p:cNvSpPr txBox="1"/>
          <p:nvPr/>
        </p:nvSpPr>
        <p:spPr>
          <a:xfrm>
            <a:off x="7818120" y="6172200"/>
            <a:ext cx="2194560" cy="365760"/>
          </a:xfrm>
          <a:prstGeom prst="rect">
            <a:avLst/>
          </a:prstGeom>
          <a:noFill/>
        </p:spPr>
        <p:txBody>
          <a:bodyPr wrap="square">
            <a:spAutoFit/>
          </a:bodyPr>
          <a:lstStyle/>
          <a:p>
            <a:pPr algn="r"/>
            <a:r>
              <a:rPr sz="1400" b="0" i="0">
                <a:solidFill>
                  <a:srgbClr val="C9D8C5"/>
                </a:solidFill>
                <a:latin typeface="Segoe UI"/>
              </a:rPr>
              <a:t>/100</a:t>
            </a:r>
          </a:p>
        </p:txBody>
      </p:sp>
      <p:sp>
        <p:nvSpPr>
          <p:cNvPr id="12" name="Rounded Rectangle 11"/>
          <p:cNvSpPr/>
          <p:nvPr/>
        </p:nvSpPr>
        <p:spPr>
          <a:xfrm>
            <a:off x="10241280" y="5074920"/>
            <a:ext cx="1417320" cy="868680"/>
          </a:xfrm>
          <a:prstGeom prst="round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0" y="5193792"/>
            <a:ext cx="1417320" cy="640080"/>
          </a:xfrm>
          <a:prstGeom prst="rect">
            <a:avLst/>
          </a:prstGeom>
          <a:noFill/>
        </p:spPr>
        <p:txBody>
          <a:bodyPr wrap="square">
            <a:spAutoFit/>
          </a:bodyPr>
          <a:lstStyle/>
          <a:p>
            <a:pPr algn="ctr"/>
            <a:r>
              <a:rPr sz="3200" b="1" i="0">
                <a:solidFill>
                  <a:srgbClr val="1F3D33"/>
                </a:solidFill>
                <a:latin typeface="Georgia"/>
              </a:rPr>
              <a:t>A</a:t>
            </a:r>
          </a:p>
        </p:txBody>
      </p:sp>
      <p:sp>
        <p:nvSpPr>
          <p:cNvPr id="14" name="TextBox 13"/>
          <p:cNvSpPr txBox="1"/>
          <p:nvPr/>
        </p:nvSpPr>
        <p:spPr>
          <a:xfrm>
            <a:off x="640080" y="5989320"/>
            <a:ext cx="10881360" cy="365760"/>
          </a:xfrm>
          <a:prstGeom prst="rect">
            <a:avLst/>
          </a:prstGeom>
          <a:noFill/>
        </p:spPr>
        <p:txBody>
          <a:bodyPr wrap="square">
            <a:spAutoFit/>
          </a:bodyPr>
          <a:lstStyle/>
          <a:p>
            <a:pPr algn="l"/>
            <a:r>
              <a:rPr sz="1200" b="0" i="1">
                <a:solidFill>
                  <a:srgbClr val="C9D8C5"/>
                </a:solidFill>
                <a:latin typeface="Segoe UI"/>
              </a:rPr>
              <a:t>Présenté par J. Martin — Directrice Générale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88952" cy="4023360"/>
          </a:xfrm>
          <a:prstGeom prst="rect">
            <a:avLst/>
          </a:prstGeom>
        </p:spPr>
      </p:pic>
      <p:sp>
        <p:nvSpPr>
          <p:cNvPr id="4" name="TextBox 3"/>
          <p:cNvSpPr txBox="1"/>
          <p:nvPr/>
        </p:nvSpPr>
        <p:spPr>
          <a:xfrm>
            <a:off x="640080" y="4480560"/>
            <a:ext cx="10881360" cy="822960"/>
          </a:xfrm>
          <a:prstGeom prst="rect">
            <a:avLst/>
          </a:prstGeom>
          <a:noFill/>
        </p:spPr>
        <p:txBody>
          <a:bodyPr wrap="square">
            <a:spAutoFit/>
          </a:bodyPr>
          <a:lstStyle/>
          <a:p>
            <a:pPr algn="l"/>
            <a:r>
              <a:rPr sz="3200" b="1" i="0">
                <a:solidFill>
                  <a:srgbClr val="1E2B26"/>
                </a:solidFill>
                <a:latin typeface="Georgia"/>
              </a:rPr>
              <a:t>Rapport ESG 2025</a:t>
            </a:r>
          </a:p>
        </p:txBody>
      </p:sp>
      <p:sp>
        <p:nvSpPr>
          <p:cNvPr id="5" name="TextBox 4"/>
          <p:cNvSpPr txBox="1"/>
          <p:nvPr/>
        </p:nvSpPr>
        <p:spPr>
          <a:xfrm>
            <a:off x="640080" y="5394960"/>
            <a:ext cx="10881360" cy="457200"/>
          </a:xfrm>
          <a:prstGeom prst="rect">
            <a:avLst/>
          </a:prstGeom>
          <a:noFill/>
        </p:spPr>
        <p:txBody>
          <a:bodyPr wrap="square">
            <a:spAutoFit/>
          </a:bodyPr>
          <a:lstStyle/>
          <a:p>
            <a:pPr algn="l"/>
            <a:r>
              <a:rPr sz="1500" b="0" i="0">
                <a:solidFill>
                  <a:srgbClr val="5F6B64"/>
                </a:solidFill>
                <a:latin typeface="Segoe UI"/>
              </a:rPr>
              <a:t>Acme Industries  •  Industrie manufacturière</a:t>
            </a:r>
          </a:p>
        </p:txBody>
      </p:sp>
      <p:sp>
        <p:nvSpPr>
          <p:cNvPr id="6" name="TextBox 5"/>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914400"/>
            <a:ext cx="12188952" cy="411480"/>
          </a:xfrm>
          <a:prstGeom prst="rect">
            <a:avLst/>
          </a:prstGeom>
          <a:noFill/>
        </p:spPr>
        <p:txBody>
          <a:bodyPr wrap="square">
            <a:spAutoFit/>
          </a:bodyPr>
          <a:lstStyle/>
          <a:p>
            <a:pPr algn="ctr"/>
            <a:r>
              <a:rPr sz="1300" b="1" i="0">
                <a:solidFill>
                  <a:srgbClr val="2E5A4B"/>
                </a:solidFill>
                <a:latin typeface="Segoe UI"/>
              </a:rPr>
              <a:t>LE MOT DE LA DIRECTION</a:t>
            </a:r>
          </a:p>
        </p:txBody>
      </p:sp>
      <p:sp>
        <p:nvSpPr>
          <p:cNvPr id="5" name="TextBox 4"/>
          <p:cNvSpPr txBox="1"/>
          <p:nvPr/>
        </p:nvSpPr>
        <p:spPr>
          <a:xfrm>
            <a:off x="822960" y="914400"/>
            <a:ext cx="2743200" cy="2286000"/>
          </a:xfrm>
          <a:prstGeom prst="rect">
            <a:avLst/>
          </a:prstGeom>
          <a:noFill/>
        </p:spPr>
        <p:txBody>
          <a:bodyPr wrap="square">
            <a:spAutoFit/>
          </a:bodyPr>
          <a:lstStyle/>
          <a:p>
            <a:pPr algn="l"/>
            <a:r>
              <a:rPr sz="16000" b="1" i="0">
                <a:solidFill>
                  <a:srgbClr val="E6E6DC"/>
                </a:solidFill>
                <a:latin typeface="Georgia"/>
              </a:rPr>
              <a:t>“</a:t>
            </a:r>
          </a:p>
        </p:txBody>
      </p:sp>
      <p:sp>
        <p:nvSpPr>
          <p:cNvPr id="6" name="TextBox 5"/>
          <p:cNvSpPr txBox="1"/>
          <p:nvPr/>
        </p:nvSpPr>
        <p:spPr>
          <a:xfrm>
            <a:off x="1645920" y="2103120"/>
            <a:ext cx="8897112" cy="2926080"/>
          </a:xfrm>
          <a:prstGeom prst="rect">
            <a:avLst/>
          </a:prstGeom>
          <a:noFill/>
        </p:spPr>
        <p:txBody>
          <a:bodyPr wrap="square">
            <a:spAutoFit/>
          </a:bodyPr>
          <a:lstStyle/>
          <a:p>
            <a:pPr algn="ctr"/>
            <a:r>
              <a:rPr sz="2400" b="0" i="1">
                <a:solidFill>
                  <a:srgbClr val="F3F0E8"/>
                </a:solidFill>
                <a:latin typeface="Georgia"/>
              </a:rPr>
              <a:t>« La performance durable est au cœur de notre stratégie industrielle : chaque euro investi doit créer de la valeur pour nos clients et pour la planète. »</a:t>
            </a:r>
          </a:p>
        </p:txBody>
      </p:sp>
      <p:sp>
        <p:nvSpPr>
          <p:cNvPr id="7" name="Rectangle 6"/>
          <p:cNvSpPr/>
          <p:nvPr/>
        </p:nvSpPr>
        <p:spPr>
          <a:xfrm>
            <a:off x="5408676" y="5212080"/>
            <a:ext cx="1371600" cy="36576"/>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5440680"/>
            <a:ext cx="12188952" cy="457200"/>
          </a:xfrm>
          <a:prstGeom prst="rect">
            <a:avLst/>
          </a:prstGeom>
          <a:noFill/>
        </p:spPr>
        <p:txBody>
          <a:bodyPr wrap="square">
            <a:spAutoFit/>
          </a:bodyPr>
          <a:lstStyle/>
          <a:p>
            <a:pPr algn="ctr"/>
            <a:r>
              <a:rPr sz="1400" b="1" i="0">
                <a:solidFill>
                  <a:srgbClr val="C9D8C5"/>
                </a:solidFill>
                <a:latin typeface="Segoe UI"/>
              </a:rPr>
              <a:t>J. Martin — Directrice Générale</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502920"/>
            <a:ext cx="7315200" cy="731520"/>
          </a:xfrm>
          <a:prstGeom prst="rect">
            <a:avLst/>
          </a:prstGeom>
          <a:noFill/>
        </p:spPr>
        <p:txBody>
          <a:bodyPr wrap="square">
            <a:spAutoFit/>
          </a:bodyPr>
          <a:lstStyle/>
          <a:p>
            <a:pPr algn="l"/>
            <a:r>
              <a:rPr sz="3600" b="1" i="0">
                <a:solidFill>
                  <a:srgbClr val="1E2B26"/>
                </a:solidFill>
                <a:latin typeface="Georgia"/>
              </a:rPr>
              <a:t>SOMMAIRE</a:t>
            </a:r>
          </a:p>
        </p:txBody>
      </p:sp>
      <p:sp>
        <p:nvSpPr>
          <p:cNvPr id="5" name="Rectangle 4"/>
          <p:cNvSpPr/>
          <p:nvPr/>
        </p:nvSpPr>
        <p:spPr>
          <a:xfrm>
            <a:off x="640080" y="1325880"/>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1828800" cy="822960"/>
          </a:xfrm>
          <a:prstGeom prst="rect">
            <a:avLst/>
          </a:prstGeom>
          <a:noFill/>
        </p:spPr>
        <p:txBody>
          <a:bodyPr wrap="square">
            <a:spAutoFit/>
          </a:bodyPr>
          <a:lstStyle/>
          <a:p>
            <a:pPr algn="l"/>
            <a:r>
              <a:rPr sz="4400" b="1" i="0">
                <a:solidFill>
                  <a:srgbClr val="2E5A4B"/>
                </a:solidFill>
                <a:latin typeface="Georgia"/>
              </a:rPr>
              <a:t>01</a:t>
            </a:r>
          </a:p>
        </p:txBody>
      </p:sp>
      <p:sp>
        <p:nvSpPr>
          <p:cNvPr id="8" name="TextBox 7"/>
          <p:cNvSpPr txBox="1"/>
          <p:nvPr/>
        </p:nvSpPr>
        <p:spPr>
          <a:xfrm>
            <a:off x="914400" y="3063240"/>
            <a:ext cx="3063240" cy="411480"/>
          </a:xfrm>
          <a:prstGeom prst="rect">
            <a:avLst/>
          </a:prstGeom>
          <a:noFill/>
        </p:spPr>
        <p:txBody>
          <a:bodyPr wrap="square">
            <a:spAutoFit/>
          </a:bodyPr>
          <a:lstStyle/>
          <a:p>
            <a:pPr algn="l"/>
            <a:r>
              <a:rPr sz="1500" b="1" i="0">
                <a:solidFill>
                  <a:srgbClr val="1E2B26"/>
                </a:solidFill>
                <a:latin typeface="Segoe UI"/>
              </a:rPr>
              <a:t>SITUATION</a:t>
            </a:r>
          </a:p>
        </p:txBody>
      </p:sp>
      <p:sp>
        <p:nvSpPr>
          <p:cNvPr id="9" name="Rectangle 8"/>
          <p:cNvSpPr/>
          <p:nvPr/>
        </p:nvSpPr>
        <p:spPr>
          <a:xfrm>
            <a:off x="91440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03320"/>
            <a:ext cx="3063240" cy="502920"/>
          </a:xfrm>
          <a:prstGeom prst="rect">
            <a:avLst/>
          </a:prstGeom>
          <a:noFill/>
        </p:spPr>
        <p:txBody>
          <a:bodyPr wrap="square">
            <a:spAutoFit/>
          </a:bodyPr>
          <a:lstStyle/>
          <a:p>
            <a:pPr algn="l"/>
            <a:r>
              <a:rPr sz="1200" b="0" i="0">
                <a:solidFill>
                  <a:srgbClr val="1E2B26"/>
                </a:solidFill>
                <a:latin typeface="Segoe UI"/>
              </a:rPr>
              <a:t>—  Synthèse Exécutive</a:t>
            </a:r>
          </a:p>
        </p:txBody>
      </p:sp>
      <p:sp>
        <p:nvSpPr>
          <p:cNvPr id="11" name="TextBox 10"/>
          <p:cNvSpPr txBox="1"/>
          <p:nvPr/>
        </p:nvSpPr>
        <p:spPr>
          <a:xfrm>
            <a:off x="914400" y="4251960"/>
            <a:ext cx="3063240" cy="502920"/>
          </a:xfrm>
          <a:prstGeom prst="rect">
            <a:avLst/>
          </a:prstGeom>
          <a:noFill/>
        </p:spPr>
        <p:txBody>
          <a:bodyPr wrap="square">
            <a:spAutoFit/>
          </a:bodyPr>
          <a:lstStyle/>
          <a:p>
            <a:pPr algn="l"/>
            <a:r>
              <a:rPr sz="1200" b="0" i="0">
                <a:solidFill>
                  <a:srgbClr val="1E2B26"/>
                </a:solidFill>
                <a:latin typeface="Segoe UI"/>
              </a:rPr>
              <a:t>—  Pilier Environnemental</a:t>
            </a:r>
          </a:p>
        </p:txBody>
      </p:sp>
      <p:sp>
        <p:nvSpPr>
          <p:cNvPr id="12" name="TextBox 11"/>
          <p:cNvSpPr txBox="1"/>
          <p:nvPr/>
        </p:nvSpPr>
        <p:spPr>
          <a:xfrm>
            <a:off x="914400" y="4800600"/>
            <a:ext cx="3063240" cy="502920"/>
          </a:xfrm>
          <a:prstGeom prst="rect">
            <a:avLst/>
          </a:prstGeom>
          <a:noFill/>
        </p:spPr>
        <p:txBody>
          <a:bodyPr wrap="square">
            <a:spAutoFit/>
          </a:bodyPr>
          <a:lstStyle/>
          <a:p>
            <a:pPr algn="l"/>
            <a:r>
              <a:rPr sz="1200" b="0" i="0">
                <a:solidFill>
                  <a:srgbClr val="1E2B26"/>
                </a:solidFill>
                <a:latin typeface="Segoe UI"/>
              </a:rPr>
              <a:t>—  Pilier Social</a:t>
            </a:r>
          </a:p>
        </p:txBody>
      </p:sp>
      <p:sp>
        <p:nvSpPr>
          <p:cNvPr id="13" name="TextBox 12"/>
          <p:cNvSpPr txBox="1"/>
          <p:nvPr/>
        </p:nvSpPr>
        <p:spPr>
          <a:xfrm>
            <a:off x="914400" y="5349240"/>
            <a:ext cx="3063240" cy="502920"/>
          </a:xfrm>
          <a:prstGeom prst="rect">
            <a:avLst/>
          </a:prstGeom>
          <a:noFill/>
        </p:spPr>
        <p:txBody>
          <a:bodyPr wrap="square">
            <a:spAutoFit/>
          </a:bodyPr>
          <a:lstStyle/>
          <a:p>
            <a:pPr algn="l"/>
            <a:r>
              <a:rPr sz="1200" b="0" i="0">
                <a:solidFill>
                  <a:srgbClr val="1E2B26"/>
                </a:solidFill>
                <a:latin typeface="Segoe UI"/>
              </a:rPr>
              <a:t>—  Pilier Gouvernance</a:t>
            </a:r>
          </a:p>
        </p:txBody>
      </p:sp>
      <p:sp>
        <p:nvSpPr>
          <p:cNvPr id="14" name="Rectangle 13"/>
          <p:cNvSpPr/>
          <p:nvPr/>
        </p:nvSpPr>
        <p:spPr>
          <a:xfrm>
            <a:off x="443484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148840"/>
            <a:ext cx="1828800" cy="822960"/>
          </a:xfrm>
          <a:prstGeom prst="rect">
            <a:avLst/>
          </a:prstGeom>
          <a:noFill/>
        </p:spPr>
        <p:txBody>
          <a:bodyPr wrap="square">
            <a:spAutoFit/>
          </a:bodyPr>
          <a:lstStyle/>
          <a:p>
            <a:pPr algn="l"/>
            <a:r>
              <a:rPr sz="4400" b="1" i="0">
                <a:solidFill>
                  <a:srgbClr val="2E5A4B"/>
                </a:solidFill>
                <a:latin typeface="Georgia"/>
              </a:rPr>
              <a:t>02</a:t>
            </a:r>
          </a:p>
        </p:txBody>
      </p:sp>
      <p:sp>
        <p:nvSpPr>
          <p:cNvPr id="16" name="TextBox 15"/>
          <p:cNvSpPr txBox="1"/>
          <p:nvPr/>
        </p:nvSpPr>
        <p:spPr>
          <a:xfrm>
            <a:off x="4754880" y="3063240"/>
            <a:ext cx="3063240" cy="411480"/>
          </a:xfrm>
          <a:prstGeom prst="rect">
            <a:avLst/>
          </a:prstGeom>
          <a:noFill/>
        </p:spPr>
        <p:txBody>
          <a:bodyPr wrap="square">
            <a:spAutoFit/>
          </a:bodyPr>
          <a:lstStyle/>
          <a:p>
            <a:pPr algn="l"/>
            <a:r>
              <a:rPr sz="1500" b="1" i="0">
                <a:solidFill>
                  <a:srgbClr val="1E2B26"/>
                </a:solidFill>
                <a:latin typeface="Segoe UI"/>
              </a:rPr>
              <a:t>DIAGNOSTIC</a:t>
            </a:r>
          </a:p>
        </p:txBody>
      </p:sp>
      <p:sp>
        <p:nvSpPr>
          <p:cNvPr id="17" name="Rectangle 16"/>
          <p:cNvSpPr/>
          <p:nvPr/>
        </p:nvSpPr>
        <p:spPr>
          <a:xfrm>
            <a:off x="475488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703320"/>
            <a:ext cx="3063240" cy="502920"/>
          </a:xfrm>
          <a:prstGeom prst="rect">
            <a:avLst/>
          </a:prstGeom>
          <a:noFill/>
        </p:spPr>
        <p:txBody>
          <a:bodyPr wrap="square">
            <a:spAutoFit/>
          </a:bodyPr>
          <a:lstStyle/>
          <a:p>
            <a:pPr algn="l"/>
            <a:r>
              <a:rPr sz="1200" b="0" i="0">
                <a:solidFill>
                  <a:srgbClr val="1E2B26"/>
                </a:solidFill>
                <a:latin typeface="Segoe UI"/>
              </a:rPr>
              <a:t>—  Positionnement</a:t>
            </a:r>
          </a:p>
        </p:txBody>
      </p:sp>
      <p:sp>
        <p:nvSpPr>
          <p:cNvPr id="19" name="TextBox 18"/>
          <p:cNvSpPr txBox="1"/>
          <p:nvPr/>
        </p:nvSpPr>
        <p:spPr>
          <a:xfrm>
            <a:off x="4754880" y="4251960"/>
            <a:ext cx="3063240" cy="502920"/>
          </a:xfrm>
          <a:prstGeom prst="rect">
            <a:avLst/>
          </a:prstGeom>
          <a:noFill/>
        </p:spPr>
        <p:txBody>
          <a:bodyPr wrap="square">
            <a:spAutoFit/>
          </a:bodyPr>
          <a:lstStyle/>
          <a:p>
            <a:pPr algn="l"/>
            <a:r>
              <a:rPr sz="1200" b="0" i="0">
                <a:solidFill>
                  <a:srgbClr val="1E2B26"/>
                </a:solidFill>
                <a:latin typeface="Segoe UI"/>
              </a:rPr>
              <a:t>—  Risques &amp; Opportunités</a:t>
            </a:r>
          </a:p>
        </p:txBody>
      </p:sp>
      <p:sp>
        <p:nvSpPr>
          <p:cNvPr id="20" name="TextBox 19"/>
          <p:cNvSpPr txBox="1"/>
          <p:nvPr/>
        </p:nvSpPr>
        <p:spPr>
          <a:xfrm>
            <a:off x="4754880" y="4800600"/>
            <a:ext cx="3063240" cy="502920"/>
          </a:xfrm>
          <a:prstGeom prst="rect">
            <a:avLst/>
          </a:prstGeom>
          <a:noFill/>
        </p:spPr>
        <p:txBody>
          <a:bodyPr wrap="square">
            <a:spAutoFit/>
          </a:bodyPr>
          <a:lstStyle/>
          <a:p>
            <a:pPr algn="l"/>
            <a:r>
              <a:rPr sz="1200" b="0" i="0">
                <a:solidFill>
                  <a:srgbClr val="1E2B26"/>
                </a:solidFill>
                <a:latin typeface="Segoe UI"/>
              </a:rPr>
              <a:t>—  Analyse Stratégique ESG</a:t>
            </a:r>
          </a:p>
        </p:txBody>
      </p:sp>
      <p:sp>
        <p:nvSpPr>
          <p:cNvPr id="21" name="Rectangle 20"/>
          <p:cNvSpPr/>
          <p:nvPr/>
        </p:nvSpPr>
        <p:spPr>
          <a:xfrm>
            <a:off x="827532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148840"/>
            <a:ext cx="1828800" cy="822960"/>
          </a:xfrm>
          <a:prstGeom prst="rect">
            <a:avLst/>
          </a:prstGeom>
          <a:noFill/>
        </p:spPr>
        <p:txBody>
          <a:bodyPr wrap="square">
            <a:spAutoFit/>
          </a:bodyPr>
          <a:lstStyle/>
          <a:p>
            <a:pPr algn="l"/>
            <a:r>
              <a:rPr sz="4400" b="1" i="0">
                <a:solidFill>
                  <a:srgbClr val="2E5A4B"/>
                </a:solidFill>
                <a:latin typeface="Georgia"/>
              </a:rPr>
              <a:t>03</a:t>
            </a:r>
          </a:p>
        </p:txBody>
      </p:sp>
      <p:sp>
        <p:nvSpPr>
          <p:cNvPr id="23" name="TextBox 22"/>
          <p:cNvSpPr txBox="1"/>
          <p:nvPr/>
        </p:nvSpPr>
        <p:spPr>
          <a:xfrm>
            <a:off x="8595360" y="3063240"/>
            <a:ext cx="3063240" cy="411480"/>
          </a:xfrm>
          <a:prstGeom prst="rect">
            <a:avLst/>
          </a:prstGeom>
          <a:noFill/>
        </p:spPr>
        <p:txBody>
          <a:bodyPr wrap="square">
            <a:spAutoFit/>
          </a:bodyPr>
          <a:lstStyle/>
          <a:p>
            <a:pPr algn="l"/>
            <a:r>
              <a:rPr sz="1500" b="1" i="0">
                <a:solidFill>
                  <a:srgbClr val="1E2B26"/>
                </a:solidFill>
                <a:latin typeface="Segoe UI"/>
              </a:rPr>
              <a:t>PLAN D'ACTION</a:t>
            </a:r>
          </a:p>
        </p:txBody>
      </p:sp>
      <p:sp>
        <p:nvSpPr>
          <p:cNvPr id="24" name="Rectangle 23"/>
          <p:cNvSpPr/>
          <p:nvPr/>
        </p:nvSpPr>
        <p:spPr>
          <a:xfrm>
            <a:off x="859536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703320"/>
            <a:ext cx="3063240" cy="502920"/>
          </a:xfrm>
          <a:prstGeom prst="rect">
            <a:avLst/>
          </a:prstGeom>
          <a:noFill/>
        </p:spPr>
        <p:txBody>
          <a:bodyPr wrap="square">
            <a:spAutoFit/>
          </a:bodyPr>
          <a:lstStyle/>
          <a:p>
            <a:pPr algn="l"/>
            <a:r>
              <a:rPr sz="1200" b="0" i="0">
                <a:solidFill>
                  <a:srgbClr val="1E2B26"/>
                </a:solidFill>
                <a:latin typeface="Segoe UI"/>
              </a:rPr>
              <a:t>—  Recommandations Prioritaires</a:t>
            </a:r>
          </a:p>
        </p:txBody>
      </p:sp>
      <p:sp>
        <p:nvSpPr>
          <p:cNvPr id="26" name="TextBox 25"/>
          <p:cNvSpPr txBox="1"/>
          <p:nvPr/>
        </p:nvSpPr>
        <p:spPr>
          <a:xfrm>
            <a:off x="8595360" y="4251960"/>
            <a:ext cx="3063240" cy="502920"/>
          </a:xfrm>
          <a:prstGeom prst="rect">
            <a:avLst/>
          </a:prstGeom>
          <a:noFill/>
        </p:spPr>
        <p:txBody>
          <a:bodyPr wrap="square">
            <a:spAutoFit/>
          </a:bodyPr>
          <a:lstStyle/>
          <a:p>
            <a:pPr algn="l"/>
            <a:r>
              <a:rPr sz="1200" b="0" i="0">
                <a:solidFill>
                  <a:srgbClr val="1E2B26"/>
                </a:solidFill>
                <a:latin typeface="Segoe UI"/>
              </a:rPr>
              <a:t>—  Un plan d'action ESG sur 12 mois</a:t>
            </a:r>
          </a:p>
        </p:txBody>
      </p:sp>
      <p:sp>
        <p:nvSpPr>
          <p:cNvPr id="27" name="TextBox 26"/>
          <p:cNvSpPr txBox="1"/>
          <p:nvPr/>
        </p:nvSpPr>
        <p:spPr>
          <a:xfrm>
            <a:off x="8595360" y="4800600"/>
            <a:ext cx="3063240" cy="502920"/>
          </a:xfrm>
          <a:prstGeom prst="rect">
            <a:avLst/>
          </a:prstGeom>
          <a:noFill/>
        </p:spPr>
        <p:txBody>
          <a:bodyPr wrap="square">
            <a:spAutoFit/>
          </a:bodyPr>
          <a:lstStyle/>
          <a:p>
            <a:pPr algn="l"/>
            <a:r>
              <a:rPr sz="1200" b="0" i="0">
                <a:solidFill>
                  <a:srgbClr val="1E2B26"/>
                </a:solidFill>
                <a:latin typeface="Segoe UI"/>
              </a:rPr>
              <a:t>—  Conclusion &amp; Engagements</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43400"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70248" y="0"/>
            <a:ext cx="7315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85800"/>
            <a:ext cx="3566160" cy="457200"/>
          </a:xfrm>
          <a:prstGeom prst="rect">
            <a:avLst/>
          </a:prstGeom>
          <a:noFill/>
        </p:spPr>
        <p:txBody>
          <a:bodyPr wrap="square">
            <a:spAutoFit/>
          </a:bodyPr>
          <a:lstStyle/>
          <a:p>
            <a:pPr algn="l"/>
            <a:r>
              <a:rPr sz="1300" b="1" i="0">
                <a:solidFill>
                  <a:srgbClr val="2E5A4B"/>
                </a:solidFill>
                <a:latin typeface="Segoe UI"/>
              </a:rPr>
              <a:t>SYNTHÈSE ESG 2025</a:t>
            </a:r>
          </a:p>
        </p:txBody>
      </p:sp>
      <p:sp>
        <p:nvSpPr>
          <p:cNvPr id="6" name="TextBox 5"/>
          <p:cNvSpPr txBox="1"/>
          <p:nvPr/>
        </p:nvSpPr>
        <p:spPr>
          <a:xfrm>
            <a:off x="182880" y="1691640"/>
            <a:ext cx="3977639" cy="1920240"/>
          </a:xfrm>
          <a:prstGeom prst="rect">
            <a:avLst/>
          </a:prstGeom>
          <a:noFill/>
        </p:spPr>
        <p:txBody>
          <a:bodyPr wrap="square">
            <a:spAutoFit/>
          </a:bodyPr>
          <a:lstStyle/>
          <a:p>
            <a:pPr algn="ctr"/>
            <a:r>
              <a:rPr sz="12500" b="1" i="0">
                <a:solidFill>
                  <a:srgbClr val="FFFFFF"/>
                </a:solidFill>
                <a:latin typeface="Georgia"/>
              </a:rPr>
              <a:t>66</a:t>
            </a:r>
          </a:p>
        </p:txBody>
      </p:sp>
      <p:sp>
        <p:nvSpPr>
          <p:cNvPr id="7" name="TextBox 6"/>
          <p:cNvSpPr txBox="1"/>
          <p:nvPr/>
        </p:nvSpPr>
        <p:spPr>
          <a:xfrm>
            <a:off x="182880" y="3611880"/>
            <a:ext cx="3977639" cy="502920"/>
          </a:xfrm>
          <a:prstGeom prst="rect">
            <a:avLst/>
          </a:prstGeom>
          <a:noFill/>
        </p:spPr>
        <p:txBody>
          <a:bodyPr wrap="square">
            <a:spAutoFit/>
          </a:bodyPr>
          <a:lstStyle/>
          <a:p>
            <a:pPr algn="ctr"/>
            <a:r>
              <a:rPr sz="2200" b="0" i="0">
                <a:solidFill>
                  <a:srgbClr val="C9D8C5"/>
                </a:solidFill>
                <a:latin typeface="Segoe UI"/>
              </a:rPr>
              <a:t>/ 100</a:t>
            </a:r>
          </a:p>
        </p:txBody>
      </p:sp>
      <p:sp>
        <p:nvSpPr>
          <p:cNvPr id="8" name="Rounded Rectangle 7"/>
          <p:cNvSpPr/>
          <p:nvPr/>
        </p:nvSpPr>
        <p:spPr>
          <a:xfrm>
            <a:off x="1417320" y="4343400"/>
            <a:ext cx="1508760" cy="777240"/>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4480560"/>
            <a:ext cx="1508760" cy="548640"/>
          </a:xfrm>
          <a:prstGeom prst="rect">
            <a:avLst/>
          </a:prstGeom>
          <a:noFill/>
        </p:spPr>
        <p:txBody>
          <a:bodyPr wrap="square">
            <a:spAutoFit/>
          </a:bodyPr>
          <a:lstStyle/>
          <a:p>
            <a:pPr algn="ctr"/>
            <a:r>
              <a:rPr sz="3000" b="1" i="0">
                <a:solidFill>
                  <a:srgbClr val="1F3D33"/>
                </a:solidFill>
                <a:latin typeface="Georgia"/>
              </a:rPr>
              <a:t>A</a:t>
            </a:r>
          </a:p>
        </p:txBody>
      </p:sp>
      <p:sp>
        <p:nvSpPr>
          <p:cNvPr id="10" name="TextBox 9"/>
          <p:cNvSpPr txBox="1"/>
          <p:nvPr/>
        </p:nvSpPr>
        <p:spPr>
          <a:xfrm>
            <a:off x="182880" y="5349240"/>
            <a:ext cx="3977639" cy="365760"/>
          </a:xfrm>
          <a:prstGeom prst="rect">
            <a:avLst/>
          </a:prstGeom>
          <a:noFill/>
        </p:spPr>
        <p:txBody>
          <a:bodyPr wrap="square">
            <a:spAutoFit/>
          </a:bodyPr>
          <a:lstStyle/>
          <a:p>
            <a:pPr algn="ctr"/>
            <a:r>
              <a:rPr sz="1200" b="1" i="0">
                <a:solidFill>
                  <a:srgbClr val="C9D8C5"/>
                </a:solidFill>
                <a:latin typeface="Segoe UI"/>
              </a:rPr>
              <a:t>SCORE ESG GLOBAL</a:t>
            </a:r>
          </a:p>
        </p:txBody>
      </p:sp>
      <p:sp>
        <p:nvSpPr>
          <p:cNvPr id="11" name="TextBox 10"/>
          <p:cNvSpPr txBox="1"/>
          <p:nvPr/>
        </p:nvSpPr>
        <p:spPr>
          <a:xfrm>
            <a:off x="182880" y="5760720"/>
            <a:ext cx="3977639" cy="365760"/>
          </a:xfrm>
          <a:prstGeom prst="rect">
            <a:avLst/>
          </a:prstGeom>
          <a:noFill/>
        </p:spPr>
        <p:txBody>
          <a:bodyPr wrap="square">
            <a:spAutoFit/>
          </a:bodyPr>
          <a:lstStyle/>
          <a:p>
            <a:pPr algn="ctr"/>
            <a:r>
              <a:rPr sz="1400" b="1" i="0">
                <a:solidFill>
                  <a:srgbClr val="4CAF50"/>
                </a:solidFill>
                <a:latin typeface="Segoe UI"/>
              </a:rPr>
              <a:t>+10 pts  vs 2024</a:t>
            </a:r>
          </a:p>
        </p:txBody>
      </p:sp>
      <p:sp>
        <p:nvSpPr>
          <p:cNvPr id="12" name="TextBox 11"/>
          <p:cNvSpPr txBox="1"/>
          <p:nvPr/>
        </p:nvSpPr>
        <p:spPr>
          <a:xfrm>
            <a:off x="4754880" y="594360"/>
            <a:ext cx="7223760" cy="822960"/>
          </a:xfrm>
          <a:prstGeom prst="rect">
            <a:avLst/>
          </a:prstGeom>
          <a:noFill/>
        </p:spPr>
        <p:txBody>
          <a:bodyPr wrap="square">
            <a:spAutoFit/>
          </a:bodyPr>
          <a:lstStyle/>
          <a:p>
            <a:pPr algn="l"/>
            <a:r>
              <a:rPr sz="3400" b="1" i="0">
                <a:solidFill>
                  <a:srgbClr val="1E2B26"/>
                </a:solidFill>
                <a:latin typeface="Georgia"/>
              </a:rPr>
              <a:t>Synthèse Exécutive</a:t>
            </a:r>
          </a:p>
        </p:txBody>
      </p:sp>
      <p:sp>
        <p:nvSpPr>
          <p:cNvPr id="13" name="Rectangle 12"/>
          <p:cNvSpPr/>
          <p:nvPr/>
        </p:nvSpPr>
        <p:spPr>
          <a:xfrm>
            <a:off x="4782312" y="1481328"/>
            <a:ext cx="146304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37360"/>
            <a:ext cx="7178040" cy="1371600"/>
          </a:xfrm>
          <a:prstGeom prst="rect">
            <a:avLst/>
          </a:prstGeom>
          <a:noFill/>
        </p:spPr>
        <p:txBody>
          <a:bodyPr wrap="square">
            <a:spAutoFit/>
          </a:bodyPr>
          <a:lstStyle/>
          <a:p>
            <a:pPr algn="l"/>
            <a:r>
              <a:rPr sz="1600" b="0" i="0">
                <a:solidFill>
                  <a:srgbClr val="1E2B26"/>
                </a:solidFill>
                <a:latin typeface="Segoe UI"/>
              </a:rPr>
              <a:t>Acme Industries affiche un profil ESG solide (66/100, A), porté par la gouvernance (75/100) ; le social (55/100) concentre le potentiel de progression.</a:t>
            </a:r>
          </a:p>
        </p:txBody>
      </p:sp>
      <p:sp>
        <p:nvSpPr>
          <p:cNvPr id="15" name="TextBox 14"/>
          <p:cNvSpPr txBox="1"/>
          <p:nvPr/>
        </p:nvSpPr>
        <p:spPr>
          <a:xfrm>
            <a:off x="4754880" y="3200400"/>
            <a:ext cx="3657600" cy="365760"/>
          </a:xfrm>
          <a:prstGeom prst="rect">
            <a:avLst/>
          </a:prstGeom>
          <a:noFill/>
        </p:spPr>
        <p:txBody>
          <a:bodyPr wrap="square">
            <a:spAutoFit/>
          </a:bodyPr>
          <a:lstStyle/>
          <a:p>
            <a:pPr algn="l"/>
            <a:r>
              <a:rPr sz="1200" b="1" i="0">
                <a:solidFill>
                  <a:srgbClr val="5F6B64"/>
                </a:solidFill>
                <a:latin typeface="Segoe UI"/>
              </a:rPr>
              <a:t>PERFORMANCE PAR PILIER</a:t>
            </a:r>
          </a:p>
        </p:txBody>
      </p:sp>
      <p:sp>
        <p:nvSpPr>
          <p:cNvPr id="16" name="TextBox 15"/>
          <p:cNvSpPr txBox="1"/>
          <p:nvPr/>
        </p:nvSpPr>
        <p:spPr>
          <a:xfrm>
            <a:off x="4754880" y="3703320"/>
            <a:ext cx="3108960" cy="292608"/>
          </a:xfrm>
          <a:prstGeom prst="rect">
            <a:avLst/>
          </a:prstGeom>
          <a:noFill/>
        </p:spPr>
        <p:txBody>
          <a:bodyPr wrap="square">
            <a:spAutoFit/>
          </a:bodyPr>
          <a:lstStyle/>
          <a:p>
            <a:pPr algn="l"/>
            <a:r>
              <a:rPr sz="1250" b="1" i="0">
                <a:solidFill>
                  <a:srgbClr val="1E2B26"/>
                </a:solidFill>
                <a:latin typeface="Segoe UI"/>
              </a:rPr>
              <a:t>Environnement</a:t>
            </a:r>
          </a:p>
        </p:txBody>
      </p:sp>
      <p:sp>
        <p:nvSpPr>
          <p:cNvPr id="17" name="TextBox 16"/>
          <p:cNvSpPr txBox="1"/>
          <p:nvPr/>
        </p:nvSpPr>
        <p:spPr>
          <a:xfrm>
            <a:off x="7315200" y="3703320"/>
            <a:ext cx="548640" cy="292608"/>
          </a:xfrm>
          <a:prstGeom prst="rect">
            <a:avLst/>
          </a:prstGeom>
          <a:noFill/>
        </p:spPr>
        <p:txBody>
          <a:bodyPr wrap="square">
            <a:spAutoFit/>
          </a:bodyPr>
          <a:lstStyle/>
          <a:p>
            <a:pPr algn="r"/>
            <a:r>
              <a:rPr sz="1300" b="1" i="0">
                <a:solidFill>
                  <a:srgbClr val="2F6B4F"/>
                </a:solidFill>
                <a:latin typeface="Georgia"/>
              </a:rPr>
              <a:t>70</a:t>
            </a:r>
          </a:p>
        </p:txBody>
      </p:sp>
      <p:sp>
        <p:nvSpPr>
          <p:cNvPr id="18" name="Rounded Rectangle 17"/>
          <p:cNvSpPr/>
          <p:nvPr/>
        </p:nvSpPr>
        <p:spPr>
          <a:xfrm>
            <a:off x="4754880" y="4032504"/>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754880" y="4032504"/>
            <a:ext cx="2176272" cy="155448"/>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0" y="4544568"/>
            <a:ext cx="3108960" cy="292608"/>
          </a:xfrm>
          <a:prstGeom prst="rect">
            <a:avLst/>
          </a:prstGeom>
          <a:noFill/>
        </p:spPr>
        <p:txBody>
          <a:bodyPr wrap="square">
            <a:spAutoFit/>
          </a:bodyPr>
          <a:lstStyle/>
          <a:p>
            <a:pPr algn="l"/>
            <a:r>
              <a:rPr sz="1250" b="1" i="0">
                <a:solidFill>
                  <a:srgbClr val="1E2B26"/>
                </a:solidFill>
                <a:latin typeface="Segoe UI"/>
              </a:rPr>
              <a:t>Social</a:t>
            </a:r>
          </a:p>
        </p:txBody>
      </p:sp>
      <p:sp>
        <p:nvSpPr>
          <p:cNvPr id="21" name="TextBox 20"/>
          <p:cNvSpPr txBox="1"/>
          <p:nvPr/>
        </p:nvSpPr>
        <p:spPr>
          <a:xfrm>
            <a:off x="7315200" y="4544568"/>
            <a:ext cx="548640" cy="292608"/>
          </a:xfrm>
          <a:prstGeom prst="rect">
            <a:avLst/>
          </a:prstGeom>
          <a:noFill/>
        </p:spPr>
        <p:txBody>
          <a:bodyPr wrap="square">
            <a:spAutoFit/>
          </a:bodyPr>
          <a:lstStyle/>
          <a:p>
            <a:pPr algn="r"/>
            <a:r>
              <a:rPr sz="1300" b="1" i="0">
                <a:solidFill>
                  <a:srgbClr val="3D6A8A"/>
                </a:solidFill>
                <a:latin typeface="Georgia"/>
              </a:rPr>
              <a:t>55</a:t>
            </a:r>
          </a:p>
        </p:txBody>
      </p:sp>
      <p:sp>
        <p:nvSpPr>
          <p:cNvPr id="22" name="Rounded Rectangle 21"/>
          <p:cNvSpPr/>
          <p:nvPr/>
        </p:nvSpPr>
        <p:spPr>
          <a:xfrm>
            <a:off x="4754880" y="4873752"/>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0" y="4873752"/>
            <a:ext cx="1709928" cy="155448"/>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0" y="5385816"/>
            <a:ext cx="3108960" cy="292608"/>
          </a:xfrm>
          <a:prstGeom prst="rect">
            <a:avLst/>
          </a:prstGeom>
          <a:noFill/>
        </p:spPr>
        <p:txBody>
          <a:bodyPr wrap="square">
            <a:spAutoFit/>
          </a:bodyPr>
          <a:lstStyle/>
          <a:p>
            <a:pPr algn="l"/>
            <a:r>
              <a:rPr sz="1250" b="1" i="0">
                <a:solidFill>
                  <a:srgbClr val="1E2B26"/>
                </a:solidFill>
                <a:latin typeface="Segoe UI"/>
              </a:rPr>
              <a:t>Gouvernance</a:t>
            </a:r>
          </a:p>
        </p:txBody>
      </p:sp>
      <p:sp>
        <p:nvSpPr>
          <p:cNvPr id="25" name="TextBox 24"/>
          <p:cNvSpPr txBox="1"/>
          <p:nvPr/>
        </p:nvSpPr>
        <p:spPr>
          <a:xfrm>
            <a:off x="7315200" y="5385816"/>
            <a:ext cx="548640" cy="292608"/>
          </a:xfrm>
          <a:prstGeom prst="rect">
            <a:avLst/>
          </a:prstGeom>
          <a:noFill/>
        </p:spPr>
        <p:txBody>
          <a:bodyPr wrap="square">
            <a:spAutoFit/>
          </a:bodyPr>
          <a:lstStyle/>
          <a:p>
            <a:pPr algn="r"/>
            <a:r>
              <a:rPr sz="1300" b="1" i="0">
                <a:solidFill>
                  <a:srgbClr val="6B5B86"/>
                </a:solidFill>
                <a:latin typeface="Georgia"/>
              </a:rPr>
              <a:t>75</a:t>
            </a:r>
          </a:p>
        </p:txBody>
      </p:sp>
      <p:sp>
        <p:nvSpPr>
          <p:cNvPr id="26" name="Rounded Rectangle 25"/>
          <p:cNvSpPr/>
          <p:nvPr/>
        </p:nvSpPr>
        <p:spPr>
          <a:xfrm>
            <a:off x="4754880" y="5715000"/>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754880" y="5715000"/>
            <a:ext cx="2331720" cy="155448"/>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457200"/>
          </a:xfrm>
          <a:prstGeom prst="rect">
            <a:avLst/>
          </a:prstGeom>
          <a:noFill/>
        </p:spPr>
        <p:txBody>
          <a:bodyPr wrap="square">
            <a:spAutoFit/>
          </a:bodyPr>
          <a:lstStyle/>
          <a:p>
            <a:pPr algn="l"/>
            <a:r>
              <a:rPr sz="1400" b="1" i="0">
                <a:solidFill>
                  <a:srgbClr val="2E5A4B"/>
                </a:solidFill>
                <a:latin typeface="Segoe UI"/>
              </a:rPr>
              <a:t>L'ANALYSE DU CONSULTANT</a:t>
            </a:r>
          </a:p>
        </p:txBody>
      </p:sp>
      <p:sp>
        <p:nvSpPr>
          <p:cNvPr id="5" name="Rectangle 4"/>
          <p:cNvSpPr/>
          <p:nvPr/>
        </p:nvSpPr>
        <p:spPr>
          <a:xfrm>
            <a:off x="685800" y="132588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10789920" cy="4206240"/>
          </a:xfrm>
          <a:prstGeom prst="rect">
            <a:avLst/>
          </a:prstGeom>
          <a:noFill/>
        </p:spPr>
        <p:txBody>
          <a:bodyPr wrap="square">
            <a:spAutoFit/>
          </a:bodyPr>
          <a:lstStyle/>
          <a:p>
            <a:pPr algn="l"/>
            <a:r>
              <a:rPr sz="1900" b="0" i="1">
                <a:solidFill>
                  <a:srgbClr val="1E2B26"/>
                </a:solidFill>
                <a:latin typeface="Georgia"/>
              </a:rPr>
              <a:t>La priorité 2026 est la fiabilisation du reporting énergie avant l'audit de certification prévu au troisième trimestre.</a:t>
            </a:r>
          </a:p>
        </p:txBody>
      </p:sp>
      <p:sp>
        <p:nvSpPr>
          <p:cNvPr id="7" name="TextBox 6"/>
          <p:cNvSpPr txBox="1"/>
          <p:nvPr/>
        </p:nvSpPr>
        <p:spPr>
          <a:xfrm>
            <a:off x="685800" y="6035040"/>
            <a:ext cx="10789920" cy="365760"/>
          </a:xfrm>
          <a:prstGeom prst="rect">
            <a:avLst/>
          </a:prstGeom>
          <a:noFill/>
        </p:spPr>
        <p:txBody>
          <a:bodyPr wrap="square">
            <a:spAutoFit/>
          </a:bodyPr>
          <a:lstStyle/>
          <a:p>
            <a:pPr algn="l"/>
            <a:r>
              <a:rPr sz="1200" b="1" i="0">
                <a:solidFill>
                  <a:srgbClr val="5F6B64"/>
                </a:solidFill>
                <a:latin typeface="Segoe UI"/>
              </a:rPr>
              <a:t>J. Martin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01</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DIAGNOSTIC</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Où vous situez-vous, et face à qui ?</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La gouvernance est le point fort d'Acme Industries, le social sa priorité</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554480"/>
            <a:ext cx="6858000" cy="4205907"/>
          </a:xfrm>
          <a:prstGeom prst="rect">
            <a:avLst/>
          </a:prstGeom>
        </p:spPr>
      </p:pic>
      <p:sp>
        <p:nvSpPr>
          <p:cNvPr id="7" name="Rounded Rectangle 6"/>
          <p:cNvSpPr/>
          <p:nvPr/>
        </p:nvSpPr>
        <p:spPr>
          <a:xfrm>
            <a:off x="7452360" y="1600200"/>
            <a:ext cx="4434840" cy="21488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82296" cy="21488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80" y="1764792"/>
            <a:ext cx="397764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7726680" y="2148840"/>
            <a:ext cx="3931920" cy="1554480"/>
          </a:xfrm>
          <a:prstGeom prst="rect">
            <a:avLst/>
          </a:prstGeom>
          <a:noFill/>
        </p:spPr>
        <p:txBody>
          <a:bodyPr wrap="square">
            <a:spAutoFit/>
          </a:bodyPr>
          <a:lstStyle/>
          <a:p>
            <a:pPr algn="l"/>
            <a:r>
              <a:rPr sz="1400" b="0" i="0">
                <a:solidFill>
                  <a:srgbClr val="1E2B26"/>
                </a:solidFill>
                <a:latin typeface="Segoe UI"/>
              </a:rPr>
              <a:t>20 points séparent votre pilier le plus solide du plus fragile — l'écart interne à réduire en priorité.</a:t>
            </a:r>
          </a:p>
        </p:txBody>
      </p:sp>
      <p:sp>
        <p:nvSpPr>
          <p:cNvPr id="11" name="TextBox 10"/>
          <p:cNvSpPr txBox="1"/>
          <p:nvPr/>
        </p:nvSpPr>
        <p:spPr>
          <a:xfrm>
            <a:off x="7470648" y="4023360"/>
            <a:ext cx="4434840" cy="320040"/>
          </a:xfrm>
          <a:prstGeom prst="rect">
            <a:avLst/>
          </a:prstGeom>
          <a:noFill/>
        </p:spPr>
        <p:txBody>
          <a:bodyPr wrap="square">
            <a:spAutoFit/>
          </a:bodyPr>
          <a:lstStyle/>
          <a:p>
            <a:pPr algn="l"/>
            <a:r>
              <a:rPr sz="1200" b="1" i="0">
                <a:solidFill>
                  <a:srgbClr val="5F6B64"/>
                </a:solidFill>
                <a:latin typeface="Segoe UI"/>
              </a:rPr>
              <a:t>MATURITÉ ESG</a:t>
            </a:r>
          </a:p>
        </p:txBody>
      </p:sp>
      <p:sp>
        <p:nvSpPr>
          <p:cNvPr id="12" name="Rounded Rectangle 11"/>
          <p:cNvSpPr/>
          <p:nvPr/>
        </p:nvSpPr>
        <p:spPr>
          <a:xfrm>
            <a:off x="7452360"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4480560"/>
            <a:ext cx="841248" cy="365760"/>
          </a:xfrm>
          <a:prstGeom prst="rect">
            <a:avLst/>
          </a:prstGeom>
          <a:noFill/>
        </p:spPr>
        <p:txBody>
          <a:bodyPr wrap="square">
            <a:spAutoFit/>
          </a:bodyPr>
          <a:lstStyle/>
          <a:p>
            <a:pPr algn="ctr"/>
            <a:r>
              <a:rPr sz="1400" b="1" i="0">
                <a:solidFill>
                  <a:srgbClr val="5F6B64"/>
                </a:solidFill>
                <a:latin typeface="Georgia"/>
              </a:rPr>
              <a:t>1</a:t>
            </a:r>
          </a:p>
        </p:txBody>
      </p:sp>
      <p:sp>
        <p:nvSpPr>
          <p:cNvPr id="14" name="Rounded Rectangle 13"/>
          <p:cNvSpPr/>
          <p:nvPr/>
        </p:nvSpPr>
        <p:spPr>
          <a:xfrm>
            <a:off x="8348472"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2" y="4480560"/>
            <a:ext cx="841248" cy="365760"/>
          </a:xfrm>
          <a:prstGeom prst="rect">
            <a:avLst/>
          </a:prstGeom>
          <a:noFill/>
        </p:spPr>
        <p:txBody>
          <a:bodyPr wrap="square">
            <a:spAutoFit/>
          </a:bodyPr>
          <a:lstStyle/>
          <a:p>
            <a:pPr algn="ctr"/>
            <a:r>
              <a:rPr sz="1400" b="1" i="0">
                <a:solidFill>
                  <a:srgbClr val="5F6B64"/>
                </a:solidFill>
                <a:latin typeface="Georgia"/>
              </a:rPr>
              <a:t>2</a:t>
            </a:r>
          </a:p>
        </p:txBody>
      </p:sp>
      <p:sp>
        <p:nvSpPr>
          <p:cNvPr id="16" name="Rounded Rectangle 15"/>
          <p:cNvSpPr/>
          <p:nvPr/>
        </p:nvSpPr>
        <p:spPr>
          <a:xfrm>
            <a:off x="9244584" y="4434840"/>
            <a:ext cx="841248" cy="457200"/>
          </a:xfrm>
          <a:prstGeom prst="roundRect">
            <a:avLst/>
          </a:prstGeom>
          <a:solidFill>
            <a:srgbClr val="2E5A4B"/>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44584" y="4480560"/>
            <a:ext cx="841248" cy="365760"/>
          </a:xfrm>
          <a:prstGeom prst="rect">
            <a:avLst/>
          </a:prstGeom>
          <a:noFill/>
        </p:spPr>
        <p:txBody>
          <a:bodyPr wrap="square">
            <a:spAutoFit/>
          </a:bodyPr>
          <a:lstStyle/>
          <a:p>
            <a:pPr algn="ctr"/>
            <a:r>
              <a:rPr sz="1400" b="1" i="0">
                <a:solidFill>
                  <a:srgbClr val="1F3D33"/>
                </a:solidFill>
                <a:latin typeface="Georgia"/>
              </a:rPr>
              <a:t>3</a:t>
            </a:r>
          </a:p>
        </p:txBody>
      </p:sp>
      <p:sp>
        <p:nvSpPr>
          <p:cNvPr id="18" name="Rounded Rectangle 17"/>
          <p:cNvSpPr/>
          <p:nvPr/>
        </p:nvSpPr>
        <p:spPr>
          <a:xfrm>
            <a:off x="10140696"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0696" y="4480560"/>
            <a:ext cx="841248" cy="365760"/>
          </a:xfrm>
          <a:prstGeom prst="rect">
            <a:avLst/>
          </a:prstGeom>
          <a:noFill/>
        </p:spPr>
        <p:txBody>
          <a:bodyPr wrap="square">
            <a:spAutoFit/>
          </a:bodyPr>
          <a:lstStyle/>
          <a:p>
            <a:pPr algn="ctr"/>
            <a:r>
              <a:rPr sz="1400" b="1" i="0">
                <a:solidFill>
                  <a:srgbClr val="5F6B64"/>
                </a:solidFill>
                <a:latin typeface="Georgia"/>
              </a:rPr>
              <a:t>4</a:t>
            </a:r>
          </a:p>
        </p:txBody>
      </p:sp>
      <p:sp>
        <p:nvSpPr>
          <p:cNvPr id="20" name="Rounded Rectangle 19"/>
          <p:cNvSpPr/>
          <p:nvPr/>
        </p:nvSpPr>
        <p:spPr>
          <a:xfrm>
            <a:off x="11036808"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36808" y="4480560"/>
            <a:ext cx="841248" cy="365760"/>
          </a:xfrm>
          <a:prstGeom prst="rect">
            <a:avLst/>
          </a:prstGeom>
          <a:noFill/>
        </p:spPr>
        <p:txBody>
          <a:bodyPr wrap="square">
            <a:spAutoFit/>
          </a:bodyPr>
          <a:lstStyle/>
          <a:p>
            <a:pPr algn="ctr"/>
            <a:r>
              <a:rPr sz="1400" b="1" i="0">
                <a:solidFill>
                  <a:srgbClr val="5F6B64"/>
                </a:solidFill>
                <a:latin typeface="Georgia"/>
              </a:rPr>
              <a:t>5</a:t>
            </a:r>
          </a:p>
        </p:txBody>
      </p:sp>
      <p:sp>
        <p:nvSpPr>
          <p:cNvPr id="22" name="TextBox 21"/>
          <p:cNvSpPr txBox="1"/>
          <p:nvPr/>
        </p:nvSpPr>
        <p:spPr>
          <a:xfrm>
            <a:off x="7452360" y="5029200"/>
            <a:ext cx="4434840" cy="365760"/>
          </a:xfrm>
          <a:prstGeom prst="rect">
            <a:avLst/>
          </a:prstGeom>
          <a:noFill/>
        </p:spPr>
        <p:txBody>
          <a:bodyPr wrap="square">
            <a:spAutoFit/>
          </a:bodyPr>
          <a:lstStyle/>
          <a:p>
            <a:pPr algn="l"/>
            <a:r>
              <a:rPr sz="1600" b="1" i="0">
                <a:solidFill>
                  <a:srgbClr val="2E5A4B"/>
                </a:solidFill>
                <a:latin typeface="Georgia"/>
              </a:rPr>
              <a:t>Structurée</a:t>
            </a:r>
          </a:p>
        </p:txBody>
      </p:sp>
      <p:sp>
        <p:nvSpPr>
          <p:cNvPr id="23" name="TextBox 22"/>
          <p:cNvSpPr txBox="1"/>
          <p:nvPr/>
        </p:nvSpPr>
        <p:spPr>
          <a:xfrm>
            <a:off x="7452360" y="5440680"/>
            <a:ext cx="4434840" cy="640080"/>
          </a:xfrm>
          <a:prstGeom prst="rect">
            <a:avLst/>
          </a:prstGeom>
          <a:noFill/>
        </p:spPr>
        <p:txBody>
          <a:bodyPr wrap="square">
            <a:spAutoFit/>
          </a:bodyPr>
          <a:lstStyle/>
          <a:p>
            <a:pPr algn="l"/>
            <a:r>
              <a:rPr sz="1250" b="0" i="0">
                <a:solidFill>
                  <a:srgbClr val="1E2B26"/>
                </a:solidFill>
                <a:latin typeface="Segoe UI"/>
              </a:rPr>
              <a:t>Pour franchir le cap suivant : faire auditer le reporting.</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Une trajectoire ESG mesurée exercice après exercice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1188720" y="1463040"/>
            <a:ext cx="9784080" cy="5294605"/>
          </a:xfrm>
          <a:prstGeom prst="rect">
            <a:avLst/>
          </a:prstGeom>
        </p:spPr>
      </p:pic>
      <p:sp>
        <p:nvSpPr>
          <p:cNvPr id="7" name="TextBox 6"/>
          <p:cNvSpPr txBox="1"/>
          <p:nvPr/>
        </p:nvSpPr>
        <p:spPr>
          <a:xfrm>
            <a:off x="1188720" y="6309360"/>
            <a:ext cx="9784080" cy="320040"/>
          </a:xfrm>
          <a:prstGeom prst="rect">
            <a:avLst/>
          </a:prstGeom>
          <a:noFill/>
        </p:spPr>
        <p:txBody>
          <a:bodyPr wrap="square">
            <a:spAutoFit/>
          </a:bodyPr>
          <a:lstStyle/>
          <a:p>
            <a:pPr algn="l"/>
            <a:r>
              <a:rPr sz="1000" b="0" i="1">
                <a:solidFill>
                  <a:srgbClr val="5F6B64"/>
                </a:solidFill>
                <a:latin typeface="Segoe UI"/>
              </a:rPr>
              <a:t>Évolution pluriannuelle du score ESG (global et par pilier)</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Couverture des exigences de reporting</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325880"/>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89888"/>
            <a:ext cx="4846320" cy="502920"/>
          </a:xfrm>
          <a:prstGeom prst="rect">
            <a:avLst/>
          </a:prstGeom>
          <a:noFill/>
        </p:spPr>
        <p:txBody>
          <a:bodyPr wrap="square">
            <a:spAutoFit/>
          </a:bodyPr>
          <a:lstStyle/>
          <a:p>
            <a:pPr algn="l"/>
            <a:r>
              <a:rPr sz="1250" b="1" i="0">
                <a:solidFill>
                  <a:srgbClr val="1E2B26"/>
                </a:solidFill>
                <a:latin typeface="Segoe UI"/>
              </a:rPr>
              <a:t>Bilan GES Scopes 1 &amp; 2</a:t>
            </a:r>
          </a:p>
        </p:txBody>
      </p:sp>
      <p:sp>
        <p:nvSpPr>
          <p:cNvPr id="8" name="TextBox 7"/>
          <p:cNvSpPr txBox="1"/>
          <p:nvPr/>
        </p:nvSpPr>
        <p:spPr>
          <a:xfrm>
            <a:off x="5349240" y="1472184"/>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9" name="Rounded Rectangle 8"/>
          <p:cNvSpPr/>
          <p:nvPr/>
        </p:nvSpPr>
        <p:spPr>
          <a:xfrm>
            <a:off x="7178040" y="145389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150876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1" name="TextBox 10"/>
          <p:cNvSpPr txBox="1"/>
          <p:nvPr/>
        </p:nvSpPr>
        <p:spPr>
          <a:xfrm>
            <a:off x="8961120" y="1389888"/>
            <a:ext cx="2926080" cy="530352"/>
          </a:xfrm>
          <a:prstGeom prst="rect">
            <a:avLst/>
          </a:prstGeom>
          <a:noFill/>
        </p:spPr>
        <p:txBody>
          <a:bodyPr wrap="square">
            <a:spAutoFit/>
          </a:bodyPr>
          <a:lstStyle/>
          <a:p>
            <a:pPr algn="l"/>
            <a:r>
              <a:rPr sz="1000" b="0" i="0">
                <a:solidFill>
                  <a:srgbClr val="1E2B26"/>
                </a:solidFill>
                <a:latin typeface="Segoe UI"/>
              </a:rPr>
              <a:t>Émissions mesurées et publiées</a:t>
            </a:r>
          </a:p>
        </p:txBody>
      </p:sp>
      <p:sp>
        <p:nvSpPr>
          <p:cNvPr id="12" name="TextBox 11"/>
          <p:cNvSpPr txBox="1"/>
          <p:nvPr/>
        </p:nvSpPr>
        <p:spPr>
          <a:xfrm>
            <a:off x="457200" y="2011680"/>
            <a:ext cx="4846320" cy="502920"/>
          </a:xfrm>
          <a:prstGeom prst="rect">
            <a:avLst/>
          </a:prstGeom>
          <a:noFill/>
        </p:spPr>
        <p:txBody>
          <a:bodyPr wrap="square">
            <a:spAutoFit/>
          </a:bodyPr>
          <a:lstStyle/>
          <a:p>
            <a:pPr algn="l"/>
            <a:r>
              <a:rPr sz="1250" b="1" i="0">
                <a:solidFill>
                  <a:srgbClr val="1E2B26"/>
                </a:solidFill>
                <a:latin typeface="Segoe UI"/>
              </a:rPr>
              <a:t>Émissions de la chaîne de valeur (Scope 3)</a:t>
            </a:r>
          </a:p>
        </p:txBody>
      </p:sp>
      <p:sp>
        <p:nvSpPr>
          <p:cNvPr id="13" name="TextBox 12"/>
          <p:cNvSpPr txBox="1"/>
          <p:nvPr/>
        </p:nvSpPr>
        <p:spPr>
          <a:xfrm>
            <a:off x="5349240" y="2093976"/>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14" name="Rounded Rectangle 13"/>
          <p:cNvSpPr/>
          <p:nvPr/>
        </p:nvSpPr>
        <p:spPr>
          <a:xfrm>
            <a:off x="7178040" y="2075688"/>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78040" y="2130552"/>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6" name="TextBox 15"/>
          <p:cNvSpPr txBox="1"/>
          <p:nvPr/>
        </p:nvSpPr>
        <p:spPr>
          <a:xfrm>
            <a:off x="8961120" y="2011680"/>
            <a:ext cx="2926080" cy="530352"/>
          </a:xfrm>
          <a:prstGeom prst="rect">
            <a:avLst/>
          </a:prstGeom>
          <a:noFill/>
        </p:spPr>
        <p:txBody>
          <a:bodyPr wrap="square">
            <a:spAutoFit/>
          </a:bodyPr>
          <a:lstStyle/>
          <a:p>
            <a:pPr algn="l"/>
            <a:r>
              <a:rPr sz="1000" b="0" i="0">
                <a:solidFill>
                  <a:srgbClr val="1E2B26"/>
                </a:solidFill>
                <a:latin typeface="Segoe UI"/>
              </a:rPr>
              <a:t>Scope 3 mesuré et publié</a:t>
            </a:r>
          </a:p>
        </p:txBody>
      </p:sp>
      <p:sp>
        <p:nvSpPr>
          <p:cNvPr id="17" name="Rectangle 16"/>
          <p:cNvSpPr/>
          <p:nvPr/>
        </p:nvSpPr>
        <p:spPr>
          <a:xfrm>
            <a:off x="274320" y="2569464"/>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33472"/>
            <a:ext cx="4846320" cy="502920"/>
          </a:xfrm>
          <a:prstGeom prst="rect">
            <a:avLst/>
          </a:prstGeom>
          <a:noFill/>
        </p:spPr>
        <p:txBody>
          <a:bodyPr wrap="square">
            <a:spAutoFit/>
          </a:bodyPr>
          <a:lstStyle/>
          <a:p>
            <a:pPr algn="l"/>
            <a:r>
              <a:rPr sz="1250" b="1" i="0">
                <a:solidFill>
                  <a:srgbClr val="1E2B26"/>
                </a:solidFill>
                <a:latin typeface="Segoe UI"/>
              </a:rPr>
              <a:t>Vérification du reporting par un tiers</a:t>
            </a:r>
          </a:p>
        </p:txBody>
      </p:sp>
      <p:sp>
        <p:nvSpPr>
          <p:cNvPr id="19" name="TextBox 18"/>
          <p:cNvSpPr txBox="1"/>
          <p:nvPr/>
        </p:nvSpPr>
        <p:spPr>
          <a:xfrm>
            <a:off x="5349240" y="2715768"/>
            <a:ext cx="1737360" cy="365760"/>
          </a:xfrm>
          <a:prstGeom prst="rect">
            <a:avLst/>
          </a:prstGeom>
          <a:noFill/>
        </p:spPr>
        <p:txBody>
          <a:bodyPr wrap="square">
            <a:spAutoFit/>
          </a:bodyPr>
          <a:lstStyle/>
          <a:p>
            <a:pPr algn="l"/>
            <a:r>
              <a:rPr sz="1000" b="0" i="0">
                <a:solidFill>
                  <a:srgbClr val="5F6B64"/>
                </a:solidFill>
                <a:latin typeface="Segoe UI"/>
              </a:rPr>
              <a:t>CSRD (assurance limitée)</a:t>
            </a:r>
          </a:p>
        </p:txBody>
      </p:sp>
      <p:sp>
        <p:nvSpPr>
          <p:cNvPr id="20" name="Rounded Rectangle 19"/>
          <p:cNvSpPr/>
          <p:nvPr/>
        </p:nvSpPr>
        <p:spPr>
          <a:xfrm>
            <a:off x="7178040" y="2697480"/>
            <a:ext cx="16002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2752344"/>
            <a:ext cx="1600200" cy="274320"/>
          </a:xfrm>
          <a:prstGeom prst="rect">
            <a:avLst/>
          </a:prstGeom>
          <a:noFill/>
        </p:spPr>
        <p:txBody>
          <a:bodyPr wrap="square">
            <a:spAutoFit/>
          </a:bodyPr>
          <a:lstStyle/>
          <a:p>
            <a:pPr algn="ctr"/>
            <a:r>
              <a:rPr sz="1050" b="1" i="0">
                <a:solidFill>
                  <a:srgbClr val="FFFFFF"/>
                </a:solidFill>
                <a:latin typeface="Segoe UI"/>
              </a:rPr>
              <a:t>Non publié</a:t>
            </a:r>
          </a:p>
        </p:txBody>
      </p:sp>
      <p:sp>
        <p:nvSpPr>
          <p:cNvPr id="22" name="TextBox 21"/>
          <p:cNvSpPr txBox="1"/>
          <p:nvPr/>
        </p:nvSpPr>
        <p:spPr>
          <a:xfrm>
            <a:off x="8961120" y="2633472"/>
            <a:ext cx="2926080" cy="530352"/>
          </a:xfrm>
          <a:prstGeom prst="rect">
            <a:avLst/>
          </a:prstGeom>
          <a:noFill/>
        </p:spPr>
        <p:txBody>
          <a:bodyPr wrap="square">
            <a:spAutoFit/>
          </a:bodyPr>
          <a:lstStyle/>
          <a:p>
            <a:pPr algn="l"/>
            <a:r>
              <a:rPr sz="1000" b="0" i="0">
                <a:solidFill>
                  <a:srgbClr val="1E2B26"/>
                </a:solidFill>
                <a:latin typeface="Segoe UI"/>
              </a:rPr>
              <a:t>Aucune assurance externe à date</a:t>
            </a:r>
          </a:p>
        </p:txBody>
      </p:sp>
      <p:sp>
        <p:nvSpPr>
          <p:cNvPr id="23" name="TextBox 22"/>
          <p:cNvSpPr txBox="1"/>
          <p:nvPr/>
        </p:nvSpPr>
        <p:spPr>
          <a:xfrm>
            <a:off x="457200" y="3255264"/>
            <a:ext cx="4846320" cy="502920"/>
          </a:xfrm>
          <a:prstGeom prst="rect">
            <a:avLst/>
          </a:prstGeom>
          <a:noFill/>
        </p:spPr>
        <p:txBody>
          <a:bodyPr wrap="square">
            <a:spAutoFit/>
          </a:bodyPr>
          <a:lstStyle/>
          <a:p>
            <a:pPr algn="l"/>
            <a:r>
              <a:rPr sz="1250" b="1" i="0">
                <a:solidFill>
                  <a:srgbClr val="1E2B26"/>
                </a:solidFill>
                <a:latin typeface="Segoe UI"/>
              </a:rPr>
              <a:t>Supervision de la durabilité par la gouvernance</a:t>
            </a:r>
          </a:p>
        </p:txBody>
      </p:sp>
      <p:sp>
        <p:nvSpPr>
          <p:cNvPr id="24" name="TextBox 23"/>
          <p:cNvSpPr txBox="1"/>
          <p:nvPr/>
        </p:nvSpPr>
        <p:spPr>
          <a:xfrm>
            <a:off x="5349240" y="3337560"/>
            <a:ext cx="1737360" cy="365760"/>
          </a:xfrm>
          <a:prstGeom prst="rect">
            <a:avLst/>
          </a:prstGeom>
          <a:noFill/>
        </p:spPr>
        <p:txBody>
          <a:bodyPr wrap="square">
            <a:spAutoFit/>
          </a:bodyPr>
          <a:lstStyle/>
          <a:p>
            <a:pPr algn="l"/>
            <a:r>
              <a:rPr sz="1000" b="0" i="0">
                <a:solidFill>
                  <a:srgbClr val="5F6B64"/>
                </a:solidFill>
                <a:latin typeface="Segoe UI"/>
              </a:rPr>
              <a:t>ESRS 2 GOV-1</a:t>
            </a:r>
          </a:p>
        </p:txBody>
      </p:sp>
      <p:sp>
        <p:nvSpPr>
          <p:cNvPr id="25" name="Rounded Rectangle 24"/>
          <p:cNvSpPr/>
          <p:nvPr/>
        </p:nvSpPr>
        <p:spPr>
          <a:xfrm>
            <a:off x="7178040" y="3319272"/>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78040" y="3374136"/>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27" name="TextBox 26"/>
          <p:cNvSpPr txBox="1"/>
          <p:nvPr/>
        </p:nvSpPr>
        <p:spPr>
          <a:xfrm>
            <a:off x="8961120" y="3255264"/>
            <a:ext cx="2926080" cy="530352"/>
          </a:xfrm>
          <a:prstGeom prst="rect">
            <a:avLst/>
          </a:prstGeom>
          <a:noFill/>
        </p:spPr>
        <p:txBody>
          <a:bodyPr wrap="square">
            <a:spAutoFit/>
          </a:bodyPr>
          <a:lstStyle/>
          <a:p>
            <a:pPr algn="l"/>
            <a:r>
              <a:rPr sz="1000" b="0" i="0">
                <a:solidFill>
                  <a:srgbClr val="1E2B26"/>
                </a:solidFill>
                <a:latin typeface="Segoe UI"/>
              </a:rPr>
              <a:t>Comité de durabilité en place</a:t>
            </a:r>
          </a:p>
        </p:txBody>
      </p:sp>
      <p:sp>
        <p:nvSpPr>
          <p:cNvPr id="28" name="Rectangle 27"/>
          <p:cNvSpPr/>
          <p:nvPr/>
        </p:nvSpPr>
        <p:spPr>
          <a:xfrm>
            <a:off x="274320" y="3813048"/>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3877056"/>
            <a:ext cx="4846320" cy="502920"/>
          </a:xfrm>
          <a:prstGeom prst="rect">
            <a:avLst/>
          </a:prstGeom>
          <a:noFill/>
        </p:spPr>
        <p:txBody>
          <a:bodyPr wrap="square">
            <a:spAutoFit/>
          </a:bodyPr>
          <a:lstStyle/>
          <a:p>
            <a:pPr algn="l"/>
            <a:r>
              <a:rPr sz="1250" b="1" i="0">
                <a:solidFill>
                  <a:srgbClr val="1E2B26"/>
                </a:solidFill>
                <a:latin typeface="Segoe UI"/>
              </a:rPr>
              <a:t>Indépendance du conseil (AFEP-MEDEF, appliquer ou expliquer)</a:t>
            </a:r>
          </a:p>
        </p:txBody>
      </p:sp>
      <p:sp>
        <p:nvSpPr>
          <p:cNvPr id="30" name="TextBox 29"/>
          <p:cNvSpPr txBox="1"/>
          <p:nvPr/>
        </p:nvSpPr>
        <p:spPr>
          <a:xfrm>
            <a:off x="5349240" y="3959352"/>
            <a:ext cx="1737360" cy="365760"/>
          </a:xfrm>
          <a:prstGeom prst="rect">
            <a:avLst/>
          </a:prstGeom>
          <a:noFill/>
        </p:spPr>
        <p:txBody>
          <a:bodyPr wrap="square">
            <a:spAutoFit/>
          </a:bodyPr>
          <a:lstStyle/>
          <a:p>
            <a:pPr algn="l"/>
            <a:r>
              <a:rPr sz="1000" b="0" i="0">
                <a:solidFill>
                  <a:srgbClr val="5F6B64"/>
                </a:solidFill>
                <a:latin typeface="Segoe UI"/>
              </a:rPr>
              <a:t>AFEP-MEDEF</a:t>
            </a:r>
          </a:p>
        </p:txBody>
      </p:sp>
      <p:sp>
        <p:nvSpPr>
          <p:cNvPr id="31" name="Rounded Rectangle 30"/>
          <p:cNvSpPr/>
          <p:nvPr/>
        </p:nvSpPr>
        <p:spPr>
          <a:xfrm>
            <a:off x="7178040" y="3941064"/>
            <a:ext cx="1600200" cy="36576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78040" y="3995928"/>
            <a:ext cx="1600200" cy="274320"/>
          </a:xfrm>
          <a:prstGeom prst="rect">
            <a:avLst/>
          </a:prstGeom>
          <a:noFill/>
        </p:spPr>
        <p:txBody>
          <a:bodyPr wrap="square">
            <a:spAutoFit/>
          </a:bodyPr>
          <a:lstStyle/>
          <a:p>
            <a:pPr algn="ctr"/>
            <a:r>
              <a:rPr sz="1050" b="1" i="0">
                <a:solidFill>
                  <a:srgbClr val="FFFFFF"/>
                </a:solidFill>
                <a:latin typeface="Segoe UI"/>
              </a:rPr>
              <a:t>Sous le seuil</a:t>
            </a:r>
          </a:p>
        </p:txBody>
      </p:sp>
      <p:sp>
        <p:nvSpPr>
          <p:cNvPr id="33" name="TextBox 32"/>
          <p:cNvSpPr txBox="1"/>
          <p:nvPr/>
        </p:nvSpPr>
        <p:spPr>
          <a:xfrm>
            <a:off x="8961120" y="3877056"/>
            <a:ext cx="2926080" cy="530352"/>
          </a:xfrm>
          <a:prstGeom prst="rect">
            <a:avLst/>
          </a:prstGeom>
          <a:noFill/>
        </p:spPr>
        <p:txBody>
          <a:bodyPr wrap="square">
            <a:spAutoFit/>
          </a:bodyPr>
          <a:lstStyle/>
          <a:p>
            <a:pPr algn="l"/>
            <a:r>
              <a:rPr sz="1000" b="0" i="0">
                <a:solidFill>
                  <a:srgbClr val="1E2B26"/>
                </a:solidFill>
                <a:latin typeface="Segoe UI"/>
              </a:rPr>
              <a:t>45 % d'administrateurs indépendants</a:t>
            </a:r>
          </a:p>
        </p:txBody>
      </p:sp>
      <p:sp>
        <p:nvSpPr>
          <p:cNvPr id="34" name="TextBox 33"/>
          <p:cNvSpPr txBox="1"/>
          <p:nvPr/>
        </p:nvSpPr>
        <p:spPr>
          <a:xfrm>
            <a:off x="457200" y="4498848"/>
            <a:ext cx="4846320" cy="502920"/>
          </a:xfrm>
          <a:prstGeom prst="rect">
            <a:avLst/>
          </a:prstGeom>
          <a:noFill/>
        </p:spPr>
        <p:txBody>
          <a:bodyPr wrap="square">
            <a:spAutoFit/>
          </a:bodyPr>
          <a:lstStyle/>
          <a:p>
            <a:pPr algn="l"/>
            <a:r>
              <a:rPr sz="1250" b="1" i="0">
                <a:solidFill>
                  <a:srgbClr val="1E2B26"/>
                </a:solidFill>
                <a:latin typeface="Segoe UI"/>
              </a:rPr>
              <a:t>Publication des indicateurs Taxonomie UE</a:t>
            </a:r>
          </a:p>
        </p:txBody>
      </p:sp>
      <p:sp>
        <p:nvSpPr>
          <p:cNvPr id="35" name="TextBox 34"/>
          <p:cNvSpPr txBox="1"/>
          <p:nvPr/>
        </p:nvSpPr>
        <p:spPr>
          <a:xfrm>
            <a:off x="5349240" y="4581144"/>
            <a:ext cx="1737360" cy="365760"/>
          </a:xfrm>
          <a:prstGeom prst="rect">
            <a:avLst/>
          </a:prstGeom>
          <a:noFill/>
        </p:spPr>
        <p:txBody>
          <a:bodyPr wrap="square">
            <a:spAutoFit/>
          </a:bodyPr>
          <a:lstStyle/>
          <a:p>
            <a:pPr algn="l"/>
            <a:r>
              <a:rPr sz="1000" b="0" i="0">
                <a:solidFill>
                  <a:srgbClr val="5F6B64"/>
                </a:solidFill>
                <a:latin typeface="Segoe UI"/>
              </a:rPr>
              <a:t>Règlement (UE) 2020/852</a:t>
            </a:r>
          </a:p>
        </p:txBody>
      </p:sp>
      <p:sp>
        <p:nvSpPr>
          <p:cNvPr id="36" name="Rounded Rectangle 35"/>
          <p:cNvSpPr/>
          <p:nvPr/>
        </p:nvSpPr>
        <p:spPr>
          <a:xfrm>
            <a:off x="7178040" y="456285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78040" y="461772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38" name="TextBox 37"/>
          <p:cNvSpPr txBox="1"/>
          <p:nvPr/>
        </p:nvSpPr>
        <p:spPr>
          <a:xfrm>
            <a:off x="8961120" y="4498848"/>
            <a:ext cx="2926080" cy="530352"/>
          </a:xfrm>
          <a:prstGeom prst="rect">
            <a:avLst/>
          </a:prstGeom>
          <a:noFill/>
        </p:spPr>
        <p:txBody>
          <a:bodyPr wrap="square">
            <a:spAutoFit/>
          </a:bodyPr>
          <a:lstStyle/>
          <a:p>
            <a:pPr algn="l"/>
            <a:r>
              <a:rPr sz="1000" b="0" i="0">
                <a:solidFill>
                  <a:srgbClr val="1E2B26"/>
                </a:solidFill>
                <a:latin typeface="Segoe UI"/>
              </a:rPr>
              <a:t>Parts alignées publiées (CA/CapEx/OpEx)</a:t>
            </a:r>
          </a:p>
        </p:txBody>
      </p:sp>
      <p:sp>
        <p:nvSpPr>
          <p:cNvPr id="39" name="Rectangle 38"/>
          <p:cNvSpPr/>
          <p:nvPr/>
        </p:nvSpPr>
        <p:spPr>
          <a:xfrm>
            <a:off x="274320" y="5056632"/>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5120640"/>
            <a:ext cx="4846320" cy="502920"/>
          </a:xfrm>
          <a:prstGeom prst="rect">
            <a:avLst/>
          </a:prstGeom>
          <a:noFill/>
        </p:spPr>
        <p:txBody>
          <a:bodyPr wrap="square">
            <a:spAutoFit/>
          </a:bodyPr>
          <a:lstStyle/>
          <a:p>
            <a:pPr algn="l"/>
            <a:r>
              <a:rPr sz="1250" b="1" i="0">
                <a:solidFill>
                  <a:srgbClr val="1E2B26"/>
                </a:solidFill>
                <a:latin typeface="Segoe UI"/>
              </a:rPr>
              <a:t>Objectifs climatiques chiffrés</a:t>
            </a:r>
          </a:p>
        </p:txBody>
      </p:sp>
      <p:sp>
        <p:nvSpPr>
          <p:cNvPr id="41" name="TextBox 40"/>
          <p:cNvSpPr txBox="1"/>
          <p:nvPr/>
        </p:nvSpPr>
        <p:spPr>
          <a:xfrm>
            <a:off x="5349240" y="5202936"/>
            <a:ext cx="1737360" cy="365760"/>
          </a:xfrm>
          <a:prstGeom prst="rect">
            <a:avLst/>
          </a:prstGeom>
          <a:noFill/>
        </p:spPr>
        <p:txBody>
          <a:bodyPr wrap="square">
            <a:spAutoFit/>
          </a:bodyPr>
          <a:lstStyle/>
          <a:p>
            <a:pPr algn="l"/>
            <a:r>
              <a:rPr sz="1000" b="0" i="0">
                <a:solidFill>
                  <a:srgbClr val="5F6B64"/>
                </a:solidFill>
                <a:latin typeface="Segoe UI"/>
              </a:rPr>
              <a:t>ESRS E1-4</a:t>
            </a:r>
          </a:p>
        </p:txBody>
      </p:sp>
      <p:sp>
        <p:nvSpPr>
          <p:cNvPr id="42" name="Rounded Rectangle 41"/>
          <p:cNvSpPr/>
          <p:nvPr/>
        </p:nvSpPr>
        <p:spPr>
          <a:xfrm>
            <a:off x="7178040" y="5184648"/>
            <a:ext cx="1600200" cy="36576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78040" y="5239512"/>
            <a:ext cx="1600200" cy="274320"/>
          </a:xfrm>
          <a:prstGeom prst="rect">
            <a:avLst/>
          </a:prstGeom>
          <a:noFill/>
        </p:spPr>
        <p:txBody>
          <a:bodyPr wrap="square">
            <a:spAutoFit/>
          </a:bodyPr>
          <a:lstStyle/>
          <a:p>
            <a:pPr algn="ctr"/>
            <a:r>
              <a:rPr sz="1050" b="1" i="0">
                <a:solidFill>
                  <a:srgbClr val="FFFFFF"/>
                </a:solidFill>
                <a:latin typeface="Segoe UI"/>
              </a:rPr>
              <a:t>Non couvert par ce reporting</a:t>
            </a:r>
          </a:p>
        </p:txBody>
      </p:sp>
      <p:sp>
        <p:nvSpPr>
          <p:cNvPr id="44" name="TextBox 43"/>
          <p:cNvSpPr txBox="1"/>
          <p:nvPr/>
        </p:nvSpPr>
        <p:spPr>
          <a:xfrm>
            <a:off x="8961120" y="5120640"/>
            <a:ext cx="2926080" cy="530352"/>
          </a:xfrm>
          <a:prstGeom prst="rect">
            <a:avLst/>
          </a:prstGeom>
          <a:noFill/>
        </p:spPr>
        <p:txBody>
          <a:bodyPr wrap="square">
            <a:spAutoFit/>
          </a:bodyPr>
          <a:lstStyle/>
          <a:p>
            <a:pPr algn="l"/>
            <a:r>
              <a:rPr sz="1000" b="0" i="0">
                <a:solidFill>
                  <a:srgbClr val="1E2B26"/>
                </a:solidFill>
                <a:latin typeface="Segoe UI"/>
              </a:rPr>
              <a:t>Cibles climatiques non documentées dans ce reporting</a:t>
            </a:r>
          </a:p>
        </p:txBody>
      </p:sp>
      <p:sp>
        <p:nvSpPr>
          <p:cNvPr id="45" name="TextBox 44"/>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2188952" cy="2651760"/>
          </a:xfrm>
          <a:prstGeom prst="rect">
            <a:avLst/>
          </a:prstGeom>
          <a:noFill/>
        </p:spPr>
        <p:txBody>
          <a:bodyPr wrap="square">
            <a:spAutoFit/>
          </a:bodyPr>
          <a:lstStyle/>
          <a:p>
            <a:pPr algn="ctr"/>
            <a:r>
              <a:rPr sz="23000" b="1" i="0">
                <a:solidFill>
                  <a:srgbClr val="2E5A4B"/>
                </a:solidFill>
                <a:latin typeface="Georgia"/>
              </a:rPr>
              <a:t>60</a:t>
            </a:r>
          </a:p>
        </p:txBody>
      </p:sp>
      <p:sp>
        <p:nvSpPr>
          <p:cNvPr id="5" name="TextBox 4"/>
          <p:cNvSpPr txBox="1"/>
          <p:nvPr/>
        </p:nvSpPr>
        <p:spPr>
          <a:xfrm>
            <a:off x="0" y="4160520"/>
            <a:ext cx="12188952" cy="640080"/>
          </a:xfrm>
          <a:prstGeom prst="rect">
            <a:avLst/>
          </a:prstGeom>
          <a:noFill/>
        </p:spPr>
        <p:txBody>
          <a:bodyPr wrap="square">
            <a:spAutoFit/>
          </a:bodyPr>
          <a:lstStyle/>
          <a:p>
            <a:pPr algn="ctr"/>
            <a:r>
              <a:rPr sz="3400" b="1" i="0">
                <a:solidFill>
                  <a:srgbClr val="F3F0E8"/>
                </a:solidFill>
                <a:latin typeface="Segoe UI"/>
              </a:rPr>
              <a:t>%</a:t>
            </a:r>
          </a:p>
        </p:txBody>
      </p:sp>
      <p:sp>
        <p:nvSpPr>
          <p:cNvPr id="6" name="TextBox 5"/>
          <p:cNvSpPr txBox="1"/>
          <p:nvPr/>
        </p:nvSpPr>
        <p:spPr>
          <a:xfrm>
            <a:off x="1371600" y="4892040"/>
            <a:ext cx="9445752" cy="548640"/>
          </a:xfrm>
          <a:prstGeom prst="rect">
            <a:avLst/>
          </a:prstGeom>
          <a:noFill/>
        </p:spPr>
        <p:txBody>
          <a:bodyPr wrap="square">
            <a:spAutoFit/>
          </a:bodyPr>
          <a:lstStyle/>
          <a:p>
            <a:pPr algn="ctr"/>
            <a:r>
              <a:rPr sz="2000" b="0" i="0">
                <a:solidFill>
                  <a:srgbClr val="C9D8C5"/>
                </a:solidFill>
                <a:latin typeface="Segoe UI"/>
              </a:rPr>
              <a:t>des émissions relèvent du Scope 3</a:t>
            </a:r>
          </a:p>
        </p:txBody>
      </p:sp>
      <p:sp>
        <p:nvSpPr>
          <p:cNvPr id="7" name="Rectangle 6"/>
          <p:cNvSpPr/>
          <p:nvPr/>
        </p:nvSpPr>
        <p:spPr>
          <a:xfrm>
            <a:off x="5271516" y="562356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5852160"/>
            <a:ext cx="8897112" cy="731520"/>
          </a:xfrm>
          <a:prstGeom prst="rect">
            <a:avLst/>
          </a:prstGeom>
          <a:noFill/>
        </p:spPr>
        <p:txBody>
          <a:bodyPr wrap="square">
            <a:spAutoFit/>
          </a:bodyPr>
          <a:lstStyle/>
          <a:p>
            <a:pPr algn="ctr"/>
            <a:r>
              <a:rPr sz="1600" b="0" i="1">
                <a:solidFill>
                  <a:srgbClr val="F3F0E8"/>
                </a:solidFill>
                <a:latin typeface="Segoe UI"/>
              </a:rPr>
              <a:t>La chaîne de valeur, principal terrain d'action climat.</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ENVIRONNEMENTAL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Un bilan carbone complet, socle de la trajectoire climat</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70</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Segoe U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F6B4F"/>
                </a:solidFill>
                <a:latin typeface="Georgia"/>
              </a:rPr>
              <a:t>8,200 t</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Émissions CO2 totales</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F6B4F"/>
                </a:solidFill>
                <a:latin typeface="Georgia"/>
              </a:rPr>
              <a:t>42%</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Énergie renouvelable</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F6B4F"/>
                </a:solidFill>
                <a:latin typeface="Georgia"/>
              </a:rPr>
              <a:t>21,500</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Consommation (MWh)</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7"/>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F6B4F"/>
                </a:solidFill>
                <a:latin typeface="Georgia"/>
              </a:rPr>
              <a:t>120,000</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Eau prélevée (m3)</a:t>
            </a:r>
          </a:p>
        </p:txBody>
      </p:sp>
      <p:sp>
        <p:nvSpPr>
          <p:cNvPr id="35" name="Rounded Rectangle 34"/>
          <p:cNvSpPr/>
          <p:nvPr/>
        </p:nvSpPr>
        <p:spPr>
          <a:xfrm>
            <a:off x="4526280" y="4434840"/>
            <a:ext cx="7360920" cy="1847088"/>
          </a:xfrm>
          <a:prstGeom prst="roundRect">
            <a:avLst/>
          </a:prstGeom>
          <a:solidFill>
            <a:srgbClr val="E6E6DC"/>
          </a:solidFill>
          <a:ln w="1905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F6B4F"/>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Performance environnementale solide ; l'intensité carbone reste le principal levier de création de valeur durable.</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SOCIAL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872" b="1" i="0">
                <a:solidFill>
                  <a:srgbClr val="FFFFFF"/>
                </a:solidFill>
                <a:latin typeface="Georgia"/>
              </a:rPr>
              <a:t>La sécurité au travail (TF 6.2), priorité à traiter</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55</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Segoe U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3D6A8A"/>
                </a:solidFill>
                <a:latin typeface="Georgia"/>
              </a:rPr>
              <a:t>320</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Effectif total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3D6A8A"/>
                </a:solidFill>
                <a:latin typeface="Georgia"/>
              </a:rPr>
              <a:t>34%</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dans l'effectif</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5"/>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3D6A8A"/>
                </a:solidFill>
                <a:latin typeface="Georgia"/>
              </a:rPr>
              <a:t>22 h</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Formation / an</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3D6A8A"/>
                </a:solidFill>
                <a:latin typeface="Georgia"/>
              </a:rPr>
              <a:t>6.2</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Taux fréquence accidents</a:t>
            </a:r>
          </a:p>
        </p:txBody>
      </p:sp>
      <p:sp>
        <p:nvSpPr>
          <p:cNvPr id="35" name="Rounded Rectangle 34"/>
          <p:cNvSpPr/>
          <p:nvPr/>
        </p:nvSpPr>
        <p:spPr>
          <a:xfrm>
            <a:off x="4526280" y="4434840"/>
            <a:ext cx="7360920" cy="1847088"/>
          </a:xfrm>
          <a:prstGeom prst="roundRect">
            <a:avLst/>
          </a:prstGeom>
          <a:solidFill>
            <a:srgbClr val="E6E6DC"/>
          </a:solidFill>
          <a:ln w="1905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3D6A8A"/>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Performance sociale en construction : parité et sécurité au travail appellent des objectifs chiffrés pour fidéliser les talents.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GOUVERNANCE</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L'assurance ESG indépendante, priorité de la gouvernance</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75</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Segoe U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6B5B86"/>
                </a:solidFill>
                <a:latin typeface="Georgia"/>
              </a:rPr>
              <a:t>9</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Membres du Conseil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6B5B86"/>
                </a:solidFill>
                <a:latin typeface="Georgia"/>
              </a:rPr>
              <a:t>44%</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au CA</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6B5B86"/>
                </a:solidFill>
                <a:latin typeface="Georgia"/>
              </a:rPr>
              <a:t>45%</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Administrateurs indépendants</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6B5B86"/>
                </a:solidFill>
                <a:latin typeface="Georgia"/>
              </a:rPr>
              <a:t>Non</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Audit ESG indépendant</a:t>
            </a:r>
          </a:p>
        </p:txBody>
      </p:sp>
      <p:sp>
        <p:nvSpPr>
          <p:cNvPr id="35" name="Rounded Rectangle 34"/>
          <p:cNvSpPr/>
          <p:nvPr/>
        </p:nvSpPr>
        <p:spPr>
          <a:xfrm>
            <a:off x="4526280" y="4434840"/>
            <a:ext cx="7360920" cy="1847088"/>
          </a:xfrm>
          <a:prstGeom prst="roundRect">
            <a:avLst/>
          </a:prstGeom>
          <a:solidFill>
            <a:srgbClr val="E6E6DC"/>
          </a:solidFill>
          <a:ln w="1905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6B5B86"/>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Gouvernance exemplaire : indépendance, audit et supervision ESG inspirent confiance aux investisseurs.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Le changement climatique concentre les enjeux ESG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600200"/>
            <a:ext cx="7299789" cy="4480560"/>
          </a:xfrm>
          <a:prstGeom prst="rect">
            <a:avLst/>
          </a:prstGeom>
        </p:spPr>
      </p:pic>
      <p:sp>
        <p:nvSpPr>
          <p:cNvPr id="7" name="Rounded Rectangle 6"/>
          <p:cNvSpPr/>
          <p:nvPr/>
        </p:nvSpPr>
        <p:spPr>
          <a:xfrm>
            <a:off x="8549640" y="1828800"/>
            <a:ext cx="3337560" cy="402336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49640" y="1828800"/>
            <a:ext cx="82296" cy="402336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23960" y="2011680"/>
            <a:ext cx="2880360" cy="36576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8823960" y="2468880"/>
            <a:ext cx="2834640" cy="3200400"/>
          </a:xfrm>
          <a:prstGeom prst="rect">
            <a:avLst/>
          </a:prstGeom>
          <a:noFill/>
        </p:spPr>
        <p:txBody>
          <a:bodyPr wrap="square">
            <a:spAutoFit/>
          </a:bodyPr>
          <a:lstStyle/>
          <a:p>
            <a:pPr algn="l"/>
            <a:r>
              <a:rPr sz="1350" b="0" i="0">
                <a:solidFill>
                  <a:srgbClr val="1E2B26"/>
                </a:solidFill>
                <a:latin typeface="Segoe UI"/>
              </a:rPr>
              <a:t>Enjeux positionnés selon leur exposition estimée et leur sensibilité économique, à partir des données déclarées.</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52 % des investissements (CapEx) déjà alignés à la Taxonomie UE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54480"/>
            <a:ext cx="4937760" cy="1737360"/>
          </a:xfrm>
          <a:prstGeom prst="rect">
            <a:avLst/>
          </a:prstGeom>
          <a:noFill/>
        </p:spPr>
        <p:txBody>
          <a:bodyPr wrap="square">
            <a:spAutoFit/>
          </a:bodyPr>
          <a:lstStyle/>
          <a:p>
            <a:pPr algn="l"/>
            <a:r>
              <a:rPr sz="9600" b="1" i="0">
                <a:solidFill>
                  <a:srgbClr val="2F6B4F"/>
                </a:solidFill>
                <a:latin typeface="Georgia"/>
              </a:rPr>
              <a:t>52%</a:t>
            </a:r>
          </a:p>
        </p:txBody>
      </p:sp>
      <p:sp>
        <p:nvSpPr>
          <p:cNvPr id="7" name="TextBox 6"/>
          <p:cNvSpPr txBox="1"/>
          <p:nvPr/>
        </p:nvSpPr>
        <p:spPr>
          <a:xfrm>
            <a:off x="548640" y="3429000"/>
            <a:ext cx="4846320" cy="822960"/>
          </a:xfrm>
          <a:prstGeom prst="rect">
            <a:avLst/>
          </a:prstGeom>
          <a:noFill/>
        </p:spPr>
        <p:txBody>
          <a:bodyPr wrap="square">
            <a:spAutoFit/>
          </a:bodyPr>
          <a:lstStyle/>
          <a:p>
            <a:pPr algn="l"/>
            <a:r>
              <a:rPr sz="1500" b="1" i="0">
                <a:solidFill>
                  <a:srgbClr val="1E2B26"/>
                </a:solidFill>
                <a:latin typeface="Segoe UI"/>
              </a:rPr>
              <a:t>Part maximale d'activités alignées à la Taxonomie UE</a:t>
            </a:r>
          </a:p>
        </p:txBody>
      </p:sp>
      <p:sp>
        <p:nvSpPr>
          <p:cNvPr id="8" name="Rounded Rectangle 7"/>
          <p:cNvSpPr/>
          <p:nvPr/>
        </p:nvSpPr>
        <p:spPr>
          <a:xfrm>
            <a:off x="502920" y="4297680"/>
            <a:ext cx="4892040" cy="2103120"/>
          </a:xfrm>
          <a:prstGeom prst="round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4297680"/>
            <a:ext cx="82296" cy="210312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462272"/>
            <a:ext cx="4389120" cy="365760"/>
          </a:xfrm>
          <a:prstGeom prst="rect">
            <a:avLst/>
          </a:prstGeom>
          <a:noFill/>
        </p:spPr>
        <p:txBody>
          <a:bodyPr wrap="square">
            <a:spAutoFit/>
          </a:bodyPr>
          <a:lstStyle/>
          <a:p>
            <a:pPr algn="l"/>
            <a:r>
              <a:rPr sz="1150" b="1" i="0">
                <a:solidFill>
                  <a:srgbClr val="2F6B4F"/>
                </a:solidFill>
                <a:latin typeface="Segoe UI"/>
              </a:rPr>
              <a:t>LECTURE MÉTIER</a:t>
            </a:r>
          </a:p>
        </p:txBody>
      </p:sp>
      <p:sp>
        <p:nvSpPr>
          <p:cNvPr id="11" name="TextBox 10"/>
          <p:cNvSpPr txBox="1"/>
          <p:nvPr/>
        </p:nvSpPr>
        <p:spPr>
          <a:xfrm>
            <a:off x="777240" y="4828032"/>
            <a:ext cx="4434840" cy="1463040"/>
          </a:xfrm>
          <a:prstGeom prst="rect">
            <a:avLst/>
          </a:prstGeom>
          <a:noFill/>
        </p:spPr>
        <p:txBody>
          <a:bodyPr wrap="square">
            <a:spAutoFit/>
          </a:bodyPr>
          <a:lstStyle/>
          <a:p>
            <a:pPr algn="l"/>
            <a:r>
              <a:rPr sz="1300" b="0" i="0">
                <a:solidFill>
                  <a:srgbClr val="1E2B26"/>
                </a:solidFill>
                <a:latin typeface="Segoe UI"/>
              </a:rPr>
              <a:t>Parts d'activités déclarées comme alignées à la Taxonomie UE par l'entreprise. Le respect du principe DNSH et des garanties minimales sociales (diligence raisonnable au sens des Principes directeurs de l'OCDE et des Nations unies) n'est pas évalué dans ce rapport.</a:t>
            </a:r>
          </a:p>
        </p:txBody>
      </p:sp>
      <p:pic>
        <p:nvPicPr>
          <p:cNvPr id="12" name="Picture 11" descr="image.png"/>
          <p:cNvPicPr>
            <a:picLocks noChangeAspect="1"/>
          </p:cNvPicPr>
          <p:nvPr/>
        </p:nvPicPr>
        <p:blipFill>
          <a:blip r:embed="rId2"/>
          <a:stretch>
            <a:fillRect/>
          </a:stretch>
        </p:blipFill>
        <p:spPr>
          <a:xfrm>
            <a:off x="5760720" y="2286000"/>
            <a:ext cx="6126480" cy="2782209"/>
          </a:xfrm>
          <a:prstGeom prst="rect">
            <a:avLst/>
          </a:prstGeom>
        </p:spPr>
      </p:pic>
      <p:sp>
        <p:nvSpPr>
          <p:cNvPr id="13" name="TextBox 12"/>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5 forces établies, 5 leviers de progression</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88720" cy="914400"/>
          </a:xfrm>
          <a:prstGeom prst="rect">
            <a:avLst/>
          </a:prstGeom>
          <a:noFill/>
        </p:spPr>
        <p:txBody>
          <a:bodyPr wrap="square">
            <a:spAutoFit/>
          </a:bodyPr>
          <a:lstStyle/>
          <a:p>
            <a:pPr algn="l"/>
            <a:r>
              <a:rPr sz="4600" b="1" i="0">
                <a:solidFill>
                  <a:srgbClr val="2F6B4F"/>
                </a:solidFill>
                <a:latin typeface="Georgia"/>
              </a:rPr>
              <a:t>5</a:t>
            </a:r>
          </a:p>
        </p:txBody>
      </p:sp>
      <p:sp>
        <p:nvSpPr>
          <p:cNvPr id="8" name="TextBox 7"/>
          <p:cNvSpPr txBox="1"/>
          <p:nvPr/>
        </p:nvSpPr>
        <p:spPr>
          <a:xfrm>
            <a:off x="1600200" y="1572768"/>
            <a:ext cx="4206240" cy="640080"/>
          </a:xfrm>
          <a:prstGeom prst="rect">
            <a:avLst/>
          </a:prstGeom>
          <a:noFill/>
        </p:spPr>
        <p:txBody>
          <a:bodyPr wrap="square">
            <a:spAutoFit/>
          </a:bodyPr>
          <a:lstStyle/>
          <a:p>
            <a:pPr algn="l"/>
            <a:r>
              <a:rPr sz="1500" b="1" i="0">
                <a:solidFill>
                  <a:srgbClr val="1E2B26"/>
                </a:solidFill>
                <a:latin typeface="Segoe UI"/>
              </a:rPr>
              <a:t>POINTS FORTS</a:t>
            </a:r>
          </a:p>
        </p:txBody>
      </p:sp>
      <p:sp>
        <p:nvSpPr>
          <p:cNvPr id="9" name="Rectangle 8"/>
          <p:cNvSpPr/>
          <p:nvPr/>
        </p:nvSpPr>
        <p:spPr>
          <a:xfrm>
            <a:off x="548640" y="24231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2770632"/>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697480"/>
            <a:ext cx="4800600" cy="658368"/>
          </a:xfrm>
          <a:prstGeom prst="rect">
            <a:avLst/>
          </a:prstGeom>
          <a:noFill/>
        </p:spPr>
        <p:txBody>
          <a:bodyPr wrap="square">
            <a:spAutoFit/>
          </a:bodyPr>
          <a:lstStyle/>
          <a:p>
            <a:pPr algn="l"/>
            <a:r>
              <a:rPr sz="1250" b="0" i="0">
                <a:solidFill>
                  <a:srgbClr val="1E2B26"/>
                </a:solidFill>
                <a:latin typeface="Segoe UI"/>
              </a:rPr>
              <a:t>Excellente performance environnementale globale</a:t>
            </a:r>
          </a:p>
        </p:txBody>
      </p:sp>
      <p:sp>
        <p:nvSpPr>
          <p:cNvPr id="12" name="Oval 11"/>
          <p:cNvSpPr/>
          <p:nvPr/>
        </p:nvSpPr>
        <p:spPr>
          <a:xfrm>
            <a:off x="566928" y="3483864"/>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410712"/>
            <a:ext cx="4800600" cy="658368"/>
          </a:xfrm>
          <a:prstGeom prst="rect">
            <a:avLst/>
          </a:prstGeom>
          <a:noFill/>
        </p:spPr>
        <p:txBody>
          <a:bodyPr wrap="square">
            <a:spAutoFit/>
          </a:bodyPr>
          <a:lstStyle/>
          <a:p>
            <a:pPr algn="l"/>
            <a:r>
              <a:rPr sz="1250" b="0" i="0">
                <a:solidFill>
                  <a:srgbClr val="1E2B26"/>
                </a:solidFill>
                <a:latin typeface="Segoe UI"/>
              </a:rPr>
              <a:t>Comité de durabilité opérationnel au niveau du CA</a:t>
            </a:r>
          </a:p>
        </p:txBody>
      </p:sp>
      <p:sp>
        <p:nvSpPr>
          <p:cNvPr id="14" name="Oval 13"/>
          <p:cNvSpPr/>
          <p:nvPr/>
        </p:nvSpPr>
        <p:spPr>
          <a:xfrm>
            <a:off x="566928" y="4197096"/>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123944"/>
            <a:ext cx="4800600" cy="658368"/>
          </a:xfrm>
          <a:prstGeom prst="rect">
            <a:avLst/>
          </a:prstGeom>
          <a:noFill/>
        </p:spPr>
        <p:txBody>
          <a:bodyPr wrap="square">
            <a:spAutoFit/>
          </a:bodyPr>
          <a:lstStyle/>
          <a:p>
            <a:pPr algn="l"/>
            <a:r>
              <a:rPr sz="1250" b="0" i="0">
                <a:solidFill>
                  <a:srgbClr val="1E2B26"/>
                </a:solidFill>
                <a:latin typeface="Segoe UI"/>
              </a:rPr>
              <a:t>Parité exemplaire au Conseil d'Administration (44%)</a:t>
            </a:r>
          </a:p>
        </p:txBody>
      </p:sp>
      <p:sp>
        <p:nvSpPr>
          <p:cNvPr id="16" name="Oval 15"/>
          <p:cNvSpPr/>
          <p:nvPr/>
        </p:nvSpPr>
        <p:spPr>
          <a:xfrm>
            <a:off x="566928" y="4910328"/>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4800600" cy="658368"/>
          </a:xfrm>
          <a:prstGeom prst="rect">
            <a:avLst/>
          </a:prstGeom>
          <a:noFill/>
        </p:spPr>
        <p:txBody>
          <a:bodyPr wrap="square">
            <a:spAutoFit/>
          </a:bodyPr>
          <a:lstStyle/>
          <a:p>
            <a:pPr algn="l"/>
            <a:r>
              <a:rPr sz="1250" b="0" i="0">
                <a:solidFill>
                  <a:srgbClr val="1E2B26"/>
                </a:solidFill>
                <a:latin typeface="Segoe UI"/>
              </a:rPr>
              <a:t>Gouvernance de haute qualité et transparente</a:t>
            </a:r>
          </a:p>
        </p:txBody>
      </p:sp>
      <p:sp>
        <p:nvSpPr>
          <p:cNvPr id="18" name="Oval 17"/>
          <p:cNvSpPr/>
          <p:nvPr/>
        </p:nvSpPr>
        <p:spPr>
          <a:xfrm>
            <a:off x="566928" y="5623560"/>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550408"/>
            <a:ext cx="4800600" cy="658368"/>
          </a:xfrm>
          <a:prstGeom prst="rect">
            <a:avLst/>
          </a:prstGeom>
          <a:noFill/>
        </p:spPr>
        <p:txBody>
          <a:bodyPr wrap="square">
            <a:spAutoFit/>
          </a:bodyPr>
          <a:lstStyle/>
          <a:p>
            <a:pPr algn="l"/>
            <a:r>
              <a:rPr sz="1250" b="0" i="0">
                <a:solidFill>
                  <a:srgbClr val="1E2B26"/>
                </a:solidFill>
                <a:latin typeface="Segoe UI"/>
              </a:rPr>
              <a:t>Reporting complet des émissions Scope 1, 2 et 3</a:t>
            </a:r>
          </a:p>
        </p:txBody>
      </p:sp>
      <p:sp>
        <p:nvSpPr>
          <p:cNvPr id="20" name="Rectangle 19"/>
          <p:cNvSpPr/>
          <p:nvPr/>
        </p:nvSpPr>
        <p:spPr>
          <a:xfrm>
            <a:off x="6245352"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1325880"/>
            <a:ext cx="1188720" cy="914400"/>
          </a:xfrm>
          <a:prstGeom prst="rect">
            <a:avLst/>
          </a:prstGeom>
          <a:noFill/>
        </p:spPr>
        <p:txBody>
          <a:bodyPr wrap="square">
            <a:spAutoFit/>
          </a:bodyPr>
          <a:lstStyle/>
          <a:p>
            <a:pPr algn="l"/>
            <a:r>
              <a:rPr sz="4600" b="1" i="0">
                <a:solidFill>
                  <a:srgbClr val="E74C3C"/>
                </a:solidFill>
                <a:latin typeface="Georgia"/>
              </a:rPr>
              <a:t>5</a:t>
            </a:r>
          </a:p>
        </p:txBody>
      </p:sp>
      <p:sp>
        <p:nvSpPr>
          <p:cNvPr id="22" name="TextBox 21"/>
          <p:cNvSpPr txBox="1"/>
          <p:nvPr/>
        </p:nvSpPr>
        <p:spPr>
          <a:xfrm>
            <a:off x="7571232" y="1572768"/>
            <a:ext cx="4206240" cy="640080"/>
          </a:xfrm>
          <a:prstGeom prst="rect">
            <a:avLst/>
          </a:prstGeom>
          <a:noFill/>
        </p:spPr>
        <p:txBody>
          <a:bodyPr wrap="square">
            <a:spAutoFit/>
          </a:bodyPr>
          <a:lstStyle/>
          <a:p>
            <a:pPr algn="l"/>
            <a:r>
              <a:rPr sz="1500" b="1" i="0">
                <a:solidFill>
                  <a:srgbClr val="1E2B26"/>
                </a:solidFill>
                <a:latin typeface="Segoe UI"/>
              </a:rPr>
              <a:t>AXES D'AMÉLIORATION</a:t>
            </a:r>
          </a:p>
        </p:txBody>
      </p:sp>
      <p:sp>
        <p:nvSpPr>
          <p:cNvPr id="23" name="Rectangle 22"/>
          <p:cNvSpPr/>
          <p:nvPr/>
        </p:nvSpPr>
        <p:spPr>
          <a:xfrm>
            <a:off x="6519672" y="24231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37960" y="2770632"/>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67144" y="2697480"/>
            <a:ext cx="4800600" cy="658368"/>
          </a:xfrm>
          <a:prstGeom prst="rect">
            <a:avLst/>
          </a:prstGeom>
          <a:noFill/>
        </p:spPr>
        <p:txBody>
          <a:bodyPr wrap="square">
            <a:spAutoFit/>
          </a:bodyPr>
          <a:lstStyle/>
          <a:p>
            <a:pPr algn="l"/>
            <a:r>
              <a:rPr sz="1250" b="0" i="0">
                <a:solidFill>
                  <a:srgbClr val="1E2B26"/>
                </a:solidFill>
                <a:latin typeface="Segoe UI"/>
              </a:rPr>
              <a:t>Énergie renouvelable à renforcer (actuellement 42%, objectif 50%)</a:t>
            </a:r>
          </a:p>
        </p:txBody>
      </p:sp>
      <p:sp>
        <p:nvSpPr>
          <p:cNvPr id="26" name="Oval 25"/>
          <p:cNvSpPr/>
          <p:nvPr/>
        </p:nvSpPr>
        <p:spPr>
          <a:xfrm>
            <a:off x="6537960" y="3483864"/>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67144" y="3410712"/>
            <a:ext cx="4800600" cy="658368"/>
          </a:xfrm>
          <a:prstGeom prst="rect">
            <a:avLst/>
          </a:prstGeom>
          <a:noFill/>
        </p:spPr>
        <p:txBody>
          <a:bodyPr wrap="square">
            <a:spAutoFit/>
          </a:bodyPr>
          <a:lstStyle/>
          <a:p>
            <a:pPr algn="l"/>
            <a:r>
              <a:rPr sz="1250" b="0" i="0">
                <a:solidFill>
                  <a:srgbClr val="1E2B26"/>
                </a:solidFill>
                <a:latin typeface="Segoe UI"/>
              </a:rPr>
              <a:t>Déséquilibre de genre dans les effectifs (34% de femmes)</a:t>
            </a:r>
          </a:p>
        </p:txBody>
      </p:sp>
      <p:sp>
        <p:nvSpPr>
          <p:cNvPr id="28" name="Oval 27"/>
          <p:cNvSpPr/>
          <p:nvPr/>
        </p:nvSpPr>
        <p:spPr>
          <a:xfrm>
            <a:off x="6537960" y="4197096"/>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67144" y="4123944"/>
            <a:ext cx="4800600" cy="658368"/>
          </a:xfrm>
          <a:prstGeom prst="rect">
            <a:avLst/>
          </a:prstGeom>
          <a:noFill/>
        </p:spPr>
        <p:txBody>
          <a:bodyPr wrap="square">
            <a:spAutoFit/>
          </a:bodyPr>
          <a:lstStyle/>
          <a:p>
            <a:pPr algn="l"/>
            <a:r>
              <a:rPr sz="1250" b="0" i="0">
                <a:solidFill>
                  <a:srgbClr val="1E2B26"/>
                </a:solidFill>
                <a:latin typeface="Segoe UI"/>
              </a:rPr>
              <a:t>Taux de fréquence des accidents élevé (TF 6.2)</a:t>
            </a:r>
          </a:p>
        </p:txBody>
      </p:sp>
      <p:sp>
        <p:nvSpPr>
          <p:cNvPr id="30" name="Oval 29"/>
          <p:cNvSpPr/>
          <p:nvPr/>
        </p:nvSpPr>
        <p:spPr>
          <a:xfrm>
            <a:off x="6537960" y="4910328"/>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67144" y="4837176"/>
            <a:ext cx="4800600" cy="658368"/>
          </a:xfrm>
          <a:prstGeom prst="rect">
            <a:avLst/>
          </a:prstGeom>
          <a:noFill/>
        </p:spPr>
        <p:txBody>
          <a:bodyPr wrap="square">
            <a:spAutoFit/>
          </a:bodyPr>
          <a:lstStyle/>
          <a:p>
            <a:pPr algn="l"/>
            <a:r>
              <a:rPr sz="1250" b="0" i="0">
                <a:solidFill>
                  <a:srgbClr val="1E2B26"/>
                </a:solidFill>
                <a:latin typeface="Segoe UI"/>
              </a:rPr>
              <a:t>Une violation de données — cybersécurité à renforcer</a:t>
            </a:r>
          </a:p>
        </p:txBody>
      </p:sp>
      <p:sp>
        <p:nvSpPr>
          <p:cNvPr id="32" name="Oval 31"/>
          <p:cNvSpPr/>
          <p:nvPr/>
        </p:nvSpPr>
        <p:spPr>
          <a:xfrm>
            <a:off x="6537960" y="5623560"/>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67144" y="5550408"/>
            <a:ext cx="4800600" cy="658368"/>
          </a:xfrm>
          <a:prstGeom prst="rect">
            <a:avLst/>
          </a:prstGeom>
          <a:noFill/>
        </p:spPr>
        <p:txBody>
          <a:bodyPr wrap="square">
            <a:spAutoFit/>
          </a:bodyPr>
          <a:lstStyle/>
          <a:p>
            <a:pPr algn="l"/>
            <a:r>
              <a:rPr sz="1250" b="0" i="0">
                <a:solidFill>
                  <a:srgbClr val="1E2B26"/>
                </a:solidFill>
                <a:latin typeface="Segoe UI"/>
              </a:rPr>
              <a:t>Absence d'audit ESG indépendant</a:t>
            </a:r>
          </a:p>
        </p:txBody>
      </p:sp>
      <p:sp>
        <p:nvSpPr>
          <p:cNvPr id="34" name="TextBox 3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Où se concentrent vos risques et vos leviers de valeur</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8640" y="1371600"/>
            <a:ext cx="566928" cy="566928"/>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9" name="TextBox 8"/>
          <p:cNvSpPr txBox="1"/>
          <p:nvPr/>
        </p:nvSpPr>
        <p:spPr>
          <a:xfrm>
            <a:off x="1234440" y="1481328"/>
            <a:ext cx="4572000" cy="548640"/>
          </a:xfrm>
          <a:prstGeom prst="rect">
            <a:avLst/>
          </a:prstGeom>
          <a:noFill/>
        </p:spPr>
        <p:txBody>
          <a:bodyPr wrap="square">
            <a:spAutoFit/>
          </a:bodyPr>
          <a:lstStyle/>
          <a:p>
            <a:pPr algn="l"/>
            <a:r>
              <a:rPr sz="1600" b="1" i="0">
                <a:solidFill>
                  <a:srgbClr val="1E2B26"/>
                </a:solidFill>
                <a:latin typeface="Segoe UI"/>
              </a:rPr>
              <a:t>RISQUES MAJEURS</a:t>
            </a:r>
          </a:p>
        </p:txBody>
      </p:sp>
      <p:sp>
        <p:nvSpPr>
          <p:cNvPr id="10" name="Rectangle 9"/>
          <p:cNvSpPr/>
          <p:nvPr/>
        </p:nvSpPr>
        <p:spPr>
          <a:xfrm>
            <a:off x="548640" y="21945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468880"/>
            <a:ext cx="1161288"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87168"/>
            <a:ext cx="1161288" cy="237744"/>
          </a:xfrm>
          <a:prstGeom prst="rect">
            <a:avLst/>
          </a:prstGeom>
          <a:noFill/>
        </p:spPr>
        <p:txBody>
          <a:bodyPr wrap="square">
            <a:spAutoFit/>
          </a:bodyPr>
          <a:lstStyle/>
          <a:p>
            <a:pPr algn="ctr"/>
            <a:r>
              <a:rPr sz="950" b="1" i="0">
                <a:solidFill>
                  <a:srgbClr val="FFFFFF"/>
                </a:solidFill>
                <a:latin typeface="Segoe UI"/>
              </a:rPr>
              <a:t>Fiabilité</a:t>
            </a:r>
          </a:p>
        </p:txBody>
      </p:sp>
      <p:sp>
        <p:nvSpPr>
          <p:cNvPr id="13" name="Oval 12"/>
          <p:cNvSpPr/>
          <p:nvPr/>
        </p:nvSpPr>
        <p:spPr>
          <a:xfrm>
            <a:off x="5257800" y="246888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496312"/>
            <a:ext cx="384048" cy="219456"/>
          </a:xfrm>
          <a:prstGeom prst="rect">
            <a:avLst/>
          </a:prstGeom>
          <a:noFill/>
        </p:spPr>
        <p:txBody>
          <a:bodyPr wrap="square">
            <a:spAutoFit/>
          </a:bodyPr>
          <a:lstStyle/>
          <a:p>
            <a:pPr algn="ctr"/>
            <a:r>
              <a:rPr sz="950" b="1" i="0">
                <a:solidFill>
                  <a:srgbClr val="FFFFFF"/>
                </a:solidFill>
                <a:latin typeface="Segoe UI"/>
              </a:rPr>
              <a:t>P1</a:t>
            </a:r>
          </a:p>
        </p:txBody>
      </p:sp>
      <p:sp>
        <p:nvSpPr>
          <p:cNvPr id="15" name="TextBox 14"/>
          <p:cNvSpPr txBox="1"/>
          <p:nvPr/>
        </p:nvSpPr>
        <p:spPr>
          <a:xfrm>
            <a:off x="548640" y="2816352"/>
            <a:ext cx="5120640" cy="548640"/>
          </a:xfrm>
          <a:prstGeom prst="rect">
            <a:avLst/>
          </a:prstGeom>
          <a:noFill/>
        </p:spPr>
        <p:txBody>
          <a:bodyPr wrap="square">
            <a:spAutoFit/>
          </a:bodyPr>
          <a:lstStyle/>
          <a:p>
            <a:pPr algn="l"/>
            <a:r>
              <a:rPr sz="1250" b="0" i="0">
                <a:solidFill>
                  <a:srgbClr val="1E2B26"/>
                </a:solidFill>
                <a:latin typeface="Segoe UI"/>
              </a:rPr>
              <a:t>Reporting non audité : crédibilité limitée auprès des investisseurs</a:t>
            </a:r>
          </a:p>
        </p:txBody>
      </p:sp>
      <p:sp>
        <p:nvSpPr>
          <p:cNvPr id="16" name="Rounded Rectangle 15"/>
          <p:cNvSpPr/>
          <p:nvPr/>
        </p:nvSpPr>
        <p:spPr>
          <a:xfrm>
            <a:off x="548640" y="3429000"/>
            <a:ext cx="1463040"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447288"/>
            <a:ext cx="1463040" cy="237744"/>
          </a:xfrm>
          <a:prstGeom prst="rect">
            <a:avLst/>
          </a:prstGeom>
          <a:noFill/>
        </p:spPr>
        <p:txBody>
          <a:bodyPr wrap="square">
            <a:spAutoFit/>
          </a:bodyPr>
          <a:lstStyle/>
          <a:p>
            <a:pPr algn="ctr"/>
            <a:r>
              <a:rPr sz="950" b="1" i="0">
                <a:solidFill>
                  <a:srgbClr val="FFFFFF"/>
                </a:solidFill>
                <a:latin typeface="Segoe UI"/>
              </a:rPr>
              <a:t>Opérationnel</a:t>
            </a:r>
          </a:p>
        </p:txBody>
      </p:sp>
      <p:sp>
        <p:nvSpPr>
          <p:cNvPr id="18" name="Oval 17"/>
          <p:cNvSpPr/>
          <p:nvPr/>
        </p:nvSpPr>
        <p:spPr>
          <a:xfrm>
            <a:off x="5257800" y="342900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57800" y="3456432"/>
            <a:ext cx="384048" cy="219456"/>
          </a:xfrm>
          <a:prstGeom prst="rect">
            <a:avLst/>
          </a:prstGeom>
          <a:noFill/>
        </p:spPr>
        <p:txBody>
          <a:bodyPr wrap="square">
            <a:spAutoFit/>
          </a:bodyPr>
          <a:lstStyle/>
          <a:p>
            <a:pPr algn="ctr"/>
            <a:r>
              <a:rPr sz="950" b="1" i="0">
                <a:solidFill>
                  <a:srgbClr val="FFFFFF"/>
                </a:solidFill>
                <a:latin typeface="Segoe UI"/>
              </a:rPr>
              <a:t>P1</a:t>
            </a:r>
          </a:p>
        </p:txBody>
      </p:sp>
      <p:sp>
        <p:nvSpPr>
          <p:cNvPr id="20" name="TextBox 19"/>
          <p:cNvSpPr txBox="1"/>
          <p:nvPr/>
        </p:nvSpPr>
        <p:spPr>
          <a:xfrm>
            <a:off x="548640" y="3776472"/>
            <a:ext cx="5120640" cy="548640"/>
          </a:xfrm>
          <a:prstGeom prst="rect">
            <a:avLst/>
          </a:prstGeom>
          <a:noFill/>
        </p:spPr>
        <p:txBody>
          <a:bodyPr wrap="square">
            <a:spAutoFit/>
          </a:bodyPr>
          <a:lstStyle/>
          <a:p>
            <a:pPr algn="l"/>
            <a:r>
              <a:rPr sz="1250" b="0" i="0">
                <a:solidFill>
                  <a:srgbClr val="1E2B26"/>
                </a:solidFill>
                <a:latin typeface="Segoe UI"/>
              </a:rPr>
              <a:t>Sinistralité élevée : risque humain et social</a:t>
            </a:r>
          </a:p>
        </p:txBody>
      </p:sp>
      <p:sp>
        <p:nvSpPr>
          <p:cNvPr id="21" name="Rounded Rectangle 20"/>
          <p:cNvSpPr/>
          <p:nvPr/>
        </p:nvSpPr>
        <p:spPr>
          <a:xfrm>
            <a:off x="548640" y="438912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407408"/>
            <a:ext cx="1261872" cy="237744"/>
          </a:xfrm>
          <a:prstGeom prst="rect">
            <a:avLst/>
          </a:prstGeom>
          <a:noFill/>
        </p:spPr>
        <p:txBody>
          <a:bodyPr wrap="square">
            <a:spAutoFit/>
          </a:bodyPr>
          <a:lstStyle/>
          <a:p>
            <a:pPr algn="ctr"/>
            <a:r>
              <a:rPr sz="950" b="1" i="0">
                <a:solidFill>
                  <a:srgbClr val="FFFFFF"/>
                </a:solidFill>
                <a:latin typeface="Segoe UI"/>
              </a:rPr>
              <a:t>Transition</a:t>
            </a:r>
          </a:p>
        </p:txBody>
      </p:sp>
      <p:sp>
        <p:nvSpPr>
          <p:cNvPr id="23" name="Oval 22"/>
          <p:cNvSpPr/>
          <p:nvPr/>
        </p:nvSpPr>
        <p:spPr>
          <a:xfrm>
            <a:off x="5257800" y="438912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57800" y="441655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5" name="TextBox 24"/>
          <p:cNvSpPr txBox="1"/>
          <p:nvPr/>
        </p:nvSpPr>
        <p:spPr>
          <a:xfrm>
            <a:off x="548640" y="4736592"/>
            <a:ext cx="5120640" cy="548640"/>
          </a:xfrm>
          <a:prstGeom prst="rect">
            <a:avLst/>
          </a:prstGeom>
          <a:noFill/>
        </p:spPr>
        <p:txBody>
          <a:bodyPr wrap="square">
            <a:spAutoFit/>
          </a:bodyPr>
          <a:lstStyle/>
          <a:p>
            <a:pPr algn="l"/>
            <a:r>
              <a:rPr sz="1250" b="0" i="0">
                <a:solidFill>
                  <a:srgbClr val="1E2B26"/>
                </a:solidFill>
                <a:latin typeface="Segoe UI"/>
              </a:rPr>
              <a:t>Intensité carbone élevée : marge exposée à la tarification du carbone</a:t>
            </a:r>
          </a:p>
        </p:txBody>
      </p:sp>
      <p:sp>
        <p:nvSpPr>
          <p:cNvPr id="26" name="Rounded Rectangle 25"/>
          <p:cNvSpPr/>
          <p:nvPr/>
        </p:nvSpPr>
        <p:spPr>
          <a:xfrm>
            <a:off x="548640" y="5349240"/>
            <a:ext cx="1563624"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67528"/>
            <a:ext cx="1563624" cy="237744"/>
          </a:xfrm>
          <a:prstGeom prst="rect">
            <a:avLst/>
          </a:prstGeom>
          <a:noFill/>
        </p:spPr>
        <p:txBody>
          <a:bodyPr wrap="square">
            <a:spAutoFit/>
          </a:bodyPr>
          <a:lstStyle/>
          <a:p>
            <a:pPr algn="ctr"/>
            <a:r>
              <a:rPr sz="950" b="1" i="0">
                <a:solidFill>
                  <a:srgbClr val="FFFFFF"/>
                </a:solidFill>
                <a:latin typeface="Segoe UI"/>
              </a:rPr>
              <a:t>Réglementaire</a:t>
            </a:r>
          </a:p>
        </p:txBody>
      </p:sp>
      <p:sp>
        <p:nvSpPr>
          <p:cNvPr id="28" name="Oval 27"/>
          <p:cNvSpPr/>
          <p:nvPr/>
        </p:nvSpPr>
        <p:spPr>
          <a:xfrm>
            <a:off x="5257800" y="534924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57800" y="537667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30" name="TextBox 29"/>
          <p:cNvSpPr txBox="1"/>
          <p:nvPr/>
        </p:nvSpPr>
        <p:spPr>
          <a:xfrm>
            <a:off x="548640" y="5696712"/>
            <a:ext cx="5120640" cy="548640"/>
          </a:xfrm>
          <a:prstGeom prst="rect">
            <a:avLst/>
          </a:prstGeom>
          <a:noFill/>
        </p:spPr>
        <p:txBody>
          <a:bodyPr wrap="square">
            <a:spAutoFit/>
          </a:bodyPr>
          <a:lstStyle/>
          <a:p>
            <a:pPr algn="l"/>
            <a:r>
              <a:rPr sz="1250" b="0" i="0">
                <a:solidFill>
                  <a:srgbClr val="1E2B26"/>
                </a:solidFill>
                <a:latin typeface="Segoe UI"/>
              </a:rPr>
              <a:t>Parité sous la cible : risque réglementaire et d'attractivité</a:t>
            </a:r>
          </a:p>
        </p:txBody>
      </p:sp>
      <p:sp>
        <p:nvSpPr>
          <p:cNvPr id="31" name="Rectangle 30"/>
          <p:cNvSpPr/>
          <p:nvPr/>
        </p:nvSpPr>
        <p:spPr>
          <a:xfrm>
            <a:off x="6245352"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19672" y="1371600"/>
            <a:ext cx="566928" cy="566928"/>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19672"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34" name="TextBox 33"/>
          <p:cNvSpPr txBox="1"/>
          <p:nvPr/>
        </p:nvSpPr>
        <p:spPr>
          <a:xfrm>
            <a:off x="7205472" y="1481328"/>
            <a:ext cx="4572000" cy="548640"/>
          </a:xfrm>
          <a:prstGeom prst="rect">
            <a:avLst/>
          </a:prstGeom>
          <a:noFill/>
        </p:spPr>
        <p:txBody>
          <a:bodyPr wrap="square">
            <a:spAutoFit/>
          </a:bodyPr>
          <a:lstStyle/>
          <a:p>
            <a:pPr algn="l"/>
            <a:r>
              <a:rPr sz="1600" b="1" i="0">
                <a:solidFill>
                  <a:srgbClr val="1E2B26"/>
                </a:solidFill>
                <a:latin typeface="Segoe UI"/>
              </a:rPr>
              <a:t>OPPORTUNITÉS MAJEURES</a:t>
            </a:r>
          </a:p>
        </p:txBody>
      </p:sp>
      <p:sp>
        <p:nvSpPr>
          <p:cNvPr id="35" name="Rectangle 34"/>
          <p:cNvSpPr/>
          <p:nvPr/>
        </p:nvSpPr>
        <p:spPr>
          <a:xfrm>
            <a:off x="6519672" y="21945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19672" y="246888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248716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38" name="TextBox 37"/>
          <p:cNvSpPr txBox="1"/>
          <p:nvPr/>
        </p:nvSpPr>
        <p:spPr>
          <a:xfrm>
            <a:off x="6519672" y="2816352"/>
            <a:ext cx="5120640" cy="548640"/>
          </a:xfrm>
          <a:prstGeom prst="rect">
            <a:avLst/>
          </a:prstGeom>
          <a:noFill/>
        </p:spPr>
        <p:txBody>
          <a:bodyPr wrap="square">
            <a:spAutoFit/>
          </a:bodyPr>
          <a:lstStyle/>
          <a:p>
            <a:pPr algn="l"/>
            <a:r>
              <a:rPr sz="1250" b="0" i="0">
                <a:solidFill>
                  <a:srgbClr val="1E2B26"/>
                </a:solidFill>
                <a:latin typeface="Segoe UI"/>
              </a:rPr>
              <a:t>Gouvernance solide : accès facilité aux financements ESG (green bonds, prêts indexés)</a:t>
            </a:r>
          </a:p>
        </p:txBody>
      </p:sp>
      <p:sp>
        <p:nvSpPr>
          <p:cNvPr id="39" name="Rounded Rectangle 38"/>
          <p:cNvSpPr/>
          <p:nvPr/>
        </p:nvSpPr>
        <p:spPr>
          <a:xfrm>
            <a:off x="6519672" y="342900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19672" y="344728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41" name="TextBox 40"/>
          <p:cNvSpPr txBox="1"/>
          <p:nvPr/>
        </p:nvSpPr>
        <p:spPr>
          <a:xfrm>
            <a:off x="6519672" y="3776472"/>
            <a:ext cx="5120640" cy="548640"/>
          </a:xfrm>
          <a:prstGeom prst="rect">
            <a:avLst/>
          </a:prstGeom>
          <a:noFill/>
        </p:spPr>
        <p:txBody>
          <a:bodyPr wrap="square">
            <a:spAutoFit/>
          </a:bodyPr>
          <a:lstStyle/>
          <a:p>
            <a:pPr algn="l"/>
            <a:r>
              <a:rPr sz="1250" b="0" i="0">
                <a:solidFill>
                  <a:srgbClr val="1E2B26"/>
                </a:solidFill>
                <a:latin typeface="Segoe UI"/>
              </a:rPr>
              <a:t>Activités alignées Taxonomie : éligibilité aux financements verts</a:t>
            </a:r>
          </a:p>
        </p:txBody>
      </p:sp>
      <p:sp>
        <p:nvSpPr>
          <p:cNvPr id="42" name="Rounded Rectangle 41"/>
          <p:cNvSpPr/>
          <p:nvPr/>
        </p:nvSpPr>
        <p:spPr>
          <a:xfrm>
            <a:off x="6519672" y="4389120"/>
            <a:ext cx="758952"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4407408"/>
            <a:ext cx="758952" cy="237744"/>
          </a:xfrm>
          <a:prstGeom prst="rect">
            <a:avLst/>
          </a:prstGeom>
          <a:noFill/>
        </p:spPr>
        <p:txBody>
          <a:bodyPr wrap="square">
            <a:spAutoFit/>
          </a:bodyPr>
          <a:lstStyle/>
          <a:p>
            <a:pPr algn="ctr"/>
            <a:r>
              <a:rPr sz="950" b="1" i="0">
                <a:solidFill>
                  <a:srgbClr val="FFFFFF"/>
                </a:solidFill>
                <a:latin typeface="Segoe UI"/>
              </a:rPr>
              <a:t>Coûts</a:t>
            </a:r>
          </a:p>
        </p:txBody>
      </p:sp>
      <p:sp>
        <p:nvSpPr>
          <p:cNvPr id="44" name="TextBox 43"/>
          <p:cNvSpPr txBox="1"/>
          <p:nvPr/>
        </p:nvSpPr>
        <p:spPr>
          <a:xfrm>
            <a:off x="6519672" y="4736592"/>
            <a:ext cx="5120640" cy="548640"/>
          </a:xfrm>
          <a:prstGeom prst="rect">
            <a:avLst/>
          </a:prstGeom>
          <a:noFill/>
        </p:spPr>
        <p:txBody>
          <a:bodyPr wrap="square">
            <a:spAutoFit/>
          </a:bodyPr>
          <a:lstStyle/>
          <a:p>
            <a:pPr algn="l"/>
            <a:r>
              <a:rPr sz="1250" b="0" i="0">
                <a:solidFill>
                  <a:srgbClr val="1E2B26"/>
                </a:solidFill>
                <a:latin typeface="Segoe UI"/>
              </a:rPr>
              <a:t>Mix renouvelable engagé : réduction des coûts énergétiques à terme</a:t>
            </a:r>
          </a:p>
        </p:txBody>
      </p:sp>
      <p:sp>
        <p:nvSpPr>
          <p:cNvPr id="45" name="Rounded Rectangle 44"/>
          <p:cNvSpPr/>
          <p:nvPr/>
        </p:nvSpPr>
        <p:spPr>
          <a:xfrm>
            <a:off x="6519672" y="5349240"/>
            <a:ext cx="960120"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9672" y="5367528"/>
            <a:ext cx="960120" cy="237744"/>
          </a:xfrm>
          <a:prstGeom prst="rect">
            <a:avLst/>
          </a:prstGeom>
          <a:noFill/>
        </p:spPr>
        <p:txBody>
          <a:bodyPr wrap="square">
            <a:spAutoFit/>
          </a:bodyPr>
          <a:lstStyle/>
          <a:p>
            <a:pPr algn="ctr"/>
            <a:r>
              <a:rPr sz="950" b="1" i="0">
                <a:solidFill>
                  <a:srgbClr val="FFFFFF"/>
                </a:solidFill>
                <a:latin typeface="Segoe UI"/>
              </a:rPr>
              <a:t>Talents</a:t>
            </a:r>
          </a:p>
        </p:txBody>
      </p:sp>
      <p:sp>
        <p:nvSpPr>
          <p:cNvPr id="47" name="TextBox 46"/>
          <p:cNvSpPr txBox="1"/>
          <p:nvPr/>
        </p:nvSpPr>
        <p:spPr>
          <a:xfrm>
            <a:off x="6519672" y="5696712"/>
            <a:ext cx="5120640" cy="548640"/>
          </a:xfrm>
          <a:prstGeom prst="rect">
            <a:avLst/>
          </a:prstGeom>
          <a:noFill/>
        </p:spPr>
        <p:txBody>
          <a:bodyPr wrap="square">
            <a:spAutoFit/>
          </a:bodyPr>
          <a:lstStyle/>
          <a:p>
            <a:pPr algn="l"/>
            <a:r>
              <a:rPr sz="1250" b="0" i="0">
                <a:solidFill>
                  <a:srgbClr val="1E2B26"/>
                </a:solidFill>
                <a:latin typeface="Segoe UI"/>
              </a:rPr>
              <a:t>Politique sociale : marque employeur et rétention des talents renforcées</a:t>
            </a:r>
          </a:p>
        </p:txBody>
      </p:sp>
      <p:sp>
        <p:nvSpPr>
          <p:cNvPr id="48" name="TextBox 4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02</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PLAN D'ACTION</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Quoi faire, dans quel ordre, sous quel horizon.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Par où commencer : l'effort au regard de l'impact</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463040"/>
            <a:ext cx="8412480" cy="5163522"/>
          </a:xfrm>
          <a:prstGeom prst="rect">
            <a:avLst/>
          </a:prstGeom>
        </p:spPr>
      </p:pic>
      <p:sp>
        <p:nvSpPr>
          <p:cNvPr id="7" name="Rounded Rectangle 6"/>
          <p:cNvSpPr/>
          <p:nvPr/>
        </p:nvSpPr>
        <p:spPr>
          <a:xfrm>
            <a:off x="8915400" y="1600200"/>
            <a:ext cx="2971800" cy="42062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1600200"/>
            <a:ext cx="82296" cy="42062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71432" y="1783080"/>
            <a:ext cx="251460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9171432" y="2194560"/>
            <a:ext cx="2514600" cy="3474720"/>
          </a:xfrm>
          <a:prstGeom prst="rect">
            <a:avLst/>
          </a:prstGeom>
          <a:noFill/>
        </p:spPr>
        <p:txBody>
          <a:bodyPr wrap="square">
            <a:spAutoFit/>
          </a:bodyPr>
          <a:lstStyle/>
          <a:p>
            <a:pPr algn="l"/>
            <a:r>
              <a:rPr sz="1300" b="0" i="0">
                <a:solidFill>
                  <a:srgbClr val="1E2B26"/>
                </a:solidFill>
                <a:latin typeface="Segoe UI"/>
              </a:rPr>
              <a:t>Trois actions combinent fort impact et effort limité — les actions 2, 3 et 4 — et peuvent être lancées immédiatement à moyens constants. Le chantier structurant du quadrant haut-droit justifie un budget et un responsable dédiés : il porte l'essentiel du potentiel de progression du score.</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Recommandations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97280"/>
            <a:ext cx="11064240" cy="457200"/>
          </a:xfrm>
          <a:prstGeom prst="rect">
            <a:avLst/>
          </a:prstGeom>
          <a:noFill/>
        </p:spPr>
        <p:txBody>
          <a:bodyPr wrap="square">
            <a:spAutoFit/>
          </a:bodyPr>
          <a:lstStyle/>
          <a:p>
            <a:pPr algn="l"/>
            <a:r>
              <a:rPr sz="1300" b="0" i="0">
                <a:solidFill>
                  <a:srgbClr val="5F6B64"/>
                </a:solidFill>
                <a:latin typeface="Segoe UI"/>
              </a:rPr>
              <a:t>Plan d'action priorisé — chaque levier, son bénéfice attendu et son horizon de mise en œuvre.</a:t>
            </a:r>
          </a:p>
        </p:txBody>
      </p:sp>
      <p:sp>
        <p:nvSpPr>
          <p:cNvPr id="7" name="Rectangle 6"/>
          <p:cNvSpPr/>
          <p:nvPr/>
        </p:nvSpPr>
        <p:spPr>
          <a:xfrm>
            <a:off x="548640" y="1783080"/>
            <a:ext cx="11064240" cy="932688"/>
          </a:xfrm>
          <a:prstGeom prst="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002536"/>
            <a:ext cx="502920" cy="50292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502920" cy="411480"/>
          </a:xfrm>
          <a:prstGeom prst="rect">
            <a:avLst/>
          </a:prstGeom>
          <a:noFill/>
        </p:spPr>
        <p:txBody>
          <a:bodyPr wrap="square">
            <a:spAutoFit/>
          </a:bodyPr>
          <a:lstStyle/>
          <a:p>
            <a:pPr algn="ctr"/>
            <a:r>
              <a:rPr sz="1800" b="1" i="0">
                <a:solidFill>
                  <a:srgbClr val="FFFFFF"/>
                </a:solidFill>
                <a:latin typeface="Georgia"/>
              </a:rPr>
              <a:t>1</a:t>
            </a:r>
          </a:p>
        </p:txBody>
      </p:sp>
      <p:sp>
        <p:nvSpPr>
          <p:cNvPr id="10" name="TextBox 9"/>
          <p:cNvSpPr txBox="1"/>
          <p:nvPr/>
        </p:nvSpPr>
        <p:spPr>
          <a:xfrm>
            <a:off x="1508760" y="1892808"/>
            <a:ext cx="7955279" cy="411480"/>
          </a:xfrm>
          <a:prstGeom prst="rect">
            <a:avLst/>
          </a:prstGeom>
          <a:noFill/>
        </p:spPr>
        <p:txBody>
          <a:bodyPr wrap="square">
            <a:spAutoFit/>
          </a:bodyPr>
          <a:lstStyle/>
          <a:p>
            <a:pPr algn="l"/>
            <a:r>
              <a:rPr sz="1500" b="1" i="0">
                <a:solidFill>
                  <a:srgbClr val="1E2B26"/>
                </a:solidFill>
                <a:latin typeface="Georgia"/>
              </a:rPr>
              <a:t>Augmenter la part d'énergie renouvelable à 50%</a:t>
            </a:r>
          </a:p>
        </p:txBody>
      </p:sp>
      <p:sp>
        <p:nvSpPr>
          <p:cNvPr id="11" name="TextBox 10"/>
          <p:cNvSpPr txBox="1"/>
          <p:nvPr/>
        </p:nvSpPr>
        <p:spPr>
          <a:xfrm>
            <a:off x="1508760" y="2286000"/>
            <a:ext cx="8412480" cy="457200"/>
          </a:xfrm>
          <a:prstGeom prst="rect">
            <a:avLst/>
          </a:prstGeom>
          <a:noFill/>
        </p:spPr>
        <p:txBody>
          <a:bodyPr wrap="square">
            <a:spAutoFit/>
          </a:bodyPr>
          <a:lstStyle/>
          <a:p>
            <a:pPr algn="l"/>
            <a:r>
              <a:rPr sz="1100" b="0" i="0">
                <a:solidFill>
                  <a:srgbClr val="5F6B64"/>
                </a:solidFill>
                <a:latin typeface="Segoe UI"/>
              </a:rPr>
              <a:t>Réduit les émissions Scope 2 et l'exposition aux prix de l'énergie ; premier levier d'une trajectoire de réduction.  —  Direction des opérations</a:t>
            </a:r>
          </a:p>
        </p:txBody>
      </p:sp>
      <p:sp>
        <p:nvSpPr>
          <p:cNvPr id="12" name="Rounded Rectangle 11"/>
          <p:cNvSpPr/>
          <p:nvPr/>
        </p:nvSpPr>
        <p:spPr>
          <a:xfrm>
            <a:off x="9829800" y="2039112"/>
            <a:ext cx="1554480" cy="420624"/>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9800" y="2103120"/>
            <a:ext cx="1554480" cy="320040"/>
          </a:xfrm>
          <a:prstGeom prst="rect">
            <a:avLst/>
          </a:prstGeom>
          <a:noFill/>
        </p:spPr>
        <p:txBody>
          <a:bodyPr wrap="square">
            <a:spAutoFit/>
          </a:bodyPr>
          <a:lstStyle/>
          <a:p>
            <a:pPr algn="ctr"/>
            <a:r>
              <a:rPr sz="1100" b="1" i="0">
                <a:solidFill>
                  <a:srgbClr val="FFFFFF"/>
                </a:solidFill>
                <a:latin typeface="Segoe UI"/>
              </a:rPr>
              <a:t>2027</a:t>
            </a:r>
          </a:p>
        </p:txBody>
      </p:sp>
      <p:sp>
        <p:nvSpPr>
          <p:cNvPr id="14" name="Rectangle 13"/>
          <p:cNvSpPr/>
          <p:nvPr/>
        </p:nvSpPr>
        <p:spPr>
          <a:xfrm>
            <a:off x="548640" y="2843784"/>
            <a:ext cx="11064240" cy="932688"/>
          </a:xfrm>
          <a:prstGeom prst="rect">
            <a:avLst/>
          </a:prstGeom>
          <a:solidFill>
            <a:srgbClr val="E6E6DC"/>
          </a:solidFill>
          <a:ln w="15875">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063240"/>
            <a:ext cx="502920" cy="50292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18104"/>
            <a:ext cx="502920" cy="411480"/>
          </a:xfrm>
          <a:prstGeom prst="rect">
            <a:avLst/>
          </a:prstGeom>
          <a:noFill/>
        </p:spPr>
        <p:txBody>
          <a:bodyPr wrap="square">
            <a:spAutoFit/>
          </a:bodyPr>
          <a:lstStyle/>
          <a:p>
            <a:pPr algn="ctr"/>
            <a:r>
              <a:rPr sz="1800" b="1" i="0">
                <a:solidFill>
                  <a:srgbClr val="FFFFFF"/>
                </a:solidFill>
                <a:latin typeface="Georgia"/>
              </a:rPr>
              <a:t>2</a:t>
            </a:r>
          </a:p>
        </p:txBody>
      </p:sp>
      <p:sp>
        <p:nvSpPr>
          <p:cNvPr id="17" name="TextBox 16"/>
          <p:cNvSpPr txBox="1"/>
          <p:nvPr/>
        </p:nvSpPr>
        <p:spPr>
          <a:xfrm>
            <a:off x="1508760" y="2953512"/>
            <a:ext cx="7955279" cy="411480"/>
          </a:xfrm>
          <a:prstGeom prst="rect">
            <a:avLst/>
          </a:prstGeom>
          <a:noFill/>
        </p:spPr>
        <p:txBody>
          <a:bodyPr wrap="square">
            <a:spAutoFit/>
          </a:bodyPr>
          <a:lstStyle/>
          <a:p>
            <a:pPr algn="l"/>
            <a:r>
              <a:rPr sz="1500" b="1" i="0">
                <a:solidFill>
                  <a:srgbClr val="1E2B26"/>
                </a:solidFill>
                <a:latin typeface="Georgia"/>
              </a:rPr>
              <a:t>Définir des objectifs chiffrés de parité femme-homme</a:t>
            </a:r>
          </a:p>
        </p:txBody>
      </p:sp>
      <p:sp>
        <p:nvSpPr>
          <p:cNvPr id="18" name="TextBox 17"/>
          <p:cNvSpPr txBox="1"/>
          <p:nvPr/>
        </p:nvSpPr>
        <p:spPr>
          <a:xfrm>
            <a:off x="1508760" y="3346704"/>
            <a:ext cx="8412480" cy="457200"/>
          </a:xfrm>
          <a:prstGeom prst="rect">
            <a:avLst/>
          </a:prstGeom>
          <a:noFill/>
        </p:spPr>
        <p:txBody>
          <a:bodyPr wrap="square">
            <a:spAutoFit/>
          </a:bodyPr>
          <a:lstStyle/>
          <a:p>
            <a:pPr algn="l"/>
            <a:r>
              <a:rPr sz="1100" b="0" i="0">
                <a:solidFill>
                  <a:srgbClr val="5F6B64"/>
                </a:solidFill>
                <a:latin typeface="Segoe UI"/>
              </a:rPr>
              <a:t>Renforce la diversité des équipes et l'attractivité employeur ; améliore la fidélisation des talents.  —  Direction des ressources humaines</a:t>
            </a:r>
          </a:p>
        </p:txBody>
      </p:sp>
      <p:sp>
        <p:nvSpPr>
          <p:cNvPr id="19" name="Rounded Rectangle 18"/>
          <p:cNvSpPr/>
          <p:nvPr/>
        </p:nvSpPr>
        <p:spPr>
          <a:xfrm>
            <a:off x="9829800" y="3099816"/>
            <a:ext cx="1554480" cy="420624"/>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3163824"/>
            <a:ext cx="1554480" cy="320040"/>
          </a:xfrm>
          <a:prstGeom prst="rect">
            <a:avLst/>
          </a:prstGeom>
          <a:noFill/>
        </p:spPr>
        <p:txBody>
          <a:bodyPr wrap="square">
            <a:spAutoFit/>
          </a:bodyPr>
          <a:lstStyle/>
          <a:p>
            <a:pPr algn="ctr"/>
            <a:r>
              <a:rPr sz="1100" b="1" i="0">
                <a:solidFill>
                  <a:srgbClr val="FFFFFF"/>
                </a:solidFill>
                <a:latin typeface="Segoe UI"/>
              </a:rPr>
              <a:t>2026</a:t>
            </a:r>
          </a:p>
        </p:txBody>
      </p:sp>
      <p:sp>
        <p:nvSpPr>
          <p:cNvPr id="21" name="Rectangle 20"/>
          <p:cNvSpPr/>
          <p:nvPr/>
        </p:nvSpPr>
        <p:spPr>
          <a:xfrm>
            <a:off x="548640" y="3904488"/>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4123944"/>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78808"/>
            <a:ext cx="502920" cy="411480"/>
          </a:xfrm>
          <a:prstGeom prst="rect">
            <a:avLst/>
          </a:prstGeom>
          <a:noFill/>
        </p:spPr>
        <p:txBody>
          <a:bodyPr wrap="square">
            <a:spAutoFit/>
          </a:bodyPr>
          <a:lstStyle/>
          <a:p>
            <a:pPr algn="ctr"/>
            <a:r>
              <a:rPr sz="1800" b="1" i="0">
                <a:solidFill>
                  <a:srgbClr val="FFFFFF"/>
                </a:solidFill>
                <a:latin typeface="Georgia"/>
              </a:rPr>
              <a:t>3</a:t>
            </a:r>
          </a:p>
        </p:txBody>
      </p:sp>
      <p:sp>
        <p:nvSpPr>
          <p:cNvPr id="24" name="TextBox 23"/>
          <p:cNvSpPr txBox="1"/>
          <p:nvPr/>
        </p:nvSpPr>
        <p:spPr>
          <a:xfrm>
            <a:off x="1508760" y="4014216"/>
            <a:ext cx="7955279" cy="411480"/>
          </a:xfrm>
          <a:prstGeom prst="rect">
            <a:avLst/>
          </a:prstGeom>
          <a:noFill/>
        </p:spPr>
        <p:txBody>
          <a:bodyPr wrap="square">
            <a:spAutoFit/>
          </a:bodyPr>
          <a:lstStyle/>
          <a:p>
            <a:pPr algn="l"/>
            <a:r>
              <a:rPr sz="1500" b="1" i="0">
                <a:solidFill>
                  <a:srgbClr val="1E2B26"/>
                </a:solidFill>
                <a:latin typeface="Georgia"/>
              </a:rPr>
              <a:t>Commander un audit ESG indépendant annuel</a:t>
            </a:r>
          </a:p>
        </p:txBody>
      </p:sp>
      <p:sp>
        <p:nvSpPr>
          <p:cNvPr id="25" name="TextBox 24"/>
          <p:cNvSpPr txBox="1"/>
          <p:nvPr/>
        </p:nvSpPr>
        <p:spPr>
          <a:xfrm>
            <a:off x="1508760" y="4407408"/>
            <a:ext cx="8412480" cy="457200"/>
          </a:xfrm>
          <a:prstGeom prst="rect">
            <a:avLst/>
          </a:prstGeom>
          <a:noFill/>
        </p:spPr>
        <p:txBody>
          <a:bodyPr wrap="square">
            <a:spAutoFit/>
          </a:bodyPr>
          <a:lstStyle/>
          <a:p>
            <a:pPr algn="l"/>
            <a:r>
              <a:rPr sz="1100" b="0" i="0">
                <a:solidFill>
                  <a:srgbClr val="5F6B64"/>
                </a:solidFill>
                <a:latin typeface="Segoe UI"/>
              </a:rPr>
              <a:t>Apporte l'assurance d'un tiers désormais requise par la CSRD ; renforce la confiance des investisseurs.  —  Direction générale</a:t>
            </a:r>
          </a:p>
        </p:txBody>
      </p:sp>
      <p:sp>
        <p:nvSpPr>
          <p:cNvPr id="26" name="Rounded Rectangle 25"/>
          <p:cNvSpPr/>
          <p:nvPr/>
        </p:nvSpPr>
        <p:spPr>
          <a:xfrm>
            <a:off x="9829800" y="4160520"/>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9800" y="4224528"/>
            <a:ext cx="1554480" cy="320040"/>
          </a:xfrm>
          <a:prstGeom prst="rect">
            <a:avLst/>
          </a:prstGeom>
          <a:noFill/>
        </p:spPr>
        <p:txBody>
          <a:bodyPr wrap="square">
            <a:spAutoFit/>
          </a:bodyPr>
          <a:lstStyle/>
          <a:p>
            <a:pPr algn="ctr"/>
            <a:r>
              <a:rPr sz="1100" b="1" i="0">
                <a:solidFill>
                  <a:srgbClr val="FFFFFF"/>
                </a:solidFill>
                <a:latin typeface="Segoe UI"/>
              </a:rPr>
              <a:t>Annuel</a:t>
            </a:r>
          </a:p>
        </p:txBody>
      </p:sp>
      <p:sp>
        <p:nvSpPr>
          <p:cNvPr id="28" name="Rectangle 27"/>
          <p:cNvSpPr/>
          <p:nvPr/>
        </p:nvSpPr>
        <p:spPr>
          <a:xfrm>
            <a:off x="548640" y="4965192"/>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5184648"/>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239512"/>
            <a:ext cx="502920" cy="411480"/>
          </a:xfrm>
          <a:prstGeom prst="rect">
            <a:avLst/>
          </a:prstGeom>
          <a:noFill/>
        </p:spPr>
        <p:txBody>
          <a:bodyPr wrap="square">
            <a:spAutoFit/>
          </a:bodyPr>
          <a:lstStyle/>
          <a:p>
            <a:pPr algn="ctr"/>
            <a:r>
              <a:rPr sz="1800" b="1" i="0">
                <a:solidFill>
                  <a:srgbClr val="FFFFFF"/>
                </a:solidFill>
                <a:latin typeface="Georgia"/>
              </a:rPr>
              <a:t>4</a:t>
            </a:r>
          </a:p>
        </p:txBody>
      </p:sp>
      <p:sp>
        <p:nvSpPr>
          <p:cNvPr id="31" name="TextBox 30"/>
          <p:cNvSpPr txBox="1"/>
          <p:nvPr/>
        </p:nvSpPr>
        <p:spPr>
          <a:xfrm>
            <a:off x="1508760" y="5074920"/>
            <a:ext cx="7955279" cy="411480"/>
          </a:xfrm>
          <a:prstGeom prst="rect">
            <a:avLst/>
          </a:prstGeom>
          <a:noFill/>
        </p:spPr>
        <p:txBody>
          <a:bodyPr wrap="square">
            <a:spAutoFit/>
          </a:bodyPr>
          <a:lstStyle/>
          <a:p>
            <a:pPr algn="l"/>
            <a:r>
              <a:rPr sz="1500" b="1" i="0">
                <a:solidFill>
                  <a:srgbClr val="1E2B26"/>
                </a:solidFill>
                <a:latin typeface="Georgia"/>
              </a:rPr>
              <a:t>Aligner la stratégie ESG sur les ODD &amp; la TCFD</a:t>
            </a:r>
          </a:p>
        </p:txBody>
      </p:sp>
      <p:sp>
        <p:nvSpPr>
          <p:cNvPr id="32" name="TextBox 31"/>
          <p:cNvSpPr txBox="1"/>
          <p:nvPr/>
        </p:nvSpPr>
        <p:spPr>
          <a:xfrm>
            <a:off x="1508760" y="5468112"/>
            <a:ext cx="8412480" cy="457200"/>
          </a:xfrm>
          <a:prstGeom prst="rect">
            <a:avLst/>
          </a:prstGeom>
          <a:noFill/>
        </p:spPr>
        <p:txBody>
          <a:bodyPr wrap="square">
            <a:spAutoFit/>
          </a:bodyPr>
          <a:lstStyle/>
          <a:p>
            <a:pPr algn="l"/>
            <a:r>
              <a:rPr sz="1100" b="0" i="0">
                <a:solidFill>
                  <a:srgbClr val="5F6B64"/>
                </a:solidFill>
                <a:latin typeface="Segoe UI"/>
              </a:rPr>
              <a:t>Renforce l'alignement sur les cadres de référence (ODD, TCFD) et la comparabilité du reporting.  —  Direction RSE</a:t>
            </a:r>
          </a:p>
        </p:txBody>
      </p:sp>
      <p:sp>
        <p:nvSpPr>
          <p:cNvPr id="33" name="Rounded Rectangle 32"/>
          <p:cNvSpPr/>
          <p:nvPr/>
        </p:nvSpPr>
        <p:spPr>
          <a:xfrm>
            <a:off x="9829800" y="5221224"/>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29800" y="5285232"/>
            <a:ext cx="1554480" cy="320040"/>
          </a:xfrm>
          <a:prstGeom prst="rect">
            <a:avLst/>
          </a:prstGeom>
          <a:noFill/>
        </p:spPr>
        <p:txBody>
          <a:bodyPr wrap="square">
            <a:spAutoFit/>
          </a:bodyPr>
          <a:lstStyle/>
          <a:p>
            <a:pPr algn="ctr"/>
            <a:r>
              <a:rPr sz="1100" b="1" i="0">
                <a:solidFill>
                  <a:srgbClr val="FFFFFF"/>
                </a:solidFill>
                <a:latin typeface="Segoe UI"/>
              </a:rPr>
              <a:t>Continu</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Un plan d'action ESG sur 12 mois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3246120" cy="411480"/>
          </a:xfrm>
          <a:prstGeom prst="rect">
            <a:avLst/>
          </a:prstGeom>
          <a:noFill/>
        </p:spPr>
        <p:txBody>
          <a:bodyPr wrap="square">
            <a:spAutoFit/>
          </a:bodyPr>
          <a:lstStyle/>
          <a:p>
            <a:pPr algn="l"/>
            <a:r>
              <a:rPr sz="1900" b="1" i="0">
                <a:solidFill>
                  <a:srgbClr val="2E5A4B"/>
                </a:solidFill>
                <a:latin typeface="Georgia"/>
              </a:rPr>
              <a:t>0-3 mois</a:t>
            </a:r>
          </a:p>
        </p:txBody>
      </p:sp>
      <p:sp>
        <p:nvSpPr>
          <p:cNvPr id="8" name="TextBox 7"/>
          <p:cNvSpPr txBox="1"/>
          <p:nvPr/>
        </p:nvSpPr>
        <p:spPr>
          <a:xfrm>
            <a:off x="548640" y="1874519"/>
            <a:ext cx="3246120" cy="320040"/>
          </a:xfrm>
          <a:prstGeom prst="rect">
            <a:avLst/>
          </a:prstGeom>
          <a:noFill/>
        </p:spPr>
        <p:txBody>
          <a:bodyPr wrap="square">
            <a:spAutoFit/>
          </a:bodyPr>
          <a:lstStyle/>
          <a:p>
            <a:pPr algn="l"/>
            <a:r>
              <a:rPr sz="1100" b="0" i="0">
                <a:solidFill>
                  <a:srgbClr val="C9D8C5"/>
                </a:solidFill>
                <a:latin typeface="Segoe UI"/>
              </a:rPr>
              <a:t>Quick wins &amp; fondations</a:t>
            </a:r>
          </a:p>
        </p:txBody>
      </p:sp>
      <p:sp>
        <p:nvSpPr>
          <p:cNvPr id="9" name="Rounded Rectangle 8"/>
          <p:cNvSpPr/>
          <p:nvPr/>
        </p:nvSpPr>
        <p:spPr>
          <a:xfrm>
            <a:off x="320040" y="2377440"/>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2487168"/>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487168"/>
            <a:ext cx="3291840" cy="548640"/>
          </a:xfrm>
          <a:prstGeom prst="rect">
            <a:avLst/>
          </a:prstGeom>
          <a:noFill/>
        </p:spPr>
        <p:txBody>
          <a:bodyPr wrap="square">
            <a:spAutoFit/>
          </a:bodyPr>
          <a:lstStyle/>
          <a:p>
            <a:pPr algn="l"/>
            <a:r>
              <a:rPr sz="1200" b="1" i="0">
                <a:solidFill>
                  <a:srgbClr val="1E2B26"/>
                </a:solidFill>
                <a:latin typeface="Segoe UI"/>
              </a:rPr>
              <a:t>Commander un audit ESG indépendant annuel</a:t>
            </a:r>
          </a:p>
        </p:txBody>
      </p:sp>
      <p:sp>
        <p:nvSpPr>
          <p:cNvPr id="12" name="Rounded Rectangle 11"/>
          <p:cNvSpPr/>
          <p:nvPr/>
        </p:nvSpPr>
        <p:spPr>
          <a:xfrm>
            <a:off x="2862072"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2072"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14" name="Rounded Rectangle 13"/>
          <p:cNvSpPr/>
          <p:nvPr/>
        </p:nvSpPr>
        <p:spPr>
          <a:xfrm>
            <a:off x="4279392"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7992" y="1463040"/>
            <a:ext cx="3246120" cy="411480"/>
          </a:xfrm>
          <a:prstGeom prst="rect">
            <a:avLst/>
          </a:prstGeom>
          <a:noFill/>
        </p:spPr>
        <p:txBody>
          <a:bodyPr wrap="square">
            <a:spAutoFit/>
          </a:bodyPr>
          <a:lstStyle/>
          <a:p>
            <a:pPr algn="l"/>
            <a:r>
              <a:rPr sz="1900" b="1" i="0">
                <a:solidFill>
                  <a:srgbClr val="2E5A4B"/>
                </a:solidFill>
                <a:latin typeface="Georgia"/>
              </a:rPr>
              <a:t>3-6 mois</a:t>
            </a:r>
          </a:p>
        </p:txBody>
      </p:sp>
      <p:sp>
        <p:nvSpPr>
          <p:cNvPr id="16" name="TextBox 15"/>
          <p:cNvSpPr txBox="1"/>
          <p:nvPr/>
        </p:nvSpPr>
        <p:spPr>
          <a:xfrm>
            <a:off x="4507992" y="1874519"/>
            <a:ext cx="3246120" cy="320040"/>
          </a:xfrm>
          <a:prstGeom prst="rect">
            <a:avLst/>
          </a:prstGeom>
          <a:noFill/>
        </p:spPr>
        <p:txBody>
          <a:bodyPr wrap="square">
            <a:spAutoFit/>
          </a:bodyPr>
          <a:lstStyle/>
          <a:p>
            <a:pPr algn="l"/>
            <a:r>
              <a:rPr sz="1100" b="0" i="0">
                <a:solidFill>
                  <a:srgbClr val="C9D8C5"/>
                </a:solidFill>
                <a:latin typeface="Segoe UI"/>
              </a:rPr>
              <a:t>Structuration</a:t>
            </a:r>
          </a:p>
        </p:txBody>
      </p:sp>
      <p:sp>
        <p:nvSpPr>
          <p:cNvPr id="17" name="Rounded Rectangle 16"/>
          <p:cNvSpPr/>
          <p:nvPr/>
        </p:nvSpPr>
        <p:spPr>
          <a:xfrm>
            <a:off x="4279392" y="2377440"/>
            <a:ext cx="3703320" cy="822960"/>
          </a:xfrm>
          <a:prstGeom prst="roundRect">
            <a:avLst/>
          </a:prstGeom>
          <a:solidFill>
            <a:srgbClr val="E6E6DC"/>
          </a:solidFill>
          <a:ln w="1270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79392" y="2487168"/>
            <a:ext cx="64008" cy="60350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5424" y="2487168"/>
            <a:ext cx="3291840" cy="548640"/>
          </a:xfrm>
          <a:prstGeom prst="rect">
            <a:avLst/>
          </a:prstGeom>
          <a:noFill/>
        </p:spPr>
        <p:txBody>
          <a:bodyPr wrap="square">
            <a:spAutoFit/>
          </a:bodyPr>
          <a:lstStyle/>
          <a:p>
            <a:pPr algn="l"/>
            <a:r>
              <a:rPr sz="1200" b="1" i="0">
                <a:solidFill>
                  <a:srgbClr val="1E2B26"/>
                </a:solidFill>
                <a:latin typeface="Segoe UI"/>
              </a:rPr>
              <a:t>Définir des objectifs chiffrés de parité femme-homme</a:t>
            </a:r>
          </a:p>
        </p:txBody>
      </p:sp>
      <p:sp>
        <p:nvSpPr>
          <p:cNvPr id="20" name="Rounded Rectangle 19"/>
          <p:cNvSpPr/>
          <p:nvPr/>
        </p:nvSpPr>
        <p:spPr>
          <a:xfrm>
            <a:off x="6821424"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21424"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22" name="Rounded Rectangle 21"/>
          <p:cNvSpPr/>
          <p:nvPr/>
        </p:nvSpPr>
        <p:spPr>
          <a:xfrm>
            <a:off x="4279392" y="3310128"/>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9392" y="3419856"/>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5424" y="3419856"/>
            <a:ext cx="3291840" cy="548640"/>
          </a:xfrm>
          <a:prstGeom prst="rect">
            <a:avLst/>
          </a:prstGeom>
          <a:noFill/>
        </p:spPr>
        <p:txBody>
          <a:bodyPr wrap="square">
            <a:spAutoFit/>
          </a:bodyPr>
          <a:lstStyle/>
          <a:p>
            <a:pPr algn="l"/>
            <a:r>
              <a:rPr sz="1200" b="1" i="0">
                <a:solidFill>
                  <a:srgbClr val="1E2B26"/>
                </a:solidFill>
                <a:latin typeface="Segoe UI"/>
              </a:rPr>
              <a:t>Aligner la stratégie ESG sur les ODD &amp; la TCFD</a:t>
            </a:r>
          </a:p>
        </p:txBody>
      </p:sp>
      <p:sp>
        <p:nvSpPr>
          <p:cNvPr id="25" name="Rounded Rectangle 24"/>
          <p:cNvSpPr/>
          <p:nvPr/>
        </p:nvSpPr>
        <p:spPr>
          <a:xfrm>
            <a:off x="8238744"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7344" y="1463040"/>
            <a:ext cx="3246120" cy="411480"/>
          </a:xfrm>
          <a:prstGeom prst="rect">
            <a:avLst/>
          </a:prstGeom>
          <a:noFill/>
        </p:spPr>
        <p:txBody>
          <a:bodyPr wrap="square">
            <a:spAutoFit/>
          </a:bodyPr>
          <a:lstStyle/>
          <a:p>
            <a:pPr algn="l"/>
            <a:r>
              <a:rPr sz="1900" b="1" i="0">
                <a:solidFill>
                  <a:srgbClr val="2E5A4B"/>
                </a:solidFill>
                <a:latin typeface="Georgia"/>
              </a:rPr>
              <a:t>6-12 mois</a:t>
            </a:r>
          </a:p>
        </p:txBody>
      </p:sp>
      <p:sp>
        <p:nvSpPr>
          <p:cNvPr id="27" name="TextBox 26"/>
          <p:cNvSpPr txBox="1"/>
          <p:nvPr/>
        </p:nvSpPr>
        <p:spPr>
          <a:xfrm>
            <a:off x="8467344" y="1874519"/>
            <a:ext cx="3246120" cy="320040"/>
          </a:xfrm>
          <a:prstGeom prst="rect">
            <a:avLst/>
          </a:prstGeom>
          <a:noFill/>
        </p:spPr>
        <p:txBody>
          <a:bodyPr wrap="square">
            <a:spAutoFit/>
          </a:bodyPr>
          <a:lstStyle/>
          <a:p>
            <a:pPr algn="l"/>
            <a:r>
              <a:rPr sz="1100" b="0" i="0">
                <a:solidFill>
                  <a:srgbClr val="C9D8C5"/>
                </a:solidFill>
                <a:latin typeface="Segoe UI"/>
              </a:rPr>
              <a:t>Deploiement</a:t>
            </a:r>
          </a:p>
        </p:txBody>
      </p:sp>
      <p:sp>
        <p:nvSpPr>
          <p:cNvPr id="28" name="Rounded Rectangle 27"/>
          <p:cNvSpPr/>
          <p:nvPr/>
        </p:nvSpPr>
        <p:spPr>
          <a:xfrm>
            <a:off x="8238744" y="2377440"/>
            <a:ext cx="3703320" cy="822960"/>
          </a:xfrm>
          <a:prstGeom prst="round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38744" y="2487168"/>
            <a:ext cx="64008" cy="60350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94776" y="2487168"/>
            <a:ext cx="3291840" cy="548640"/>
          </a:xfrm>
          <a:prstGeom prst="rect">
            <a:avLst/>
          </a:prstGeom>
          <a:noFill/>
        </p:spPr>
        <p:txBody>
          <a:bodyPr wrap="square">
            <a:spAutoFit/>
          </a:bodyPr>
          <a:lstStyle/>
          <a:p>
            <a:pPr algn="l"/>
            <a:r>
              <a:rPr sz="1200" b="1" i="0">
                <a:solidFill>
                  <a:srgbClr val="1E2B26"/>
                </a:solidFill>
                <a:latin typeface="Segoe UI"/>
              </a:rPr>
              <a:t>Augmenter la part d'énergie renouvelable à 50%</a:t>
            </a: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10515600" cy="822960"/>
          </a:xfrm>
          <a:prstGeom prst="rect">
            <a:avLst/>
          </a:prstGeom>
          <a:noFill/>
        </p:spPr>
        <p:txBody>
          <a:bodyPr wrap="square">
            <a:spAutoFit/>
          </a:bodyPr>
          <a:lstStyle/>
          <a:p>
            <a:pPr algn="l"/>
            <a:r>
              <a:rPr sz="3000" b="1" i="0">
                <a:solidFill>
                  <a:srgbClr val="F3F0E8"/>
                </a:solidFill>
                <a:latin typeface="Georgia"/>
              </a:rPr>
              <a:t>Conclusion &amp; Engagements</a:t>
            </a:r>
          </a:p>
        </p:txBody>
      </p:sp>
      <p:sp>
        <p:nvSpPr>
          <p:cNvPr id="5" name="Rectangle 4"/>
          <p:cNvSpPr/>
          <p:nvPr/>
        </p:nvSpPr>
        <p:spPr>
          <a:xfrm>
            <a:off x="621792" y="1481328"/>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10972800" cy="1188720"/>
          </a:xfrm>
          <a:prstGeom prst="rect">
            <a:avLst/>
          </a:prstGeom>
          <a:noFill/>
        </p:spPr>
        <p:txBody>
          <a:bodyPr wrap="square">
            <a:spAutoFit/>
          </a:bodyPr>
          <a:lstStyle/>
          <a:p>
            <a:pPr algn="l"/>
            <a:r>
              <a:rPr sz="2000" b="1" i="0">
                <a:solidFill>
                  <a:srgbClr val="F3F0E8"/>
                </a:solidFill>
                <a:latin typeface="Georgia"/>
              </a:rPr>
              <a:t>Acme Industries affiche un profil ESG solide (66/100, A), porté par la gouvernance (75/100) ; le social (55/100) concentre le potentiel de progression.</a:t>
            </a:r>
          </a:p>
        </p:txBody>
      </p:sp>
      <p:sp>
        <p:nvSpPr>
          <p:cNvPr id="7" name="TextBox 6"/>
          <p:cNvSpPr txBox="1"/>
          <p:nvPr/>
        </p:nvSpPr>
        <p:spPr>
          <a:xfrm>
            <a:off x="594360" y="3246120"/>
            <a:ext cx="7315200" cy="365760"/>
          </a:xfrm>
          <a:prstGeom prst="rect">
            <a:avLst/>
          </a:prstGeom>
          <a:noFill/>
        </p:spPr>
        <p:txBody>
          <a:bodyPr wrap="square">
            <a:spAutoFit/>
          </a:bodyPr>
          <a:lstStyle/>
          <a:p>
            <a:pPr algn="l"/>
            <a:r>
              <a:rPr sz="1300" b="1" i="0">
                <a:solidFill>
                  <a:srgbClr val="2E5A4B"/>
                </a:solidFill>
                <a:latin typeface="Segoe UI"/>
              </a:rPr>
              <a:t>NOS ENGAGEMENTS PRIORITAIRES</a:t>
            </a:r>
          </a:p>
        </p:txBody>
      </p:sp>
      <p:sp>
        <p:nvSpPr>
          <p:cNvPr id="8" name="TextBox 7"/>
          <p:cNvSpPr txBox="1"/>
          <p:nvPr/>
        </p:nvSpPr>
        <p:spPr>
          <a:xfrm>
            <a:off x="594360" y="3794760"/>
            <a:ext cx="822960" cy="640080"/>
          </a:xfrm>
          <a:prstGeom prst="rect">
            <a:avLst/>
          </a:prstGeom>
          <a:noFill/>
        </p:spPr>
        <p:txBody>
          <a:bodyPr wrap="square">
            <a:spAutoFit/>
          </a:bodyPr>
          <a:lstStyle/>
          <a:p>
            <a:pPr algn="l"/>
            <a:r>
              <a:rPr sz="3000" b="1" i="0">
                <a:solidFill>
                  <a:srgbClr val="2E5A4B"/>
                </a:solidFill>
                <a:latin typeface="Georgia"/>
              </a:rPr>
              <a:t>01</a:t>
            </a:r>
          </a:p>
        </p:txBody>
      </p:sp>
      <p:sp>
        <p:nvSpPr>
          <p:cNvPr id="9" name="TextBox 8"/>
          <p:cNvSpPr txBox="1"/>
          <p:nvPr/>
        </p:nvSpPr>
        <p:spPr>
          <a:xfrm>
            <a:off x="1554480" y="3840480"/>
            <a:ext cx="8229600" cy="457200"/>
          </a:xfrm>
          <a:prstGeom prst="rect">
            <a:avLst/>
          </a:prstGeom>
          <a:noFill/>
        </p:spPr>
        <p:txBody>
          <a:bodyPr wrap="square">
            <a:spAutoFit/>
          </a:bodyPr>
          <a:lstStyle/>
          <a:p>
            <a:pPr algn="l"/>
            <a:r>
              <a:rPr sz="1600" b="1" i="0">
                <a:solidFill>
                  <a:srgbClr val="F3F0E8"/>
                </a:solidFill>
                <a:latin typeface="Segoe UI"/>
              </a:rPr>
              <a:t>Augmenter la part d'énergie renouvelable à 50%</a:t>
            </a:r>
          </a:p>
        </p:txBody>
      </p:sp>
      <p:sp>
        <p:nvSpPr>
          <p:cNvPr id="10" name="TextBox 9"/>
          <p:cNvSpPr txBox="1"/>
          <p:nvPr/>
        </p:nvSpPr>
        <p:spPr>
          <a:xfrm>
            <a:off x="9966960" y="3867912"/>
            <a:ext cx="1737360" cy="365760"/>
          </a:xfrm>
          <a:prstGeom prst="rect">
            <a:avLst/>
          </a:prstGeom>
          <a:noFill/>
        </p:spPr>
        <p:txBody>
          <a:bodyPr wrap="square">
            <a:spAutoFit/>
          </a:bodyPr>
          <a:lstStyle/>
          <a:p>
            <a:pPr algn="r"/>
            <a:r>
              <a:rPr sz="1300" b="1" i="0">
                <a:solidFill>
                  <a:srgbClr val="C9D8C5"/>
                </a:solidFill>
                <a:latin typeface="Segoe UI"/>
              </a:rPr>
              <a:t>2027</a:t>
            </a:r>
          </a:p>
        </p:txBody>
      </p:sp>
      <p:sp>
        <p:nvSpPr>
          <p:cNvPr id="11" name="Rectangle 10"/>
          <p:cNvSpPr/>
          <p:nvPr/>
        </p:nvSpPr>
        <p:spPr>
          <a:xfrm>
            <a:off x="1554480" y="4453128"/>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81144"/>
            <a:ext cx="822960" cy="640080"/>
          </a:xfrm>
          <a:prstGeom prst="rect">
            <a:avLst/>
          </a:prstGeom>
          <a:noFill/>
        </p:spPr>
        <p:txBody>
          <a:bodyPr wrap="square">
            <a:spAutoFit/>
          </a:bodyPr>
          <a:lstStyle/>
          <a:p>
            <a:pPr algn="l"/>
            <a:r>
              <a:rPr sz="3000" b="1" i="0">
                <a:solidFill>
                  <a:srgbClr val="2E5A4B"/>
                </a:solidFill>
                <a:latin typeface="Georgia"/>
              </a:rPr>
              <a:t>02</a:t>
            </a:r>
          </a:p>
        </p:txBody>
      </p:sp>
      <p:sp>
        <p:nvSpPr>
          <p:cNvPr id="13" name="TextBox 12"/>
          <p:cNvSpPr txBox="1"/>
          <p:nvPr/>
        </p:nvSpPr>
        <p:spPr>
          <a:xfrm>
            <a:off x="1554480" y="4626864"/>
            <a:ext cx="8229600" cy="457200"/>
          </a:xfrm>
          <a:prstGeom prst="rect">
            <a:avLst/>
          </a:prstGeom>
          <a:noFill/>
        </p:spPr>
        <p:txBody>
          <a:bodyPr wrap="square">
            <a:spAutoFit/>
          </a:bodyPr>
          <a:lstStyle/>
          <a:p>
            <a:pPr algn="l"/>
            <a:r>
              <a:rPr sz="1600" b="1" i="0">
                <a:solidFill>
                  <a:srgbClr val="F3F0E8"/>
                </a:solidFill>
                <a:latin typeface="Segoe UI"/>
              </a:rPr>
              <a:t>Définir des objectifs chiffrés de parité femme-homme</a:t>
            </a:r>
          </a:p>
        </p:txBody>
      </p:sp>
      <p:sp>
        <p:nvSpPr>
          <p:cNvPr id="14" name="TextBox 13"/>
          <p:cNvSpPr txBox="1"/>
          <p:nvPr/>
        </p:nvSpPr>
        <p:spPr>
          <a:xfrm>
            <a:off x="9966960" y="4654296"/>
            <a:ext cx="1737360" cy="365760"/>
          </a:xfrm>
          <a:prstGeom prst="rect">
            <a:avLst/>
          </a:prstGeom>
          <a:noFill/>
        </p:spPr>
        <p:txBody>
          <a:bodyPr wrap="square">
            <a:spAutoFit/>
          </a:bodyPr>
          <a:lstStyle/>
          <a:p>
            <a:pPr algn="r"/>
            <a:r>
              <a:rPr sz="1300" b="1" i="0">
                <a:solidFill>
                  <a:srgbClr val="C9D8C5"/>
                </a:solidFill>
                <a:latin typeface="Segoe UI"/>
              </a:rPr>
              <a:t>2026</a:t>
            </a:r>
          </a:p>
        </p:txBody>
      </p:sp>
      <p:sp>
        <p:nvSpPr>
          <p:cNvPr id="15" name="Rectangle 14"/>
          <p:cNvSpPr/>
          <p:nvPr/>
        </p:nvSpPr>
        <p:spPr>
          <a:xfrm>
            <a:off x="1554480" y="5239512"/>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5367528"/>
            <a:ext cx="822960" cy="640080"/>
          </a:xfrm>
          <a:prstGeom prst="rect">
            <a:avLst/>
          </a:prstGeom>
          <a:noFill/>
        </p:spPr>
        <p:txBody>
          <a:bodyPr wrap="square">
            <a:spAutoFit/>
          </a:bodyPr>
          <a:lstStyle/>
          <a:p>
            <a:pPr algn="l"/>
            <a:r>
              <a:rPr sz="3000" b="1" i="0">
                <a:solidFill>
                  <a:srgbClr val="2E5A4B"/>
                </a:solidFill>
                <a:latin typeface="Georgia"/>
              </a:rPr>
              <a:t>03</a:t>
            </a:r>
          </a:p>
        </p:txBody>
      </p:sp>
      <p:sp>
        <p:nvSpPr>
          <p:cNvPr id="17" name="TextBox 16"/>
          <p:cNvSpPr txBox="1"/>
          <p:nvPr/>
        </p:nvSpPr>
        <p:spPr>
          <a:xfrm>
            <a:off x="1554480" y="5413248"/>
            <a:ext cx="8229600" cy="457200"/>
          </a:xfrm>
          <a:prstGeom prst="rect">
            <a:avLst/>
          </a:prstGeom>
          <a:noFill/>
        </p:spPr>
        <p:txBody>
          <a:bodyPr wrap="square">
            <a:spAutoFit/>
          </a:bodyPr>
          <a:lstStyle/>
          <a:p>
            <a:pPr algn="l"/>
            <a:r>
              <a:rPr sz="1600" b="1" i="0">
                <a:solidFill>
                  <a:srgbClr val="F3F0E8"/>
                </a:solidFill>
                <a:latin typeface="Segoe UI"/>
              </a:rPr>
              <a:t>Commander un audit ESG indépendant annuel</a:t>
            </a:r>
          </a:p>
        </p:txBody>
      </p:sp>
      <p:sp>
        <p:nvSpPr>
          <p:cNvPr id="18" name="TextBox 17"/>
          <p:cNvSpPr txBox="1"/>
          <p:nvPr/>
        </p:nvSpPr>
        <p:spPr>
          <a:xfrm>
            <a:off x="9966960" y="5440680"/>
            <a:ext cx="1737360" cy="365760"/>
          </a:xfrm>
          <a:prstGeom prst="rect">
            <a:avLst/>
          </a:prstGeom>
          <a:noFill/>
        </p:spPr>
        <p:txBody>
          <a:bodyPr wrap="square">
            <a:spAutoFit/>
          </a:bodyPr>
          <a:lstStyle/>
          <a:p>
            <a:pPr algn="r"/>
            <a:r>
              <a:rPr sz="1300" b="1" i="0">
                <a:solidFill>
                  <a:srgbClr val="C9D8C5"/>
                </a:solidFill>
                <a:latin typeface="Segoe UI"/>
              </a:rPr>
              <a:t>Annuel</a:t>
            </a:r>
          </a:p>
        </p:txBody>
      </p:sp>
      <p:sp>
        <p:nvSpPr>
          <p:cNvPr id="19" name="TextBox 18"/>
          <p:cNvSpPr txBox="1"/>
          <p:nvPr/>
        </p:nvSpPr>
        <p:spPr>
          <a:xfrm>
            <a:off x="594360" y="6400800"/>
            <a:ext cx="10058400" cy="365760"/>
          </a:xfrm>
          <a:prstGeom prst="rect">
            <a:avLst/>
          </a:prstGeom>
          <a:noFill/>
        </p:spPr>
        <p:txBody>
          <a:bodyPr wrap="square">
            <a:spAutoFit/>
          </a:bodyPr>
          <a:lstStyle/>
          <a:p>
            <a:pPr algn="l"/>
            <a:r>
              <a:rPr sz="900" b="0" i="1">
                <a:solidFill>
                  <a:srgbClr val="C9D8C5"/>
                </a:solidFill>
                <a:latin typeface="Segoe UI"/>
              </a:rPr>
              <a:t>© 2025 Acme Industries — Document confidentiel</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