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937760"/>
            <a:ext cx="12188952" cy="192024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051560"/>
            <a:ext cx="8229600" cy="457200"/>
          </a:xfrm>
          <a:prstGeom prst="rect">
            <a:avLst/>
          </a:prstGeom>
          <a:noFill/>
        </p:spPr>
        <p:txBody>
          <a:bodyPr wrap="square">
            <a:spAutoFit/>
          </a:bodyPr>
          <a:lstStyle/>
          <a:p>
            <a:pPr algn="l"/>
            <a:r>
              <a:rPr sz="1500" b="1" i="0">
                <a:solidFill>
                  <a:srgbClr val="F39C12"/>
                </a:solidFill>
                <a:latin typeface="Calibri"/>
              </a:rPr>
              <a:t>RAPPORT ESG — SYNTHÈSE EXÉCUTIVE</a:t>
            </a:r>
          </a:p>
        </p:txBody>
      </p:sp>
      <p:sp>
        <p:nvSpPr>
          <p:cNvPr id="6" name="TextBox 5"/>
          <p:cNvSpPr txBox="1"/>
          <p:nvPr/>
        </p:nvSpPr>
        <p:spPr>
          <a:xfrm>
            <a:off x="548640" y="1600200"/>
            <a:ext cx="8412480" cy="1737360"/>
          </a:xfrm>
          <a:prstGeom prst="rect">
            <a:avLst/>
          </a:prstGeom>
          <a:noFill/>
        </p:spPr>
        <p:txBody>
          <a:bodyPr wrap="square">
            <a:spAutoFit/>
          </a:bodyPr>
          <a:lstStyle/>
          <a:p>
            <a:pPr algn="l"/>
            <a:r>
              <a:rPr sz="5200" b="1" i="0">
                <a:solidFill>
                  <a:srgbClr val="FFFFFF"/>
                </a:solidFill>
                <a:latin typeface="Calibri"/>
              </a:rPr>
              <a:t>ACME INDUSTRIES</a:t>
            </a:r>
          </a:p>
        </p:txBody>
      </p:sp>
      <p:sp>
        <p:nvSpPr>
          <p:cNvPr id="7" name="Rectangle 6"/>
          <p:cNvSpPr/>
          <p:nvPr/>
        </p:nvSpPr>
        <p:spPr>
          <a:xfrm>
            <a:off x="594360" y="3429000"/>
            <a:ext cx="1828800" cy="54864"/>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657600"/>
            <a:ext cx="7772400" cy="640080"/>
          </a:xfrm>
          <a:prstGeom prst="rect">
            <a:avLst/>
          </a:prstGeom>
          <a:noFill/>
        </p:spPr>
        <p:txBody>
          <a:bodyPr wrap="square">
            <a:spAutoFit/>
          </a:bodyPr>
          <a:lstStyle/>
          <a:p>
            <a:pPr algn="l"/>
            <a:r>
              <a:rPr sz="2100" b="0" i="1">
                <a:solidFill>
                  <a:srgbClr val="AEC6E8"/>
                </a:solidFill>
                <a:latin typeface="Calibri"/>
              </a:rPr>
              <a:t>Une performance ESG solide et engagée</a:t>
            </a:r>
          </a:p>
        </p:txBody>
      </p:sp>
      <p:sp>
        <p:nvSpPr>
          <p:cNvPr id="9" name="TextBox 8"/>
          <p:cNvSpPr txBox="1"/>
          <p:nvPr/>
        </p:nvSpPr>
        <p:spPr>
          <a:xfrm>
            <a:off x="594360" y="5989320"/>
            <a:ext cx="7315200" cy="457200"/>
          </a:xfrm>
          <a:prstGeom prst="rect">
            <a:avLst/>
          </a:prstGeom>
          <a:noFill/>
        </p:spPr>
        <p:txBody>
          <a:bodyPr wrap="square">
            <a:spAutoFit/>
          </a:bodyPr>
          <a:lstStyle/>
          <a:p>
            <a:pPr algn="l"/>
            <a:r>
              <a:rPr sz="1300" b="0" i="0">
                <a:solidFill>
                  <a:srgbClr val="AEC6E8"/>
                </a:solidFill>
                <a:latin typeface="Calibri"/>
              </a:rPr>
              <a:t>Exercice 2025   |   Industrie manufacturière   |   France</a:t>
            </a:r>
          </a:p>
        </p:txBody>
      </p:sp>
      <p:sp>
        <p:nvSpPr>
          <p:cNvPr id="10" name="TextBox 9"/>
          <p:cNvSpPr txBox="1"/>
          <p:nvPr/>
        </p:nvSpPr>
        <p:spPr>
          <a:xfrm>
            <a:off x="7818120" y="4892040"/>
            <a:ext cx="2194560" cy="1463040"/>
          </a:xfrm>
          <a:prstGeom prst="rect">
            <a:avLst/>
          </a:prstGeom>
          <a:noFill/>
        </p:spPr>
        <p:txBody>
          <a:bodyPr wrap="square">
            <a:spAutoFit/>
          </a:bodyPr>
          <a:lstStyle/>
          <a:p>
            <a:pPr algn="r"/>
            <a:r>
              <a:rPr sz="8200" b="1" i="0">
                <a:solidFill>
                  <a:srgbClr val="F39C12"/>
                </a:solidFill>
                <a:latin typeface="Calibri"/>
              </a:rPr>
              <a:t>66</a:t>
            </a:r>
          </a:p>
        </p:txBody>
      </p:sp>
      <p:sp>
        <p:nvSpPr>
          <p:cNvPr id="11" name="TextBox 10"/>
          <p:cNvSpPr txBox="1"/>
          <p:nvPr/>
        </p:nvSpPr>
        <p:spPr>
          <a:xfrm>
            <a:off x="7818120" y="6172200"/>
            <a:ext cx="2194560" cy="365760"/>
          </a:xfrm>
          <a:prstGeom prst="rect">
            <a:avLst/>
          </a:prstGeom>
          <a:noFill/>
        </p:spPr>
        <p:txBody>
          <a:bodyPr wrap="square">
            <a:spAutoFit/>
          </a:bodyPr>
          <a:lstStyle/>
          <a:p>
            <a:pPr algn="r"/>
            <a:r>
              <a:rPr sz="1400" b="0" i="0">
                <a:solidFill>
                  <a:srgbClr val="AEC6E8"/>
                </a:solidFill>
                <a:latin typeface="Calibri"/>
              </a:rPr>
              <a:t>/100</a:t>
            </a:r>
          </a:p>
        </p:txBody>
      </p:sp>
      <p:sp>
        <p:nvSpPr>
          <p:cNvPr id="12" name="Rounded Rectangle 11"/>
          <p:cNvSpPr/>
          <p:nvPr/>
        </p:nvSpPr>
        <p:spPr>
          <a:xfrm>
            <a:off x="10241280" y="5074920"/>
            <a:ext cx="1417320" cy="86868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0" y="5193792"/>
            <a:ext cx="1417320" cy="640080"/>
          </a:xfrm>
          <a:prstGeom prst="rect">
            <a:avLst/>
          </a:prstGeom>
          <a:noFill/>
        </p:spPr>
        <p:txBody>
          <a:bodyPr wrap="square">
            <a:spAutoFit/>
          </a:bodyPr>
          <a:lstStyle/>
          <a:p>
            <a:pPr algn="ctr"/>
            <a:r>
              <a:rPr sz="3200" b="1" i="0">
                <a:solidFill>
                  <a:srgbClr val="1B3A6B"/>
                </a:solidFill>
                <a:latin typeface="Calibri"/>
              </a:rPr>
              <a:t>A</a:t>
            </a:r>
          </a:p>
        </p:txBody>
      </p:sp>
      <p:sp>
        <p:nvSpPr>
          <p:cNvPr id="14" name="TextBox 13"/>
          <p:cNvSpPr txBox="1"/>
          <p:nvPr/>
        </p:nvSpPr>
        <p:spPr>
          <a:xfrm>
            <a:off x="640080" y="5989320"/>
            <a:ext cx="10881360" cy="365760"/>
          </a:xfrm>
          <a:prstGeom prst="rect">
            <a:avLst/>
          </a:prstGeom>
          <a:noFill/>
        </p:spPr>
        <p:txBody>
          <a:bodyPr wrap="square">
            <a:spAutoFit/>
          </a:bodyPr>
          <a:lstStyle/>
          <a:p>
            <a:pPr algn="l"/>
            <a:r>
              <a:rPr sz="1200" b="0" i="1">
                <a:solidFill>
                  <a:srgbClr val="AEC6E8"/>
                </a:solidFill>
                <a:latin typeface="Calibri"/>
              </a:rPr>
              <a:t>Présenté par J. Martin — Directrice Générale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12188952" cy="4023360"/>
          </a:xfrm>
          <a:prstGeom prst="rect">
            <a:avLst/>
          </a:prstGeom>
        </p:spPr>
      </p:pic>
      <p:sp>
        <p:nvSpPr>
          <p:cNvPr id="4" name="TextBox 3"/>
          <p:cNvSpPr txBox="1"/>
          <p:nvPr/>
        </p:nvSpPr>
        <p:spPr>
          <a:xfrm>
            <a:off x="640080" y="4480560"/>
            <a:ext cx="10881360" cy="822960"/>
          </a:xfrm>
          <a:prstGeom prst="rect">
            <a:avLst/>
          </a:prstGeom>
          <a:noFill/>
        </p:spPr>
        <p:txBody>
          <a:bodyPr wrap="square">
            <a:spAutoFit/>
          </a:bodyPr>
          <a:lstStyle/>
          <a:p>
            <a:pPr algn="l"/>
            <a:r>
              <a:rPr sz="3200" b="1" i="0">
                <a:solidFill>
                  <a:srgbClr val="2C3E50"/>
                </a:solidFill>
                <a:latin typeface="Calibri"/>
              </a:rPr>
              <a:t>Rapport ESG 2025</a:t>
            </a:r>
          </a:p>
        </p:txBody>
      </p:sp>
      <p:sp>
        <p:nvSpPr>
          <p:cNvPr id="5" name="TextBox 4"/>
          <p:cNvSpPr txBox="1"/>
          <p:nvPr/>
        </p:nvSpPr>
        <p:spPr>
          <a:xfrm>
            <a:off x="640080" y="5394960"/>
            <a:ext cx="10881360" cy="457200"/>
          </a:xfrm>
          <a:prstGeom prst="rect">
            <a:avLst/>
          </a:prstGeom>
          <a:noFill/>
        </p:spPr>
        <p:txBody>
          <a:bodyPr wrap="square">
            <a:spAutoFit/>
          </a:bodyPr>
          <a:lstStyle/>
          <a:p>
            <a:pPr algn="l"/>
            <a:r>
              <a:rPr sz="1500" b="0" i="0">
                <a:solidFill>
                  <a:srgbClr val="6B7C93"/>
                </a:solidFill>
                <a:latin typeface="Calibri"/>
              </a:rPr>
              <a:t>Acme Industries  •  Industrie manufacturière</a:t>
            </a:r>
          </a:p>
        </p:txBody>
      </p:sp>
      <p:sp>
        <p:nvSpPr>
          <p:cNvPr id="6" name="TextBox 5"/>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48272"/>
            <a:ext cx="12188952" cy="109728"/>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914400"/>
            <a:ext cx="12188952" cy="411480"/>
          </a:xfrm>
          <a:prstGeom prst="rect">
            <a:avLst/>
          </a:prstGeom>
          <a:noFill/>
        </p:spPr>
        <p:txBody>
          <a:bodyPr wrap="square">
            <a:spAutoFit/>
          </a:bodyPr>
          <a:lstStyle/>
          <a:p>
            <a:pPr algn="ctr"/>
            <a:r>
              <a:rPr sz="1300" b="1" i="0">
                <a:solidFill>
                  <a:srgbClr val="F39C12"/>
                </a:solidFill>
                <a:latin typeface="Calibri"/>
              </a:rPr>
              <a:t>LE MOT DE LA DIRECTION</a:t>
            </a:r>
          </a:p>
        </p:txBody>
      </p:sp>
      <p:sp>
        <p:nvSpPr>
          <p:cNvPr id="5" name="TextBox 4"/>
          <p:cNvSpPr txBox="1"/>
          <p:nvPr/>
        </p:nvSpPr>
        <p:spPr>
          <a:xfrm>
            <a:off x="822960" y="914400"/>
            <a:ext cx="2743200" cy="2286000"/>
          </a:xfrm>
          <a:prstGeom prst="rect">
            <a:avLst/>
          </a:prstGeom>
          <a:noFill/>
        </p:spPr>
        <p:txBody>
          <a:bodyPr wrap="square">
            <a:spAutoFit/>
          </a:bodyPr>
          <a:lstStyle/>
          <a:p>
            <a:pPr algn="l"/>
            <a:r>
              <a:rPr sz="16000" b="1" i="0">
                <a:solidFill>
                  <a:srgbClr val="EBF2FB"/>
                </a:solidFill>
                <a:latin typeface="Calibri"/>
              </a:rPr>
              <a:t>“</a:t>
            </a:r>
          </a:p>
        </p:txBody>
      </p:sp>
      <p:sp>
        <p:nvSpPr>
          <p:cNvPr id="6" name="TextBox 5"/>
          <p:cNvSpPr txBox="1"/>
          <p:nvPr/>
        </p:nvSpPr>
        <p:spPr>
          <a:xfrm>
            <a:off x="1645920" y="2103120"/>
            <a:ext cx="8897112" cy="2926080"/>
          </a:xfrm>
          <a:prstGeom prst="rect">
            <a:avLst/>
          </a:prstGeom>
          <a:noFill/>
        </p:spPr>
        <p:txBody>
          <a:bodyPr wrap="square">
            <a:spAutoFit/>
          </a:bodyPr>
          <a:lstStyle/>
          <a:p>
            <a:pPr algn="ctr"/>
            <a:r>
              <a:rPr sz="2400" b="0" i="1">
                <a:solidFill>
                  <a:srgbClr val="FFFFFF"/>
                </a:solidFill>
                <a:latin typeface="Calibri"/>
              </a:rPr>
              <a:t>« La performance durable est au cœur de notre stratégie industrielle : chaque euro investi doit créer de la valeur pour nos clients et pour la planète. »</a:t>
            </a:r>
          </a:p>
        </p:txBody>
      </p:sp>
      <p:sp>
        <p:nvSpPr>
          <p:cNvPr id="7" name="Rectangle 6"/>
          <p:cNvSpPr/>
          <p:nvPr/>
        </p:nvSpPr>
        <p:spPr>
          <a:xfrm>
            <a:off x="5408676" y="5212080"/>
            <a:ext cx="1371600" cy="36576"/>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0" y="5440680"/>
            <a:ext cx="12188952" cy="457200"/>
          </a:xfrm>
          <a:prstGeom prst="rect">
            <a:avLst/>
          </a:prstGeom>
          <a:noFill/>
        </p:spPr>
        <p:txBody>
          <a:bodyPr wrap="square">
            <a:spAutoFit/>
          </a:bodyPr>
          <a:lstStyle/>
          <a:p>
            <a:pPr algn="ctr"/>
            <a:r>
              <a:rPr sz="1400" b="1" i="0">
                <a:solidFill>
                  <a:srgbClr val="AEC6E8"/>
                </a:solidFill>
                <a:latin typeface="Calibri"/>
              </a:rPr>
              <a:t>J. Martin — Directrice Générale</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502920"/>
            <a:ext cx="7315200" cy="731520"/>
          </a:xfrm>
          <a:prstGeom prst="rect">
            <a:avLst/>
          </a:prstGeom>
          <a:noFill/>
        </p:spPr>
        <p:txBody>
          <a:bodyPr wrap="square">
            <a:spAutoFit/>
          </a:bodyPr>
          <a:lstStyle/>
          <a:p>
            <a:pPr algn="l"/>
            <a:r>
              <a:rPr sz="3600" b="1" i="0">
                <a:solidFill>
                  <a:srgbClr val="2C3E50"/>
                </a:solidFill>
                <a:latin typeface="Calibri"/>
              </a:rPr>
              <a:t>SOMMAIRE</a:t>
            </a:r>
          </a:p>
        </p:txBody>
      </p:sp>
      <p:sp>
        <p:nvSpPr>
          <p:cNvPr id="5" name="Rectangle 4"/>
          <p:cNvSpPr/>
          <p:nvPr/>
        </p:nvSpPr>
        <p:spPr>
          <a:xfrm>
            <a:off x="640080" y="1325880"/>
            <a:ext cx="1645920" cy="54864"/>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920240"/>
            <a:ext cx="3611880" cy="4206240"/>
          </a:xfrm>
          <a:prstGeom prst="rect">
            <a:avLst/>
          </a:prstGeom>
          <a:solidFill>
            <a:srgbClr val="EB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48840"/>
            <a:ext cx="1828800" cy="822960"/>
          </a:xfrm>
          <a:prstGeom prst="rect">
            <a:avLst/>
          </a:prstGeom>
          <a:noFill/>
        </p:spPr>
        <p:txBody>
          <a:bodyPr wrap="square">
            <a:spAutoFit/>
          </a:bodyPr>
          <a:lstStyle/>
          <a:p>
            <a:pPr algn="l"/>
            <a:r>
              <a:rPr sz="4400" b="1" i="0">
                <a:solidFill>
                  <a:srgbClr val="F39C12"/>
                </a:solidFill>
                <a:latin typeface="Calibri"/>
              </a:rPr>
              <a:t>01</a:t>
            </a:r>
          </a:p>
        </p:txBody>
      </p:sp>
      <p:sp>
        <p:nvSpPr>
          <p:cNvPr id="8" name="TextBox 7"/>
          <p:cNvSpPr txBox="1"/>
          <p:nvPr/>
        </p:nvSpPr>
        <p:spPr>
          <a:xfrm>
            <a:off x="914400" y="3063240"/>
            <a:ext cx="3063240" cy="411480"/>
          </a:xfrm>
          <a:prstGeom prst="rect">
            <a:avLst/>
          </a:prstGeom>
          <a:noFill/>
        </p:spPr>
        <p:txBody>
          <a:bodyPr wrap="square">
            <a:spAutoFit/>
          </a:bodyPr>
          <a:lstStyle/>
          <a:p>
            <a:pPr algn="l"/>
            <a:r>
              <a:rPr sz="1500" b="1" i="0">
                <a:solidFill>
                  <a:srgbClr val="2C3E50"/>
                </a:solidFill>
                <a:latin typeface="Calibri"/>
              </a:rPr>
              <a:t>SITUATION</a:t>
            </a:r>
          </a:p>
        </p:txBody>
      </p:sp>
      <p:sp>
        <p:nvSpPr>
          <p:cNvPr id="9" name="Rectangle 8"/>
          <p:cNvSpPr/>
          <p:nvPr/>
        </p:nvSpPr>
        <p:spPr>
          <a:xfrm>
            <a:off x="914400" y="3520440"/>
            <a:ext cx="2971800" cy="18288"/>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3703320"/>
            <a:ext cx="3063240" cy="502920"/>
          </a:xfrm>
          <a:prstGeom prst="rect">
            <a:avLst/>
          </a:prstGeom>
          <a:noFill/>
        </p:spPr>
        <p:txBody>
          <a:bodyPr wrap="square">
            <a:spAutoFit/>
          </a:bodyPr>
          <a:lstStyle/>
          <a:p>
            <a:pPr algn="l"/>
            <a:r>
              <a:rPr sz="1200" b="0" i="0">
                <a:solidFill>
                  <a:srgbClr val="2C3E50"/>
                </a:solidFill>
                <a:latin typeface="Calibri"/>
              </a:rPr>
              <a:t>—  Synthèse Exécutive</a:t>
            </a:r>
          </a:p>
        </p:txBody>
      </p:sp>
      <p:sp>
        <p:nvSpPr>
          <p:cNvPr id="11" name="TextBox 10"/>
          <p:cNvSpPr txBox="1"/>
          <p:nvPr/>
        </p:nvSpPr>
        <p:spPr>
          <a:xfrm>
            <a:off x="914400" y="4251960"/>
            <a:ext cx="3063240" cy="502920"/>
          </a:xfrm>
          <a:prstGeom prst="rect">
            <a:avLst/>
          </a:prstGeom>
          <a:noFill/>
        </p:spPr>
        <p:txBody>
          <a:bodyPr wrap="square">
            <a:spAutoFit/>
          </a:bodyPr>
          <a:lstStyle/>
          <a:p>
            <a:pPr algn="l"/>
            <a:r>
              <a:rPr sz="1200" b="0" i="0">
                <a:solidFill>
                  <a:srgbClr val="2C3E50"/>
                </a:solidFill>
                <a:latin typeface="Calibri"/>
              </a:rPr>
              <a:t>—  Pilier Environnemental</a:t>
            </a:r>
          </a:p>
        </p:txBody>
      </p:sp>
      <p:sp>
        <p:nvSpPr>
          <p:cNvPr id="12" name="TextBox 11"/>
          <p:cNvSpPr txBox="1"/>
          <p:nvPr/>
        </p:nvSpPr>
        <p:spPr>
          <a:xfrm>
            <a:off x="914400" y="4800600"/>
            <a:ext cx="3063240" cy="502920"/>
          </a:xfrm>
          <a:prstGeom prst="rect">
            <a:avLst/>
          </a:prstGeom>
          <a:noFill/>
        </p:spPr>
        <p:txBody>
          <a:bodyPr wrap="square">
            <a:spAutoFit/>
          </a:bodyPr>
          <a:lstStyle/>
          <a:p>
            <a:pPr algn="l"/>
            <a:r>
              <a:rPr sz="1200" b="0" i="0">
                <a:solidFill>
                  <a:srgbClr val="2C3E50"/>
                </a:solidFill>
                <a:latin typeface="Calibri"/>
              </a:rPr>
              <a:t>—  Pilier Social</a:t>
            </a:r>
          </a:p>
        </p:txBody>
      </p:sp>
      <p:sp>
        <p:nvSpPr>
          <p:cNvPr id="13" name="TextBox 12"/>
          <p:cNvSpPr txBox="1"/>
          <p:nvPr/>
        </p:nvSpPr>
        <p:spPr>
          <a:xfrm>
            <a:off x="914400" y="5349240"/>
            <a:ext cx="3063240" cy="502920"/>
          </a:xfrm>
          <a:prstGeom prst="rect">
            <a:avLst/>
          </a:prstGeom>
          <a:noFill/>
        </p:spPr>
        <p:txBody>
          <a:bodyPr wrap="square">
            <a:spAutoFit/>
          </a:bodyPr>
          <a:lstStyle/>
          <a:p>
            <a:pPr algn="l"/>
            <a:r>
              <a:rPr sz="1200" b="0" i="0">
                <a:solidFill>
                  <a:srgbClr val="2C3E50"/>
                </a:solidFill>
                <a:latin typeface="Calibri"/>
              </a:rPr>
              <a:t>—  Pilier Gouvernance</a:t>
            </a:r>
          </a:p>
        </p:txBody>
      </p:sp>
      <p:sp>
        <p:nvSpPr>
          <p:cNvPr id="14" name="Rectangle 13"/>
          <p:cNvSpPr/>
          <p:nvPr/>
        </p:nvSpPr>
        <p:spPr>
          <a:xfrm>
            <a:off x="4434840" y="1920240"/>
            <a:ext cx="3611880" cy="4206240"/>
          </a:xfrm>
          <a:prstGeom prst="rect">
            <a:avLst/>
          </a:prstGeom>
          <a:solidFill>
            <a:srgbClr val="EB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0" y="2148840"/>
            <a:ext cx="1828800" cy="822960"/>
          </a:xfrm>
          <a:prstGeom prst="rect">
            <a:avLst/>
          </a:prstGeom>
          <a:noFill/>
        </p:spPr>
        <p:txBody>
          <a:bodyPr wrap="square">
            <a:spAutoFit/>
          </a:bodyPr>
          <a:lstStyle/>
          <a:p>
            <a:pPr algn="l"/>
            <a:r>
              <a:rPr sz="4400" b="1" i="0">
                <a:solidFill>
                  <a:srgbClr val="F39C12"/>
                </a:solidFill>
                <a:latin typeface="Calibri"/>
              </a:rPr>
              <a:t>02</a:t>
            </a:r>
          </a:p>
        </p:txBody>
      </p:sp>
      <p:sp>
        <p:nvSpPr>
          <p:cNvPr id="16" name="TextBox 15"/>
          <p:cNvSpPr txBox="1"/>
          <p:nvPr/>
        </p:nvSpPr>
        <p:spPr>
          <a:xfrm>
            <a:off x="4754880" y="3063240"/>
            <a:ext cx="3063240" cy="411480"/>
          </a:xfrm>
          <a:prstGeom prst="rect">
            <a:avLst/>
          </a:prstGeom>
          <a:noFill/>
        </p:spPr>
        <p:txBody>
          <a:bodyPr wrap="square">
            <a:spAutoFit/>
          </a:bodyPr>
          <a:lstStyle/>
          <a:p>
            <a:pPr algn="l"/>
            <a:r>
              <a:rPr sz="1500" b="1" i="0">
                <a:solidFill>
                  <a:srgbClr val="2C3E50"/>
                </a:solidFill>
                <a:latin typeface="Calibri"/>
              </a:rPr>
              <a:t>DIAGNOSTIC</a:t>
            </a:r>
          </a:p>
        </p:txBody>
      </p:sp>
      <p:sp>
        <p:nvSpPr>
          <p:cNvPr id="17" name="Rectangle 16"/>
          <p:cNvSpPr/>
          <p:nvPr/>
        </p:nvSpPr>
        <p:spPr>
          <a:xfrm>
            <a:off x="4754880" y="3520440"/>
            <a:ext cx="2971800" cy="18288"/>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0" y="3703320"/>
            <a:ext cx="3063240" cy="502920"/>
          </a:xfrm>
          <a:prstGeom prst="rect">
            <a:avLst/>
          </a:prstGeom>
          <a:noFill/>
        </p:spPr>
        <p:txBody>
          <a:bodyPr wrap="square">
            <a:spAutoFit/>
          </a:bodyPr>
          <a:lstStyle/>
          <a:p>
            <a:pPr algn="l"/>
            <a:r>
              <a:rPr sz="1200" b="0" i="0">
                <a:solidFill>
                  <a:srgbClr val="2C3E50"/>
                </a:solidFill>
                <a:latin typeface="Calibri"/>
              </a:rPr>
              <a:t>—  Positionnement</a:t>
            </a:r>
          </a:p>
        </p:txBody>
      </p:sp>
      <p:sp>
        <p:nvSpPr>
          <p:cNvPr id="19" name="TextBox 18"/>
          <p:cNvSpPr txBox="1"/>
          <p:nvPr/>
        </p:nvSpPr>
        <p:spPr>
          <a:xfrm>
            <a:off x="4754880" y="4251960"/>
            <a:ext cx="3063240" cy="502920"/>
          </a:xfrm>
          <a:prstGeom prst="rect">
            <a:avLst/>
          </a:prstGeom>
          <a:noFill/>
        </p:spPr>
        <p:txBody>
          <a:bodyPr wrap="square">
            <a:spAutoFit/>
          </a:bodyPr>
          <a:lstStyle/>
          <a:p>
            <a:pPr algn="l"/>
            <a:r>
              <a:rPr sz="1200" b="0" i="0">
                <a:solidFill>
                  <a:srgbClr val="2C3E50"/>
                </a:solidFill>
                <a:latin typeface="Calibri"/>
              </a:rPr>
              <a:t>—  Risques &amp; Opportunités</a:t>
            </a:r>
          </a:p>
        </p:txBody>
      </p:sp>
      <p:sp>
        <p:nvSpPr>
          <p:cNvPr id="20" name="TextBox 19"/>
          <p:cNvSpPr txBox="1"/>
          <p:nvPr/>
        </p:nvSpPr>
        <p:spPr>
          <a:xfrm>
            <a:off x="4754880" y="4800600"/>
            <a:ext cx="3063240" cy="502920"/>
          </a:xfrm>
          <a:prstGeom prst="rect">
            <a:avLst/>
          </a:prstGeom>
          <a:noFill/>
        </p:spPr>
        <p:txBody>
          <a:bodyPr wrap="square">
            <a:spAutoFit/>
          </a:bodyPr>
          <a:lstStyle/>
          <a:p>
            <a:pPr algn="l"/>
            <a:r>
              <a:rPr sz="1200" b="0" i="0">
                <a:solidFill>
                  <a:srgbClr val="2C3E50"/>
                </a:solidFill>
                <a:latin typeface="Calibri"/>
              </a:rPr>
              <a:t>—  Analyse Stratégique ESG</a:t>
            </a:r>
          </a:p>
        </p:txBody>
      </p:sp>
      <p:sp>
        <p:nvSpPr>
          <p:cNvPr id="21" name="Rectangle 20"/>
          <p:cNvSpPr/>
          <p:nvPr/>
        </p:nvSpPr>
        <p:spPr>
          <a:xfrm>
            <a:off x="8275320" y="1920240"/>
            <a:ext cx="3611880" cy="4206240"/>
          </a:xfrm>
          <a:prstGeom prst="rect">
            <a:avLst/>
          </a:prstGeom>
          <a:solidFill>
            <a:srgbClr val="EB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0" y="2148840"/>
            <a:ext cx="1828800" cy="822960"/>
          </a:xfrm>
          <a:prstGeom prst="rect">
            <a:avLst/>
          </a:prstGeom>
          <a:noFill/>
        </p:spPr>
        <p:txBody>
          <a:bodyPr wrap="square">
            <a:spAutoFit/>
          </a:bodyPr>
          <a:lstStyle/>
          <a:p>
            <a:pPr algn="l"/>
            <a:r>
              <a:rPr sz="4400" b="1" i="0">
                <a:solidFill>
                  <a:srgbClr val="F39C12"/>
                </a:solidFill>
                <a:latin typeface="Calibri"/>
              </a:rPr>
              <a:t>03</a:t>
            </a:r>
          </a:p>
        </p:txBody>
      </p:sp>
      <p:sp>
        <p:nvSpPr>
          <p:cNvPr id="23" name="TextBox 22"/>
          <p:cNvSpPr txBox="1"/>
          <p:nvPr/>
        </p:nvSpPr>
        <p:spPr>
          <a:xfrm>
            <a:off x="8595360" y="3063240"/>
            <a:ext cx="3063240" cy="411480"/>
          </a:xfrm>
          <a:prstGeom prst="rect">
            <a:avLst/>
          </a:prstGeom>
          <a:noFill/>
        </p:spPr>
        <p:txBody>
          <a:bodyPr wrap="square">
            <a:spAutoFit/>
          </a:bodyPr>
          <a:lstStyle/>
          <a:p>
            <a:pPr algn="l"/>
            <a:r>
              <a:rPr sz="1500" b="1" i="0">
                <a:solidFill>
                  <a:srgbClr val="2C3E50"/>
                </a:solidFill>
                <a:latin typeface="Calibri"/>
              </a:rPr>
              <a:t>PLAN D'ACTION</a:t>
            </a:r>
          </a:p>
        </p:txBody>
      </p:sp>
      <p:sp>
        <p:nvSpPr>
          <p:cNvPr id="24" name="Rectangle 23"/>
          <p:cNvSpPr/>
          <p:nvPr/>
        </p:nvSpPr>
        <p:spPr>
          <a:xfrm>
            <a:off x="8595360" y="3520440"/>
            <a:ext cx="2971800" cy="18288"/>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95360" y="3703320"/>
            <a:ext cx="3063240" cy="502920"/>
          </a:xfrm>
          <a:prstGeom prst="rect">
            <a:avLst/>
          </a:prstGeom>
          <a:noFill/>
        </p:spPr>
        <p:txBody>
          <a:bodyPr wrap="square">
            <a:spAutoFit/>
          </a:bodyPr>
          <a:lstStyle/>
          <a:p>
            <a:pPr algn="l"/>
            <a:r>
              <a:rPr sz="1200" b="0" i="0">
                <a:solidFill>
                  <a:srgbClr val="2C3E50"/>
                </a:solidFill>
                <a:latin typeface="Calibri"/>
              </a:rPr>
              <a:t>—  Recommandations Prioritaires</a:t>
            </a:r>
          </a:p>
        </p:txBody>
      </p:sp>
      <p:sp>
        <p:nvSpPr>
          <p:cNvPr id="26" name="TextBox 25"/>
          <p:cNvSpPr txBox="1"/>
          <p:nvPr/>
        </p:nvSpPr>
        <p:spPr>
          <a:xfrm>
            <a:off x="8595360" y="4251960"/>
            <a:ext cx="3063240" cy="502920"/>
          </a:xfrm>
          <a:prstGeom prst="rect">
            <a:avLst/>
          </a:prstGeom>
          <a:noFill/>
        </p:spPr>
        <p:txBody>
          <a:bodyPr wrap="square">
            <a:spAutoFit/>
          </a:bodyPr>
          <a:lstStyle/>
          <a:p>
            <a:pPr algn="l"/>
            <a:r>
              <a:rPr sz="1200" b="0" i="0">
                <a:solidFill>
                  <a:srgbClr val="2C3E50"/>
                </a:solidFill>
                <a:latin typeface="Calibri"/>
              </a:rPr>
              <a:t>—  Un plan d'action ESG sur 12 mois</a:t>
            </a:r>
          </a:p>
        </p:txBody>
      </p:sp>
      <p:sp>
        <p:nvSpPr>
          <p:cNvPr id="27" name="TextBox 26"/>
          <p:cNvSpPr txBox="1"/>
          <p:nvPr/>
        </p:nvSpPr>
        <p:spPr>
          <a:xfrm>
            <a:off x="8595360" y="4800600"/>
            <a:ext cx="3063240" cy="502920"/>
          </a:xfrm>
          <a:prstGeom prst="rect">
            <a:avLst/>
          </a:prstGeom>
          <a:noFill/>
        </p:spPr>
        <p:txBody>
          <a:bodyPr wrap="square">
            <a:spAutoFit/>
          </a:bodyPr>
          <a:lstStyle/>
          <a:p>
            <a:pPr algn="l"/>
            <a:r>
              <a:rPr sz="1200" b="0" i="0">
                <a:solidFill>
                  <a:srgbClr val="2C3E50"/>
                </a:solidFill>
                <a:latin typeface="Calibri"/>
              </a:rPr>
              <a:t>—  Conclusion &amp; Engagements</a:t>
            </a: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43400"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270248" y="0"/>
            <a:ext cx="73152"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685800"/>
            <a:ext cx="3566160" cy="457200"/>
          </a:xfrm>
          <a:prstGeom prst="rect">
            <a:avLst/>
          </a:prstGeom>
          <a:noFill/>
        </p:spPr>
        <p:txBody>
          <a:bodyPr wrap="square">
            <a:spAutoFit/>
          </a:bodyPr>
          <a:lstStyle/>
          <a:p>
            <a:pPr algn="l"/>
            <a:r>
              <a:rPr sz="1300" b="1" i="0">
                <a:solidFill>
                  <a:srgbClr val="F39C12"/>
                </a:solidFill>
                <a:latin typeface="Calibri"/>
              </a:rPr>
              <a:t>SYNTHÈSE ESG 2025</a:t>
            </a:r>
          </a:p>
        </p:txBody>
      </p:sp>
      <p:sp>
        <p:nvSpPr>
          <p:cNvPr id="6" name="TextBox 5"/>
          <p:cNvSpPr txBox="1"/>
          <p:nvPr/>
        </p:nvSpPr>
        <p:spPr>
          <a:xfrm>
            <a:off x="182880" y="1691640"/>
            <a:ext cx="3977639" cy="1920240"/>
          </a:xfrm>
          <a:prstGeom prst="rect">
            <a:avLst/>
          </a:prstGeom>
          <a:noFill/>
        </p:spPr>
        <p:txBody>
          <a:bodyPr wrap="square">
            <a:spAutoFit/>
          </a:bodyPr>
          <a:lstStyle/>
          <a:p>
            <a:pPr algn="ctr"/>
            <a:r>
              <a:rPr sz="12500" b="1" i="0">
                <a:solidFill>
                  <a:srgbClr val="FFFFFF"/>
                </a:solidFill>
                <a:latin typeface="Calibri"/>
              </a:rPr>
              <a:t>66</a:t>
            </a:r>
          </a:p>
        </p:txBody>
      </p:sp>
      <p:sp>
        <p:nvSpPr>
          <p:cNvPr id="7" name="TextBox 6"/>
          <p:cNvSpPr txBox="1"/>
          <p:nvPr/>
        </p:nvSpPr>
        <p:spPr>
          <a:xfrm>
            <a:off x="182880" y="3611880"/>
            <a:ext cx="3977639" cy="502920"/>
          </a:xfrm>
          <a:prstGeom prst="rect">
            <a:avLst/>
          </a:prstGeom>
          <a:noFill/>
        </p:spPr>
        <p:txBody>
          <a:bodyPr wrap="square">
            <a:spAutoFit/>
          </a:bodyPr>
          <a:lstStyle/>
          <a:p>
            <a:pPr algn="ctr"/>
            <a:r>
              <a:rPr sz="2200" b="0" i="0">
                <a:solidFill>
                  <a:srgbClr val="AEC6E8"/>
                </a:solidFill>
                <a:latin typeface="Calibri"/>
              </a:rPr>
              <a:t>/ 100</a:t>
            </a:r>
          </a:p>
        </p:txBody>
      </p:sp>
      <p:sp>
        <p:nvSpPr>
          <p:cNvPr id="8" name="Rounded Rectangle 7"/>
          <p:cNvSpPr/>
          <p:nvPr/>
        </p:nvSpPr>
        <p:spPr>
          <a:xfrm>
            <a:off x="1417320" y="4343400"/>
            <a:ext cx="1508760" cy="777240"/>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17320" y="4480560"/>
            <a:ext cx="1508760" cy="548640"/>
          </a:xfrm>
          <a:prstGeom prst="rect">
            <a:avLst/>
          </a:prstGeom>
          <a:noFill/>
        </p:spPr>
        <p:txBody>
          <a:bodyPr wrap="square">
            <a:spAutoFit/>
          </a:bodyPr>
          <a:lstStyle/>
          <a:p>
            <a:pPr algn="ctr"/>
            <a:r>
              <a:rPr sz="3000" b="1" i="0">
                <a:solidFill>
                  <a:srgbClr val="1B3A6B"/>
                </a:solidFill>
                <a:latin typeface="Calibri"/>
              </a:rPr>
              <a:t>A</a:t>
            </a:r>
          </a:p>
        </p:txBody>
      </p:sp>
      <p:sp>
        <p:nvSpPr>
          <p:cNvPr id="10" name="TextBox 9"/>
          <p:cNvSpPr txBox="1"/>
          <p:nvPr/>
        </p:nvSpPr>
        <p:spPr>
          <a:xfrm>
            <a:off x="182880" y="5349240"/>
            <a:ext cx="3977639" cy="365760"/>
          </a:xfrm>
          <a:prstGeom prst="rect">
            <a:avLst/>
          </a:prstGeom>
          <a:noFill/>
        </p:spPr>
        <p:txBody>
          <a:bodyPr wrap="square">
            <a:spAutoFit/>
          </a:bodyPr>
          <a:lstStyle/>
          <a:p>
            <a:pPr algn="ctr"/>
            <a:r>
              <a:rPr sz="1200" b="1" i="0">
                <a:solidFill>
                  <a:srgbClr val="AEC6E8"/>
                </a:solidFill>
                <a:latin typeface="Calibri"/>
              </a:rPr>
              <a:t>SCORE ESG GLOBAL</a:t>
            </a:r>
          </a:p>
        </p:txBody>
      </p:sp>
      <p:sp>
        <p:nvSpPr>
          <p:cNvPr id="11" name="TextBox 10"/>
          <p:cNvSpPr txBox="1"/>
          <p:nvPr/>
        </p:nvSpPr>
        <p:spPr>
          <a:xfrm>
            <a:off x="182880" y="5760720"/>
            <a:ext cx="3977639" cy="365760"/>
          </a:xfrm>
          <a:prstGeom prst="rect">
            <a:avLst/>
          </a:prstGeom>
          <a:noFill/>
        </p:spPr>
        <p:txBody>
          <a:bodyPr wrap="square">
            <a:spAutoFit/>
          </a:bodyPr>
          <a:lstStyle/>
          <a:p>
            <a:pPr algn="ctr"/>
            <a:r>
              <a:rPr sz="1400" b="1" i="0">
                <a:solidFill>
                  <a:srgbClr val="4CAF50"/>
                </a:solidFill>
                <a:latin typeface="Calibri"/>
              </a:rPr>
              <a:t>+10 pts  vs 2024</a:t>
            </a:r>
          </a:p>
        </p:txBody>
      </p:sp>
      <p:sp>
        <p:nvSpPr>
          <p:cNvPr id="12" name="TextBox 11"/>
          <p:cNvSpPr txBox="1"/>
          <p:nvPr/>
        </p:nvSpPr>
        <p:spPr>
          <a:xfrm>
            <a:off x="4754880" y="594360"/>
            <a:ext cx="7223760" cy="822960"/>
          </a:xfrm>
          <a:prstGeom prst="rect">
            <a:avLst/>
          </a:prstGeom>
          <a:noFill/>
        </p:spPr>
        <p:txBody>
          <a:bodyPr wrap="square">
            <a:spAutoFit/>
          </a:bodyPr>
          <a:lstStyle/>
          <a:p>
            <a:pPr algn="l"/>
            <a:r>
              <a:rPr sz="3400" b="1" i="0">
                <a:solidFill>
                  <a:srgbClr val="2C3E50"/>
                </a:solidFill>
                <a:latin typeface="Calibri"/>
              </a:rPr>
              <a:t>Synthèse Exécutive</a:t>
            </a:r>
          </a:p>
        </p:txBody>
      </p:sp>
      <p:sp>
        <p:nvSpPr>
          <p:cNvPr id="13" name="Rectangle 12"/>
          <p:cNvSpPr/>
          <p:nvPr/>
        </p:nvSpPr>
        <p:spPr>
          <a:xfrm>
            <a:off x="4782312" y="1481328"/>
            <a:ext cx="1463040" cy="54864"/>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0" y="1737360"/>
            <a:ext cx="7178040" cy="1371600"/>
          </a:xfrm>
          <a:prstGeom prst="rect">
            <a:avLst/>
          </a:prstGeom>
          <a:noFill/>
        </p:spPr>
        <p:txBody>
          <a:bodyPr wrap="square">
            <a:spAutoFit/>
          </a:bodyPr>
          <a:lstStyle/>
          <a:p>
            <a:pPr algn="l"/>
            <a:r>
              <a:rPr sz="1600" b="0" i="0">
                <a:solidFill>
                  <a:srgbClr val="2C3E50"/>
                </a:solidFill>
                <a:latin typeface="Calibri"/>
              </a:rPr>
              <a:t>Acme Industries affiche un profil ESG solide (66/100, A), porté par la gouvernance (75/100) ; le social (55/100) concentre le potentiel de progression.</a:t>
            </a:r>
          </a:p>
        </p:txBody>
      </p:sp>
      <p:sp>
        <p:nvSpPr>
          <p:cNvPr id="15" name="TextBox 14"/>
          <p:cNvSpPr txBox="1"/>
          <p:nvPr/>
        </p:nvSpPr>
        <p:spPr>
          <a:xfrm>
            <a:off x="4754880" y="3200400"/>
            <a:ext cx="3657600" cy="365760"/>
          </a:xfrm>
          <a:prstGeom prst="rect">
            <a:avLst/>
          </a:prstGeom>
          <a:noFill/>
        </p:spPr>
        <p:txBody>
          <a:bodyPr wrap="square">
            <a:spAutoFit/>
          </a:bodyPr>
          <a:lstStyle/>
          <a:p>
            <a:pPr algn="l"/>
            <a:r>
              <a:rPr sz="1200" b="1" i="0">
                <a:solidFill>
                  <a:srgbClr val="6B7C93"/>
                </a:solidFill>
                <a:latin typeface="Calibri"/>
              </a:rPr>
              <a:t>PERFORMANCE PAR PILIER</a:t>
            </a:r>
          </a:p>
        </p:txBody>
      </p:sp>
      <p:sp>
        <p:nvSpPr>
          <p:cNvPr id="16" name="TextBox 15"/>
          <p:cNvSpPr txBox="1"/>
          <p:nvPr/>
        </p:nvSpPr>
        <p:spPr>
          <a:xfrm>
            <a:off x="4754880" y="3703320"/>
            <a:ext cx="3108960" cy="292608"/>
          </a:xfrm>
          <a:prstGeom prst="rect">
            <a:avLst/>
          </a:prstGeom>
          <a:noFill/>
        </p:spPr>
        <p:txBody>
          <a:bodyPr wrap="square">
            <a:spAutoFit/>
          </a:bodyPr>
          <a:lstStyle/>
          <a:p>
            <a:pPr algn="l"/>
            <a:r>
              <a:rPr sz="1250" b="1" i="0">
                <a:solidFill>
                  <a:srgbClr val="2C3E50"/>
                </a:solidFill>
                <a:latin typeface="Calibri"/>
              </a:rPr>
              <a:t>Environnement</a:t>
            </a:r>
          </a:p>
        </p:txBody>
      </p:sp>
      <p:sp>
        <p:nvSpPr>
          <p:cNvPr id="17" name="TextBox 16"/>
          <p:cNvSpPr txBox="1"/>
          <p:nvPr/>
        </p:nvSpPr>
        <p:spPr>
          <a:xfrm>
            <a:off x="7315200" y="3703320"/>
            <a:ext cx="548640" cy="292608"/>
          </a:xfrm>
          <a:prstGeom prst="rect">
            <a:avLst/>
          </a:prstGeom>
          <a:noFill/>
        </p:spPr>
        <p:txBody>
          <a:bodyPr wrap="square">
            <a:spAutoFit/>
          </a:bodyPr>
          <a:lstStyle/>
          <a:p>
            <a:pPr algn="r"/>
            <a:r>
              <a:rPr sz="1300" b="1" i="0">
                <a:solidFill>
                  <a:srgbClr val="27AE60"/>
                </a:solidFill>
                <a:latin typeface="Calibri"/>
              </a:rPr>
              <a:t>70</a:t>
            </a:r>
          </a:p>
        </p:txBody>
      </p:sp>
      <p:sp>
        <p:nvSpPr>
          <p:cNvPr id="18" name="Rounded Rectangle 17"/>
          <p:cNvSpPr/>
          <p:nvPr/>
        </p:nvSpPr>
        <p:spPr>
          <a:xfrm>
            <a:off x="4754880" y="4032504"/>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754880" y="4032504"/>
            <a:ext cx="2176272" cy="155448"/>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4880" y="4544568"/>
            <a:ext cx="3108960" cy="292608"/>
          </a:xfrm>
          <a:prstGeom prst="rect">
            <a:avLst/>
          </a:prstGeom>
          <a:noFill/>
        </p:spPr>
        <p:txBody>
          <a:bodyPr wrap="square">
            <a:spAutoFit/>
          </a:bodyPr>
          <a:lstStyle/>
          <a:p>
            <a:pPr algn="l"/>
            <a:r>
              <a:rPr sz="1250" b="1" i="0">
                <a:solidFill>
                  <a:srgbClr val="2C3E50"/>
                </a:solidFill>
                <a:latin typeface="Calibri"/>
              </a:rPr>
              <a:t>Social</a:t>
            </a:r>
          </a:p>
        </p:txBody>
      </p:sp>
      <p:sp>
        <p:nvSpPr>
          <p:cNvPr id="21" name="TextBox 20"/>
          <p:cNvSpPr txBox="1"/>
          <p:nvPr/>
        </p:nvSpPr>
        <p:spPr>
          <a:xfrm>
            <a:off x="7315200" y="4544568"/>
            <a:ext cx="548640" cy="292608"/>
          </a:xfrm>
          <a:prstGeom prst="rect">
            <a:avLst/>
          </a:prstGeom>
          <a:noFill/>
        </p:spPr>
        <p:txBody>
          <a:bodyPr wrap="square">
            <a:spAutoFit/>
          </a:bodyPr>
          <a:lstStyle/>
          <a:p>
            <a:pPr algn="r"/>
            <a:r>
              <a:rPr sz="1300" b="1" i="0">
                <a:solidFill>
                  <a:srgbClr val="2E86C1"/>
                </a:solidFill>
                <a:latin typeface="Calibri"/>
              </a:rPr>
              <a:t>55</a:t>
            </a:r>
          </a:p>
        </p:txBody>
      </p:sp>
      <p:sp>
        <p:nvSpPr>
          <p:cNvPr id="22" name="Rounded Rectangle 21"/>
          <p:cNvSpPr/>
          <p:nvPr/>
        </p:nvSpPr>
        <p:spPr>
          <a:xfrm>
            <a:off x="4754880" y="4873752"/>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0" y="4873752"/>
            <a:ext cx="1709928" cy="155448"/>
          </a:xfrm>
          <a:prstGeom prst="round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0" y="5385816"/>
            <a:ext cx="3108960" cy="292608"/>
          </a:xfrm>
          <a:prstGeom prst="rect">
            <a:avLst/>
          </a:prstGeom>
          <a:noFill/>
        </p:spPr>
        <p:txBody>
          <a:bodyPr wrap="square">
            <a:spAutoFit/>
          </a:bodyPr>
          <a:lstStyle/>
          <a:p>
            <a:pPr algn="l"/>
            <a:r>
              <a:rPr sz="1250" b="1" i="0">
                <a:solidFill>
                  <a:srgbClr val="2C3E50"/>
                </a:solidFill>
                <a:latin typeface="Calibri"/>
              </a:rPr>
              <a:t>Gouvernance</a:t>
            </a:r>
          </a:p>
        </p:txBody>
      </p:sp>
      <p:sp>
        <p:nvSpPr>
          <p:cNvPr id="25" name="TextBox 24"/>
          <p:cNvSpPr txBox="1"/>
          <p:nvPr/>
        </p:nvSpPr>
        <p:spPr>
          <a:xfrm>
            <a:off x="7315200" y="5385816"/>
            <a:ext cx="548640" cy="292608"/>
          </a:xfrm>
          <a:prstGeom prst="rect">
            <a:avLst/>
          </a:prstGeom>
          <a:noFill/>
        </p:spPr>
        <p:txBody>
          <a:bodyPr wrap="square">
            <a:spAutoFit/>
          </a:bodyPr>
          <a:lstStyle/>
          <a:p>
            <a:pPr algn="r"/>
            <a:r>
              <a:rPr sz="1300" b="1" i="0">
                <a:solidFill>
                  <a:srgbClr val="8E44AD"/>
                </a:solidFill>
                <a:latin typeface="Calibri"/>
              </a:rPr>
              <a:t>75</a:t>
            </a:r>
          </a:p>
        </p:txBody>
      </p:sp>
      <p:sp>
        <p:nvSpPr>
          <p:cNvPr id="26" name="Rounded Rectangle 25"/>
          <p:cNvSpPr/>
          <p:nvPr/>
        </p:nvSpPr>
        <p:spPr>
          <a:xfrm>
            <a:off x="4754880" y="5715000"/>
            <a:ext cx="3108960" cy="155448"/>
          </a:xfrm>
          <a:prstGeom prst="round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754880" y="5715000"/>
            <a:ext cx="2331720" cy="155448"/>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881360" cy="457200"/>
          </a:xfrm>
          <a:prstGeom prst="rect">
            <a:avLst/>
          </a:prstGeom>
          <a:noFill/>
        </p:spPr>
        <p:txBody>
          <a:bodyPr wrap="square">
            <a:spAutoFit/>
          </a:bodyPr>
          <a:lstStyle/>
          <a:p>
            <a:pPr algn="l"/>
            <a:r>
              <a:rPr sz="1400" b="1" i="0">
                <a:solidFill>
                  <a:srgbClr val="F39C12"/>
                </a:solidFill>
                <a:latin typeface="Calibri"/>
              </a:rPr>
              <a:t>L'ANALYSE DU CONSULTANT</a:t>
            </a:r>
          </a:p>
        </p:txBody>
      </p:sp>
      <p:sp>
        <p:nvSpPr>
          <p:cNvPr id="5" name="Rectangle 4"/>
          <p:cNvSpPr/>
          <p:nvPr/>
        </p:nvSpPr>
        <p:spPr>
          <a:xfrm>
            <a:off x="685800" y="1325880"/>
            <a:ext cx="1645920" cy="4572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28800"/>
            <a:ext cx="10789920" cy="4206240"/>
          </a:xfrm>
          <a:prstGeom prst="rect">
            <a:avLst/>
          </a:prstGeom>
          <a:noFill/>
        </p:spPr>
        <p:txBody>
          <a:bodyPr wrap="square">
            <a:spAutoFit/>
          </a:bodyPr>
          <a:lstStyle/>
          <a:p>
            <a:pPr algn="l"/>
            <a:r>
              <a:rPr sz="1900" b="0" i="1">
                <a:solidFill>
                  <a:srgbClr val="2C3E50"/>
                </a:solidFill>
                <a:latin typeface="Calibri"/>
              </a:rPr>
              <a:t>La priorité 2026 est la fiabilisation du reporting énergie avant l'audit de certification prévu au troisième trimestre.</a:t>
            </a:r>
          </a:p>
        </p:txBody>
      </p:sp>
      <p:sp>
        <p:nvSpPr>
          <p:cNvPr id="7" name="TextBox 6"/>
          <p:cNvSpPr txBox="1"/>
          <p:nvPr/>
        </p:nvSpPr>
        <p:spPr>
          <a:xfrm>
            <a:off x="685800" y="6035040"/>
            <a:ext cx="10789920" cy="365760"/>
          </a:xfrm>
          <a:prstGeom prst="rect">
            <a:avLst/>
          </a:prstGeom>
          <a:noFill/>
        </p:spPr>
        <p:txBody>
          <a:bodyPr wrap="square">
            <a:spAutoFit/>
          </a:bodyPr>
          <a:lstStyle/>
          <a:p>
            <a:pPr algn="l"/>
            <a:r>
              <a:rPr sz="1200" b="1" i="0">
                <a:solidFill>
                  <a:srgbClr val="6B7C93"/>
                </a:solidFill>
                <a:latin typeface="Calibri"/>
              </a:rPr>
              <a:t>J. Martin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BF2FB"/>
                </a:solidFill>
                <a:latin typeface="Calibri"/>
              </a:rPr>
              <a:t>01</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FFFFF"/>
                </a:solidFill>
                <a:latin typeface="Calibri"/>
              </a:rPr>
              <a:t>DIAGNOSTIC</a:t>
            </a:r>
          </a:p>
        </p:txBody>
      </p:sp>
      <p:sp>
        <p:nvSpPr>
          <p:cNvPr id="6" name="Rectangle 5"/>
          <p:cNvSpPr/>
          <p:nvPr/>
        </p:nvSpPr>
        <p:spPr>
          <a:xfrm>
            <a:off x="685800" y="3977639"/>
            <a:ext cx="2011680" cy="73152"/>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AEC6E8"/>
                </a:solidFill>
                <a:latin typeface="Calibri"/>
              </a:rPr>
              <a:t>Où vous situez-vous, et face à qui ?</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POSITIONNEMENT</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1716" b="1" i="0">
                <a:solidFill>
                  <a:srgbClr val="FFFFFF"/>
                </a:solidFill>
                <a:latin typeface="Calibri"/>
              </a:rPr>
              <a:t>La gouvernance est le point fort d'Acme Industries, le social sa priorité</a:t>
            </a:r>
          </a:p>
        </p:txBody>
      </p:sp>
      <p:pic>
        <p:nvPicPr>
          <p:cNvPr id="7" name="Picture 6" descr="image.png"/>
          <p:cNvPicPr>
            <a:picLocks noChangeAspect="1"/>
          </p:cNvPicPr>
          <p:nvPr/>
        </p:nvPicPr>
        <p:blipFill>
          <a:blip r:embed="rId2"/>
          <a:stretch>
            <a:fillRect/>
          </a:stretch>
        </p:blipFill>
        <p:spPr>
          <a:xfrm>
            <a:off x="320040" y="1554480"/>
            <a:ext cx="6858000" cy="4213575"/>
          </a:xfrm>
          <a:prstGeom prst="rect">
            <a:avLst/>
          </a:prstGeom>
        </p:spPr>
      </p:pic>
      <p:sp>
        <p:nvSpPr>
          <p:cNvPr id="8" name="Rounded Rectangle 7"/>
          <p:cNvSpPr/>
          <p:nvPr/>
        </p:nvSpPr>
        <p:spPr>
          <a:xfrm>
            <a:off x="7452360" y="1600200"/>
            <a:ext cx="4434840" cy="2148840"/>
          </a:xfrm>
          <a:prstGeom prst="roundRect">
            <a:avLst/>
          </a:prstGeom>
          <a:solidFill>
            <a:srgbClr val="EBF2FB"/>
          </a:solidFill>
          <a:ln w="15875">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1600200"/>
            <a:ext cx="82296" cy="214884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26680" y="1764792"/>
            <a:ext cx="3977640" cy="320040"/>
          </a:xfrm>
          <a:prstGeom prst="rect">
            <a:avLst/>
          </a:prstGeom>
          <a:noFill/>
        </p:spPr>
        <p:txBody>
          <a:bodyPr wrap="square">
            <a:spAutoFit/>
          </a:bodyPr>
          <a:lstStyle/>
          <a:p>
            <a:pPr algn="l"/>
            <a:r>
              <a:rPr sz="1200" b="1" i="0">
                <a:solidFill>
                  <a:srgbClr val="F39C12"/>
                </a:solidFill>
                <a:latin typeface="Calibri"/>
              </a:rPr>
              <a:t>LECTURE MÉTIER</a:t>
            </a:r>
          </a:p>
        </p:txBody>
      </p:sp>
      <p:sp>
        <p:nvSpPr>
          <p:cNvPr id="11" name="TextBox 10"/>
          <p:cNvSpPr txBox="1"/>
          <p:nvPr/>
        </p:nvSpPr>
        <p:spPr>
          <a:xfrm>
            <a:off x="7726680" y="2148840"/>
            <a:ext cx="3931920" cy="1554480"/>
          </a:xfrm>
          <a:prstGeom prst="rect">
            <a:avLst/>
          </a:prstGeom>
          <a:noFill/>
        </p:spPr>
        <p:txBody>
          <a:bodyPr wrap="square">
            <a:spAutoFit/>
          </a:bodyPr>
          <a:lstStyle/>
          <a:p>
            <a:pPr algn="l"/>
            <a:r>
              <a:rPr sz="1400" b="0" i="0">
                <a:solidFill>
                  <a:srgbClr val="2C3E50"/>
                </a:solidFill>
                <a:latin typeface="Calibri"/>
              </a:rPr>
              <a:t>20 points séparent votre pilier le plus solide du plus fragile — l'écart interne à réduire en priorité.</a:t>
            </a:r>
          </a:p>
        </p:txBody>
      </p:sp>
      <p:sp>
        <p:nvSpPr>
          <p:cNvPr id="12" name="TextBox 11"/>
          <p:cNvSpPr txBox="1"/>
          <p:nvPr/>
        </p:nvSpPr>
        <p:spPr>
          <a:xfrm>
            <a:off x="7470648" y="4023360"/>
            <a:ext cx="4434840" cy="320040"/>
          </a:xfrm>
          <a:prstGeom prst="rect">
            <a:avLst/>
          </a:prstGeom>
          <a:noFill/>
        </p:spPr>
        <p:txBody>
          <a:bodyPr wrap="square">
            <a:spAutoFit/>
          </a:bodyPr>
          <a:lstStyle/>
          <a:p>
            <a:pPr algn="l"/>
            <a:r>
              <a:rPr sz="1200" b="1" i="0">
                <a:solidFill>
                  <a:srgbClr val="6B7C93"/>
                </a:solidFill>
                <a:latin typeface="Calibri"/>
              </a:rPr>
              <a:t>MATURITÉ ESG</a:t>
            </a:r>
          </a:p>
        </p:txBody>
      </p:sp>
      <p:sp>
        <p:nvSpPr>
          <p:cNvPr id="13" name="Rounded Rectangle 12"/>
          <p:cNvSpPr/>
          <p:nvPr/>
        </p:nvSpPr>
        <p:spPr>
          <a:xfrm>
            <a:off x="7452360" y="4434840"/>
            <a:ext cx="841248" cy="457200"/>
          </a:xfrm>
          <a:prstGeom prst="roundRect">
            <a:avLst/>
          </a:prstGeom>
          <a:solidFill>
            <a:srgbClr val="EBF2FB"/>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52360" y="4480560"/>
            <a:ext cx="841248" cy="365760"/>
          </a:xfrm>
          <a:prstGeom prst="rect">
            <a:avLst/>
          </a:prstGeom>
          <a:noFill/>
        </p:spPr>
        <p:txBody>
          <a:bodyPr wrap="square">
            <a:spAutoFit/>
          </a:bodyPr>
          <a:lstStyle/>
          <a:p>
            <a:pPr algn="ctr"/>
            <a:r>
              <a:rPr sz="1400" b="1" i="0">
                <a:solidFill>
                  <a:srgbClr val="6B7C93"/>
                </a:solidFill>
                <a:latin typeface="Calibri"/>
              </a:rPr>
              <a:t>1</a:t>
            </a:r>
          </a:p>
        </p:txBody>
      </p:sp>
      <p:sp>
        <p:nvSpPr>
          <p:cNvPr id="15" name="Rounded Rectangle 14"/>
          <p:cNvSpPr/>
          <p:nvPr/>
        </p:nvSpPr>
        <p:spPr>
          <a:xfrm>
            <a:off x="8348472" y="4434840"/>
            <a:ext cx="841248" cy="457200"/>
          </a:xfrm>
          <a:prstGeom prst="roundRect">
            <a:avLst/>
          </a:prstGeom>
          <a:solidFill>
            <a:srgbClr val="EBF2FB"/>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48472" y="4480560"/>
            <a:ext cx="841248" cy="365760"/>
          </a:xfrm>
          <a:prstGeom prst="rect">
            <a:avLst/>
          </a:prstGeom>
          <a:noFill/>
        </p:spPr>
        <p:txBody>
          <a:bodyPr wrap="square">
            <a:spAutoFit/>
          </a:bodyPr>
          <a:lstStyle/>
          <a:p>
            <a:pPr algn="ctr"/>
            <a:r>
              <a:rPr sz="1400" b="1" i="0">
                <a:solidFill>
                  <a:srgbClr val="6B7C93"/>
                </a:solidFill>
                <a:latin typeface="Calibri"/>
              </a:rPr>
              <a:t>2</a:t>
            </a:r>
          </a:p>
        </p:txBody>
      </p:sp>
      <p:sp>
        <p:nvSpPr>
          <p:cNvPr id="17" name="Rounded Rectangle 16"/>
          <p:cNvSpPr/>
          <p:nvPr/>
        </p:nvSpPr>
        <p:spPr>
          <a:xfrm>
            <a:off x="9244584" y="4434840"/>
            <a:ext cx="841248" cy="457200"/>
          </a:xfrm>
          <a:prstGeom prst="roundRect">
            <a:avLst/>
          </a:prstGeom>
          <a:solidFill>
            <a:srgbClr val="F39C12"/>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44584" y="4480560"/>
            <a:ext cx="841248" cy="365760"/>
          </a:xfrm>
          <a:prstGeom prst="rect">
            <a:avLst/>
          </a:prstGeom>
          <a:noFill/>
        </p:spPr>
        <p:txBody>
          <a:bodyPr wrap="square">
            <a:spAutoFit/>
          </a:bodyPr>
          <a:lstStyle/>
          <a:p>
            <a:pPr algn="ctr"/>
            <a:r>
              <a:rPr sz="1400" b="1" i="0">
                <a:solidFill>
                  <a:srgbClr val="1B3A6B"/>
                </a:solidFill>
                <a:latin typeface="Calibri"/>
              </a:rPr>
              <a:t>3</a:t>
            </a:r>
          </a:p>
        </p:txBody>
      </p:sp>
      <p:sp>
        <p:nvSpPr>
          <p:cNvPr id="19" name="Rounded Rectangle 18"/>
          <p:cNvSpPr/>
          <p:nvPr/>
        </p:nvSpPr>
        <p:spPr>
          <a:xfrm>
            <a:off x="10140696" y="4434840"/>
            <a:ext cx="841248" cy="457200"/>
          </a:xfrm>
          <a:prstGeom prst="roundRect">
            <a:avLst/>
          </a:prstGeom>
          <a:solidFill>
            <a:srgbClr val="EBF2FB"/>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140696" y="4480560"/>
            <a:ext cx="841248" cy="365760"/>
          </a:xfrm>
          <a:prstGeom prst="rect">
            <a:avLst/>
          </a:prstGeom>
          <a:noFill/>
        </p:spPr>
        <p:txBody>
          <a:bodyPr wrap="square">
            <a:spAutoFit/>
          </a:bodyPr>
          <a:lstStyle/>
          <a:p>
            <a:pPr algn="ctr"/>
            <a:r>
              <a:rPr sz="1400" b="1" i="0">
                <a:solidFill>
                  <a:srgbClr val="6B7C93"/>
                </a:solidFill>
                <a:latin typeface="Calibri"/>
              </a:rPr>
              <a:t>4</a:t>
            </a:r>
          </a:p>
        </p:txBody>
      </p:sp>
      <p:sp>
        <p:nvSpPr>
          <p:cNvPr id="21" name="Rounded Rectangle 20"/>
          <p:cNvSpPr/>
          <p:nvPr/>
        </p:nvSpPr>
        <p:spPr>
          <a:xfrm>
            <a:off x="11036808" y="4434840"/>
            <a:ext cx="841248" cy="457200"/>
          </a:xfrm>
          <a:prstGeom prst="roundRect">
            <a:avLst/>
          </a:prstGeom>
          <a:solidFill>
            <a:srgbClr val="EBF2FB"/>
          </a:solidFill>
          <a:ln w="12700">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36808" y="4480560"/>
            <a:ext cx="841248" cy="365760"/>
          </a:xfrm>
          <a:prstGeom prst="rect">
            <a:avLst/>
          </a:prstGeom>
          <a:noFill/>
        </p:spPr>
        <p:txBody>
          <a:bodyPr wrap="square">
            <a:spAutoFit/>
          </a:bodyPr>
          <a:lstStyle/>
          <a:p>
            <a:pPr algn="ctr"/>
            <a:r>
              <a:rPr sz="1400" b="1" i="0">
                <a:solidFill>
                  <a:srgbClr val="6B7C93"/>
                </a:solidFill>
                <a:latin typeface="Calibri"/>
              </a:rPr>
              <a:t>5</a:t>
            </a:r>
          </a:p>
        </p:txBody>
      </p:sp>
      <p:sp>
        <p:nvSpPr>
          <p:cNvPr id="23" name="TextBox 22"/>
          <p:cNvSpPr txBox="1"/>
          <p:nvPr/>
        </p:nvSpPr>
        <p:spPr>
          <a:xfrm>
            <a:off x="7452360" y="5029200"/>
            <a:ext cx="4434840" cy="365760"/>
          </a:xfrm>
          <a:prstGeom prst="rect">
            <a:avLst/>
          </a:prstGeom>
          <a:noFill/>
        </p:spPr>
        <p:txBody>
          <a:bodyPr wrap="square">
            <a:spAutoFit/>
          </a:bodyPr>
          <a:lstStyle/>
          <a:p>
            <a:pPr algn="l"/>
            <a:r>
              <a:rPr sz="1600" b="1" i="0">
                <a:solidFill>
                  <a:srgbClr val="F39C12"/>
                </a:solidFill>
                <a:latin typeface="Calibri"/>
              </a:rPr>
              <a:t>Structurée</a:t>
            </a:r>
          </a:p>
        </p:txBody>
      </p:sp>
      <p:sp>
        <p:nvSpPr>
          <p:cNvPr id="24" name="TextBox 23"/>
          <p:cNvSpPr txBox="1"/>
          <p:nvPr/>
        </p:nvSpPr>
        <p:spPr>
          <a:xfrm>
            <a:off x="7452360" y="5440680"/>
            <a:ext cx="4434840" cy="640080"/>
          </a:xfrm>
          <a:prstGeom prst="rect">
            <a:avLst/>
          </a:prstGeom>
          <a:noFill/>
        </p:spPr>
        <p:txBody>
          <a:bodyPr wrap="square">
            <a:spAutoFit/>
          </a:bodyPr>
          <a:lstStyle/>
          <a:p>
            <a:pPr algn="l"/>
            <a:r>
              <a:rPr sz="1250" b="0" i="0">
                <a:solidFill>
                  <a:srgbClr val="2C3E50"/>
                </a:solidFill>
                <a:latin typeface="Calibri"/>
              </a:rPr>
              <a:t>Pour franchir le cap suivant : faire auditer le reporting.</a:t>
            </a:r>
          </a:p>
        </p:txBody>
      </p:sp>
      <p:sp>
        <p:nvSpPr>
          <p:cNvPr id="25" name="TextBox 24"/>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TRAJECTOIRE</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2028" b="1" i="0">
                <a:solidFill>
                  <a:srgbClr val="FFFFFF"/>
                </a:solidFill>
                <a:latin typeface="Calibri"/>
              </a:rPr>
              <a:t>Une trajectoire ESG mesurée exercice après exercice</a:t>
            </a:r>
          </a:p>
        </p:txBody>
      </p:sp>
      <p:pic>
        <p:nvPicPr>
          <p:cNvPr id="7" name="Picture 6" descr="image.png"/>
          <p:cNvPicPr>
            <a:picLocks noChangeAspect="1"/>
          </p:cNvPicPr>
          <p:nvPr/>
        </p:nvPicPr>
        <p:blipFill>
          <a:blip r:embed="rId2"/>
          <a:stretch>
            <a:fillRect/>
          </a:stretch>
        </p:blipFill>
        <p:spPr>
          <a:xfrm>
            <a:off x="1188720" y="1463040"/>
            <a:ext cx="9784080" cy="5208916"/>
          </a:xfrm>
          <a:prstGeom prst="rect">
            <a:avLst/>
          </a:prstGeom>
        </p:spPr>
      </p:pic>
      <p:sp>
        <p:nvSpPr>
          <p:cNvPr id="8" name="TextBox 7"/>
          <p:cNvSpPr txBox="1"/>
          <p:nvPr/>
        </p:nvSpPr>
        <p:spPr>
          <a:xfrm>
            <a:off x="1188720" y="6309360"/>
            <a:ext cx="9784080" cy="320040"/>
          </a:xfrm>
          <a:prstGeom prst="rect">
            <a:avLst/>
          </a:prstGeom>
          <a:noFill/>
        </p:spPr>
        <p:txBody>
          <a:bodyPr wrap="square">
            <a:spAutoFit/>
          </a:bodyPr>
          <a:lstStyle/>
          <a:p>
            <a:pPr algn="l"/>
            <a:r>
              <a:rPr sz="1000" b="0" i="1">
                <a:solidFill>
                  <a:srgbClr val="6B7C93"/>
                </a:solidFill>
                <a:latin typeface="Calibri"/>
              </a:rPr>
              <a:t>Évolution pluriannuelle du score ESG (global et par pilier)</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POSITIONNEMENT</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2340" b="1" i="0">
                <a:solidFill>
                  <a:srgbClr val="FFFFFF"/>
                </a:solidFill>
                <a:latin typeface="Calibri"/>
              </a:rPr>
              <a:t>Analyse des écarts réglementaires</a:t>
            </a:r>
          </a:p>
        </p:txBody>
      </p:sp>
      <p:sp>
        <p:nvSpPr>
          <p:cNvPr id="7" name="Rectangle 6"/>
          <p:cNvSpPr/>
          <p:nvPr/>
        </p:nvSpPr>
        <p:spPr>
          <a:xfrm>
            <a:off x="274320" y="1325880"/>
            <a:ext cx="11640312" cy="621792"/>
          </a:xfrm>
          <a:prstGeom prst="rect">
            <a:avLst/>
          </a:prstGeom>
          <a:solidFill>
            <a:srgbClr val="EB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389888"/>
            <a:ext cx="4846320" cy="502920"/>
          </a:xfrm>
          <a:prstGeom prst="rect">
            <a:avLst/>
          </a:prstGeom>
          <a:noFill/>
        </p:spPr>
        <p:txBody>
          <a:bodyPr wrap="square">
            <a:spAutoFit/>
          </a:bodyPr>
          <a:lstStyle/>
          <a:p>
            <a:pPr algn="l"/>
            <a:r>
              <a:rPr sz="1250" b="1" i="0">
                <a:solidFill>
                  <a:srgbClr val="2C3E50"/>
                </a:solidFill>
                <a:latin typeface="Calibri"/>
              </a:rPr>
              <a:t>Bilan GES Scopes 1 &amp; 2</a:t>
            </a:r>
          </a:p>
        </p:txBody>
      </p:sp>
      <p:sp>
        <p:nvSpPr>
          <p:cNvPr id="9" name="TextBox 8"/>
          <p:cNvSpPr txBox="1"/>
          <p:nvPr/>
        </p:nvSpPr>
        <p:spPr>
          <a:xfrm>
            <a:off x="5349240" y="1472184"/>
            <a:ext cx="1737360" cy="365760"/>
          </a:xfrm>
          <a:prstGeom prst="rect">
            <a:avLst/>
          </a:prstGeom>
          <a:noFill/>
        </p:spPr>
        <p:txBody>
          <a:bodyPr wrap="square">
            <a:spAutoFit/>
          </a:bodyPr>
          <a:lstStyle/>
          <a:p>
            <a:pPr algn="l"/>
            <a:r>
              <a:rPr sz="1000" b="0" i="0">
                <a:solidFill>
                  <a:srgbClr val="6B7C93"/>
                </a:solidFill>
                <a:latin typeface="Calibri"/>
              </a:rPr>
              <a:t>ESRS E1-6</a:t>
            </a:r>
          </a:p>
        </p:txBody>
      </p:sp>
      <p:sp>
        <p:nvSpPr>
          <p:cNvPr id="10" name="Rounded Rectangle 9"/>
          <p:cNvSpPr/>
          <p:nvPr/>
        </p:nvSpPr>
        <p:spPr>
          <a:xfrm>
            <a:off x="7178040" y="1453896"/>
            <a:ext cx="1600200" cy="3657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78040" y="1508760"/>
            <a:ext cx="1600200" cy="274320"/>
          </a:xfrm>
          <a:prstGeom prst="rect">
            <a:avLst/>
          </a:prstGeom>
          <a:noFill/>
        </p:spPr>
        <p:txBody>
          <a:bodyPr wrap="square">
            <a:spAutoFit/>
          </a:bodyPr>
          <a:lstStyle/>
          <a:p>
            <a:pPr algn="ctr"/>
            <a:r>
              <a:rPr sz="1050" b="1" i="0">
                <a:solidFill>
                  <a:srgbClr val="FFFFFF"/>
                </a:solidFill>
                <a:latin typeface="Calibri"/>
              </a:rPr>
              <a:t>Conforme</a:t>
            </a:r>
          </a:p>
        </p:txBody>
      </p:sp>
      <p:sp>
        <p:nvSpPr>
          <p:cNvPr id="12" name="TextBox 11"/>
          <p:cNvSpPr txBox="1"/>
          <p:nvPr/>
        </p:nvSpPr>
        <p:spPr>
          <a:xfrm>
            <a:off x="8961120" y="1389888"/>
            <a:ext cx="2926080" cy="530352"/>
          </a:xfrm>
          <a:prstGeom prst="rect">
            <a:avLst/>
          </a:prstGeom>
          <a:noFill/>
        </p:spPr>
        <p:txBody>
          <a:bodyPr wrap="square">
            <a:spAutoFit/>
          </a:bodyPr>
          <a:lstStyle/>
          <a:p>
            <a:pPr algn="l"/>
            <a:r>
              <a:rPr sz="1000" b="0" i="0">
                <a:solidFill>
                  <a:srgbClr val="2C3E50"/>
                </a:solidFill>
                <a:latin typeface="Calibri"/>
              </a:rPr>
              <a:t>Émissions mesurées et publiées</a:t>
            </a:r>
          </a:p>
        </p:txBody>
      </p:sp>
      <p:sp>
        <p:nvSpPr>
          <p:cNvPr id="13" name="TextBox 12"/>
          <p:cNvSpPr txBox="1"/>
          <p:nvPr/>
        </p:nvSpPr>
        <p:spPr>
          <a:xfrm>
            <a:off x="457200" y="2011680"/>
            <a:ext cx="4846320" cy="502920"/>
          </a:xfrm>
          <a:prstGeom prst="rect">
            <a:avLst/>
          </a:prstGeom>
          <a:noFill/>
        </p:spPr>
        <p:txBody>
          <a:bodyPr wrap="square">
            <a:spAutoFit/>
          </a:bodyPr>
          <a:lstStyle/>
          <a:p>
            <a:pPr algn="l"/>
            <a:r>
              <a:rPr sz="1250" b="1" i="0">
                <a:solidFill>
                  <a:srgbClr val="2C3E50"/>
                </a:solidFill>
                <a:latin typeface="Calibri"/>
              </a:rPr>
              <a:t>Émissions de la chaîne de valeur (Scope 3)</a:t>
            </a:r>
          </a:p>
        </p:txBody>
      </p:sp>
      <p:sp>
        <p:nvSpPr>
          <p:cNvPr id="14" name="TextBox 13"/>
          <p:cNvSpPr txBox="1"/>
          <p:nvPr/>
        </p:nvSpPr>
        <p:spPr>
          <a:xfrm>
            <a:off x="5349240" y="2093976"/>
            <a:ext cx="1737360" cy="365760"/>
          </a:xfrm>
          <a:prstGeom prst="rect">
            <a:avLst/>
          </a:prstGeom>
          <a:noFill/>
        </p:spPr>
        <p:txBody>
          <a:bodyPr wrap="square">
            <a:spAutoFit/>
          </a:bodyPr>
          <a:lstStyle/>
          <a:p>
            <a:pPr algn="l"/>
            <a:r>
              <a:rPr sz="1000" b="0" i="0">
                <a:solidFill>
                  <a:srgbClr val="6B7C93"/>
                </a:solidFill>
                <a:latin typeface="Calibri"/>
              </a:rPr>
              <a:t>ESRS E1-6</a:t>
            </a:r>
          </a:p>
        </p:txBody>
      </p:sp>
      <p:sp>
        <p:nvSpPr>
          <p:cNvPr id="15" name="Rounded Rectangle 14"/>
          <p:cNvSpPr/>
          <p:nvPr/>
        </p:nvSpPr>
        <p:spPr>
          <a:xfrm>
            <a:off x="7178040" y="2075688"/>
            <a:ext cx="1600200" cy="3657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78040" y="2130552"/>
            <a:ext cx="1600200" cy="274320"/>
          </a:xfrm>
          <a:prstGeom prst="rect">
            <a:avLst/>
          </a:prstGeom>
          <a:noFill/>
        </p:spPr>
        <p:txBody>
          <a:bodyPr wrap="square">
            <a:spAutoFit/>
          </a:bodyPr>
          <a:lstStyle/>
          <a:p>
            <a:pPr algn="ctr"/>
            <a:r>
              <a:rPr sz="1050" b="1" i="0">
                <a:solidFill>
                  <a:srgbClr val="FFFFFF"/>
                </a:solidFill>
                <a:latin typeface="Calibri"/>
              </a:rPr>
              <a:t>Conforme</a:t>
            </a:r>
          </a:p>
        </p:txBody>
      </p:sp>
      <p:sp>
        <p:nvSpPr>
          <p:cNvPr id="17" name="TextBox 16"/>
          <p:cNvSpPr txBox="1"/>
          <p:nvPr/>
        </p:nvSpPr>
        <p:spPr>
          <a:xfrm>
            <a:off x="8961120" y="2011680"/>
            <a:ext cx="2926080" cy="530352"/>
          </a:xfrm>
          <a:prstGeom prst="rect">
            <a:avLst/>
          </a:prstGeom>
          <a:noFill/>
        </p:spPr>
        <p:txBody>
          <a:bodyPr wrap="square">
            <a:spAutoFit/>
          </a:bodyPr>
          <a:lstStyle/>
          <a:p>
            <a:pPr algn="l"/>
            <a:r>
              <a:rPr sz="1000" b="0" i="0">
                <a:solidFill>
                  <a:srgbClr val="2C3E50"/>
                </a:solidFill>
                <a:latin typeface="Calibri"/>
              </a:rPr>
              <a:t>Scope 3 mesuré et publié</a:t>
            </a:r>
          </a:p>
        </p:txBody>
      </p:sp>
      <p:sp>
        <p:nvSpPr>
          <p:cNvPr id="18" name="Rectangle 17"/>
          <p:cNvSpPr/>
          <p:nvPr/>
        </p:nvSpPr>
        <p:spPr>
          <a:xfrm>
            <a:off x="274320" y="2569464"/>
            <a:ext cx="11640312" cy="621792"/>
          </a:xfrm>
          <a:prstGeom prst="rect">
            <a:avLst/>
          </a:prstGeom>
          <a:solidFill>
            <a:srgbClr val="EB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2633472"/>
            <a:ext cx="4846320" cy="502920"/>
          </a:xfrm>
          <a:prstGeom prst="rect">
            <a:avLst/>
          </a:prstGeom>
          <a:noFill/>
        </p:spPr>
        <p:txBody>
          <a:bodyPr wrap="square">
            <a:spAutoFit/>
          </a:bodyPr>
          <a:lstStyle/>
          <a:p>
            <a:pPr algn="l"/>
            <a:r>
              <a:rPr sz="1250" b="1" i="0">
                <a:solidFill>
                  <a:srgbClr val="2C3E50"/>
                </a:solidFill>
                <a:latin typeface="Calibri"/>
              </a:rPr>
              <a:t>Vérification du reporting par un tiers</a:t>
            </a:r>
          </a:p>
        </p:txBody>
      </p:sp>
      <p:sp>
        <p:nvSpPr>
          <p:cNvPr id="20" name="TextBox 19"/>
          <p:cNvSpPr txBox="1"/>
          <p:nvPr/>
        </p:nvSpPr>
        <p:spPr>
          <a:xfrm>
            <a:off x="5349240" y="2715768"/>
            <a:ext cx="1737360" cy="365760"/>
          </a:xfrm>
          <a:prstGeom prst="rect">
            <a:avLst/>
          </a:prstGeom>
          <a:noFill/>
        </p:spPr>
        <p:txBody>
          <a:bodyPr wrap="square">
            <a:spAutoFit/>
          </a:bodyPr>
          <a:lstStyle/>
          <a:p>
            <a:pPr algn="l"/>
            <a:r>
              <a:rPr sz="1000" b="0" i="0">
                <a:solidFill>
                  <a:srgbClr val="6B7C93"/>
                </a:solidFill>
                <a:latin typeface="Calibri"/>
              </a:rPr>
              <a:t>CSRD (assurance limitée)</a:t>
            </a:r>
          </a:p>
        </p:txBody>
      </p:sp>
      <p:sp>
        <p:nvSpPr>
          <p:cNvPr id="21" name="Rounded Rectangle 20"/>
          <p:cNvSpPr/>
          <p:nvPr/>
        </p:nvSpPr>
        <p:spPr>
          <a:xfrm>
            <a:off x="7178040" y="2697480"/>
            <a:ext cx="1600200" cy="36576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78040" y="2752344"/>
            <a:ext cx="1600200" cy="274320"/>
          </a:xfrm>
          <a:prstGeom prst="rect">
            <a:avLst/>
          </a:prstGeom>
          <a:noFill/>
        </p:spPr>
        <p:txBody>
          <a:bodyPr wrap="square">
            <a:spAutoFit/>
          </a:bodyPr>
          <a:lstStyle/>
          <a:p>
            <a:pPr algn="ctr"/>
            <a:r>
              <a:rPr sz="1050" b="1" i="0">
                <a:solidFill>
                  <a:srgbClr val="FFFFFF"/>
                </a:solidFill>
                <a:latin typeface="Calibri"/>
              </a:rPr>
              <a:t>Non conforme</a:t>
            </a:r>
          </a:p>
        </p:txBody>
      </p:sp>
      <p:sp>
        <p:nvSpPr>
          <p:cNvPr id="23" name="TextBox 22"/>
          <p:cNvSpPr txBox="1"/>
          <p:nvPr/>
        </p:nvSpPr>
        <p:spPr>
          <a:xfrm>
            <a:off x="8961120" y="2633472"/>
            <a:ext cx="2926080" cy="530352"/>
          </a:xfrm>
          <a:prstGeom prst="rect">
            <a:avLst/>
          </a:prstGeom>
          <a:noFill/>
        </p:spPr>
        <p:txBody>
          <a:bodyPr wrap="square">
            <a:spAutoFit/>
          </a:bodyPr>
          <a:lstStyle/>
          <a:p>
            <a:pPr algn="l"/>
            <a:r>
              <a:rPr sz="1000" b="0" i="0">
                <a:solidFill>
                  <a:srgbClr val="2C3E50"/>
                </a:solidFill>
                <a:latin typeface="Calibri"/>
              </a:rPr>
              <a:t>Aucune assurance externe à date</a:t>
            </a:r>
          </a:p>
        </p:txBody>
      </p:sp>
      <p:sp>
        <p:nvSpPr>
          <p:cNvPr id="24" name="TextBox 23"/>
          <p:cNvSpPr txBox="1"/>
          <p:nvPr/>
        </p:nvSpPr>
        <p:spPr>
          <a:xfrm>
            <a:off x="457200" y="3255264"/>
            <a:ext cx="4846320" cy="502920"/>
          </a:xfrm>
          <a:prstGeom prst="rect">
            <a:avLst/>
          </a:prstGeom>
          <a:noFill/>
        </p:spPr>
        <p:txBody>
          <a:bodyPr wrap="square">
            <a:spAutoFit/>
          </a:bodyPr>
          <a:lstStyle/>
          <a:p>
            <a:pPr algn="l"/>
            <a:r>
              <a:rPr sz="1250" b="1" i="0">
                <a:solidFill>
                  <a:srgbClr val="2C3E50"/>
                </a:solidFill>
                <a:latin typeface="Calibri"/>
              </a:rPr>
              <a:t>Supervision de la durabilité par la gouvernance</a:t>
            </a:r>
          </a:p>
        </p:txBody>
      </p:sp>
      <p:sp>
        <p:nvSpPr>
          <p:cNvPr id="25" name="TextBox 24"/>
          <p:cNvSpPr txBox="1"/>
          <p:nvPr/>
        </p:nvSpPr>
        <p:spPr>
          <a:xfrm>
            <a:off x="5349240" y="3337560"/>
            <a:ext cx="1737360" cy="365760"/>
          </a:xfrm>
          <a:prstGeom prst="rect">
            <a:avLst/>
          </a:prstGeom>
          <a:noFill/>
        </p:spPr>
        <p:txBody>
          <a:bodyPr wrap="square">
            <a:spAutoFit/>
          </a:bodyPr>
          <a:lstStyle/>
          <a:p>
            <a:pPr algn="l"/>
            <a:r>
              <a:rPr sz="1000" b="0" i="0">
                <a:solidFill>
                  <a:srgbClr val="6B7C93"/>
                </a:solidFill>
                <a:latin typeface="Calibri"/>
              </a:rPr>
              <a:t>ESRS 2 GOV-1</a:t>
            </a:r>
          </a:p>
        </p:txBody>
      </p:sp>
      <p:sp>
        <p:nvSpPr>
          <p:cNvPr id="26" name="Rounded Rectangle 25"/>
          <p:cNvSpPr/>
          <p:nvPr/>
        </p:nvSpPr>
        <p:spPr>
          <a:xfrm>
            <a:off x="7178040" y="3319272"/>
            <a:ext cx="1600200" cy="3657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78040" y="3374136"/>
            <a:ext cx="1600200" cy="274320"/>
          </a:xfrm>
          <a:prstGeom prst="rect">
            <a:avLst/>
          </a:prstGeom>
          <a:noFill/>
        </p:spPr>
        <p:txBody>
          <a:bodyPr wrap="square">
            <a:spAutoFit/>
          </a:bodyPr>
          <a:lstStyle/>
          <a:p>
            <a:pPr algn="ctr"/>
            <a:r>
              <a:rPr sz="1050" b="1" i="0">
                <a:solidFill>
                  <a:srgbClr val="FFFFFF"/>
                </a:solidFill>
                <a:latin typeface="Calibri"/>
              </a:rPr>
              <a:t>Conforme</a:t>
            </a:r>
          </a:p>
        </p:txBody>
      </p:sp>
      <p:sp>
        <p:nvSpPr>
          <p:cNvPr id="28" name="TextBox 27"/>
          <p:cNvSpPr txBox="1"/>
          <p:nvPr/>
        </p:nvSpPr>
        <p:spPr>
          <a:xfrm>
            <a:off x="8961120" y="3255264"/>
            <a:ext cx="2926080" cy="530352"/>
          </a:xfrm>
          <a:prstGeom prst="rect">
            <a:avLst/>
          </a:prstGeom>
          <a:noFill/>
        </p:spPr>
        <p:txBody>
          <a:bodyPr wrap="square">
            <a:spAutoFit/>
          </a:bodyPr>
          <a:lstStyle/>
          <a:p>
            <a:pPr algn="l"/>
            <a:r>
              <a:rPr sz="1000" b="0" i="0">
                <a:solidFill>
                  <a:srgbClr val="2C3E50"/>
                </a:solidFill>
                <a:latin typeface="Calibri"/>
              </a:rPr>
              <a:t>Comité de durabilité en place</a:t>
            </a:r>
          </a:p>
        </p:txBody>
      </p:sp>
      <p:sp>
        <p:nvSpPr>
          <p:cNvPr id="29" name="Rectangle 28"/>
          <p:cNvSpPr/>
          <p:nvPr/>
        </p:nvSpPr>
        <p:spPr>
          <a:xfrm>
            <a:off x="274320" y="3813048"/>
            <a:ext cx="11640312" cy="621792"/>
          </a:xfrm>
          <a:prstGeom prst="rect">
            <a:avLst/>
          </a:prstGeom>
          <a:solidFill>
            <a:srgbClr val="EB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3877056"/>
            <a:ext cx="4846320" cy="502920"/>
          </a:xfrm>
          <a:prstGeom prst="rect">
            <a:avLst/>
          </a:prstGeom>
          <a:noFill/>
        </p:spPr>
        <p:txBody>
          <a:bodyPr wrap="square">
            <a:spAutoFit/>
          </a:bodyPr>
          <a:lstStyle/>
          <a:p>
            <a:pPr algn="l"/>
            <a:r>
              <a:rPr sz="1250" b="1" i="0">
                <a:solidFill>
                  <a:srgbClr val="2C3E50"/>
                </a:solidFill>
                <a:latin typeface="Calibri"/>
              </a:rPr>
              <a:t>Indépendance du conseil (seuil 50 %)</a:t>
            </a:r>
          </a:p>
        </p:txBody>
      </p:sp>
      <p:sp>
        <p:nvSpPr>
          <p:cNvPr id="31" name="TextBox 30"/>
          <p:cNvSpPr txBox="1"/>
          <p:nvPr/>
        </p:nvSpPr>
        <p:spPr>
          <a:xfrm>
            <a:off x="5349240" y="3959352"/>
            <a:ext cx="1737360" cy="365760"/>
          </a:xfrm>
          <a:prstGeom prst="rect">
            <a:avLst/>
          </a:prstGeom>
          <a:noFill/>
        </p:spPr>
        <p:txBody>
          <a:bodyPr wrap="square">
            <a:spAutoFit/>
          </a:bodyPr>
          <a:lstStyle/>
          <a:p>
            <a:pPr algn="l"/>
            <a:r>
              <a:rPr sz="1000" b="0" i="0">
                <a:solidFill>
                  <a:srgbClr val="6B7C93"/>
                </a:solidFill>
                <a:latin typeface="Calibri"/>
              </a:rPr>
              <a:t>AFEP-MEDEF</a:t>
            </a:r>
          </a:p>
        </p:txBody>
      </p:sp>
      <p:sp>
        <p:nvSpPr>
          <p:cNvPr id="32" name="Rounded Rectangle 31"/>
          <p:cNvSpPr/>
          <p:nvPr/>
        </p:nvSpPr>
        <p:spPr>
          <a:xfrm>
            <a:off x="7178040" y="3941064"/>
            <a:ext cx="1600200" cy="365760"/>
          </a:xfrm>
          <a:prstGeom prst="round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78040" y="3995928"/>
            <a:ext cx="1600200" cy="274320"/>
          </a:xfrm>
          <a:prstGeom prst="rect">
            <a:avLst/>
          </a:prstGeom>
          <a:noFill/>
        </p:spPr>
        <p:txBody>
          <a:bodyPr wrap="square">
            <a:spAutoFit/>
          </a:bodyPr>
          <a:lstStyle/>
          <a:p>
            <a:pPr algn="ctr"/>
            <a:r>
              <a:rPr sz="1050" b="1" i="0">
                <a:solidFill>
                  <a:srgbClr val="FFFFFF"/>
                </a:solidFill>
                <a:latin typeface="Calibri"/>
              </a:rPr>
              <a:t>Partiel</a:t>
            </a:r>
          </a:p>
        </p:txBody>
      </p:sp>
      <p:sp>
        <p:nvSpPr>
          <p:cNvPr id="34" name="TextBox 33"/>
          <p:cNvSpPr txBox="1"/>
          <p:nvPr/>
        </p:nvSpPr>
        <p:spPr>
          <a:xfrm>
            <a:off x="8961120" y="3877056"/>
            <a:ext cx="2926080" cy="530352"/>
          </a:xfrm>
          <a:prstGeom prst="rect">
            <a:avLst/>
          </a:prstGeom>
          <a:noFill/>
        </p:spPr>
        <p:txBody>
          <a:bodyPr wrap="square">
            <a:spAutoFit/>
          </a:bodyPr>
          <a:lstStyle/>
          <a:p>
            <a:pPr algn="l"/>
            <a:r>
              <a:rPr sz="1000" b="0" i="0">
                <a:solidFill>
                  <a:srgbClr val="2C3E50"/>
                </a:solidFill>
                <a:latin typeface="Calibri"/>
              </a:rPr>
              <a:t>45 % d'administrateurs indépendants</a:t>
            </a:r>
          </a:p>
        </p:txBody>
      </p:sp>
      <p:sp>
        <p:nvSpPr>
          <p:cNvPr id="35" name="TextBox 34"/>
          <p:cNvSpPr txBox="1"/>
          <p:nvPr/>
        </p:nvSpPr>
        <p:spPr>
          <a:xfrm>
            <a:off x="457200" y="4498848"/>
            <a:ext cx="4846320" cy="502920"/>
          </a:xfrm>
          <a:prstGeom prst="rect">
            <a:avLst/>
          </a:prstGeom>
          <a:noFill/>
        </p:spPr>
        <p:txBody>
          <a:bodyPr wrap="square">
            <a:spAutoFit/>
          </a:bodyPr>
          <a:lstStyle/>
          <a:p>
            <a:pPr algn="l"/>
            <a:r>
              <a:rPr sz="1250" b="1" i="0">
                <a:solidFill>
                  <a:srgbClr val="2C3E50"/>
                </a:solidFill>
                <a:latin typeface="Calibri"/>
              </a:rPr>
              <a:t>Publication des indicateurs Taxonomie UE</a:t>
            </a:r>
          </a:p>
        </p:txBody>
      </p:sp>
      <p:sp>
        <p:nvSpPr>
          <p:cNvPr id="36" name="TextBox 35"/>
          <p:cNvSpPr txBox="1"/>
          <p:nvPr/>
        </p:nvSpPr>
        <p:spPr>
          <a:xfrm>
            <a:off x="5349240" y="4581144"/>
            <a:ext cx="1737360" cy="365760"/>
          </a:xfrm>
          <a:prstGeom prst="rect">
            <a:avLst/>
          </a:prstGeom>
          <a:noFill/>
        </p:spPr>
        <p:txBody>
          <a:bodyPr wrap="square">
            <a:spAutoFit/>
          </a:bodyPr>
          <a:lstStyle/>
          <a:p>
            <a:pPr algn="l"/>
            <a:r>
              <a:rPr sz="1000" b="0" i="0">
                <a:solidFill>
                  <a:srgbClr val="6B7C93"/>
                </a:solidFill>
                <a:latin typeface="Calibri"/>
              </a:rPr>
              <a:t>Règlement (UE) 2020/852</a:t>
            </a:r>
          </a:p>
        </p:txBody>
      </p:sp>
      <p:sp>
        <p:nvSpPr>
          <p:cNvPr id="37" name="Rounded Rectangle 36"/>
          <p:cNvSpPr/>
          <p:nvPr/>
        </p:nvSpPr>
        <p:spPr>
          <a:xfrm>
            <a:off x="7178040" y="4562856"/>
            <a:ext cx="1600200" cy="3657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178040" y="4617720"/>
            <a:ext cx="1600200" cy="274320"/>
          </a:xfrm>
          <a:prstGeom prst="rect">
            <a:avLst/>
          </a:prstGeom>
          <a:noFill/>
        </p:spPr>
        <p:txBody>
          <a:bodyPr wrap="square">
            <a:spAutoFit/>
          </a:bodyPr>
          <a:lstStyle/>
          <a:p>
            <a:pPr algn="ctr"/>
            <a:r>
              <a:rPr sz="1050" b="1" i="0">
                <a:solidFill>
                  <a:srgbClr val="FFFFFF"/>
                </a:solidFill>
                <a:latin typeface="Calibri"/>
              </a:rPr>
              <a:t>Conforme</a:t>
            </a:r>
          </a:p>
        </p:txBody>
      </p:sp>
      <p:sp>
        <p:nvSpPr>
          <p:cNvPr id="39" name="TextBox 38"/>
          <p:cNvSpPr txBox="1"/>
          <p:nvPr/>
        </p:nvSpPr>
        <p:spPr>
          <a:xfrm>
            <a:off x="8961120" y="4498848"/>
            <a:ext cx="2926080" cy="530352"/>
          </a:xfrm>
          <a:prstGeom prst="rect">
            <a:avLst/>
          </a:prstGeom>
          <a:noFill/>
        </p:spPr>
        <p:txBody>
          <a:bodyPr wrap="square">
            <a:spAutoFit/>
          </a:bodyPr>
          <a:lstStyle/>
          <a:p>
            <a:pPr algn="l"/>
            <a:r>
              <a:rPr sz="1000" b="0" i="0">
                <a:solidFill>
                  <a:srgbClr val="2C3E50"/>
                </a:solidFill>
                <a:latin typeface="Calibri"/>
              </a:rPr>
              <a:t>Parts alignées publiées (CA/CapEx/OpEx)</a:t>
            </a:r>
          </a:p>
        </p:txBody>
      </p:sp>
      <p:sp>
        <p:nvSpPr>
          <p:cNvPr id="40" name="Rectangle 39"/>
          <p:cNvSpPr/>
          <p:nvPr/>
        </p:nvSpPr>
        <p:spPr>
          <a:xfrm>
            <a:off x="274320" y="5056632"/>
            <a:ext cx="11640312" cy="621792"/>
          </a:xfrm>
          <a:prstGeom prst="rect">
            <a:avLst/>
          </a:prstGeom>
          <a:solidFill>
            <a:srgbClr val="EB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57200" y="5120640"/>
            <a:ext cx="4846320" cy="502920"/>
          </a:xfrm>
          <a:prstGeom prst="rect">
            <a:avLst/>
          </a:prstGeom>
          <a:noFill/>
        </p:spPr>
        <p:txBody>
          <a:bodyPr wrap="square">
            <a:spAutoFit/>
          </a:bodyPr>
          <a:lstStyle/>
          <a:p>
            <a:pPr algn="l"/>
            <a:r>
              <a:rPr sz="1250" b="1" i="0">
                <a:solidFill>
                  <a:srgbClr val="2C3E50"/>
                </a:solidFill>
                <a:latin typeface="Calibri"/>
              </a:rPr>
              <a:t>Objectifs climatiques chiffrés</a:t>
            </a:r>
          </a:p>
        </p:txBody>
      </p:sp>
      <p:sp>
        <p:nvSpPr>
          <p:cNvPr id="42" name="TextBox 41"/>
          <p:cNvSpPr txBox="1"/>
          <p:nvPr/>
        </p:nvSpPr>
        <p:spPr>
          <a:xfrm>
            <a:off x="5349240" y="5202936"/>
            <a:ext cx="1737360" cy="365760"/>
          </a:xfrm>
          <a:prstGeom prst="rect">
            <a:avLst/>
          </a:prstGeom>
          <a:noFill/>
        </p:spPr>
        <p:txBody>
          <a:bodyPr wrap="square">
            <a:spAutoFit/>
          </a:bodyPr>
          <a:lstStyle/>
          <a:p>
            <a:pPr algn="l"/>
            <a:r>
              <a:rPr sz="1000" b="0" i="0">
                <a:solidFill>
                  <a:srgbClr val="6B7C93"/>
                </a:solidFill>
                <a:latin typeface="Calibri"/>
              </a:rPr>
              <a:t>ESRS E1-4</a:t>
            </a:r>
          </a:p>
        </p:txBody>
      </p:sp>
      <p:sp>
        <p:nvSpPr>
          <p:cNvPr id="43" name="Rounded Rectangle 42"/>
          <p:cNvSpPr/>
          <p:nvPr/>
        </p:nvSpPr>
        <p:spPr>
          <a:xfrm>
            <a:off x="7178040" y="5184648"/>
            <a:ext cx="1600200" cy="365760"/>
          </a:xfrm>
          <a:prstGeom prst="roundRect">
            <a:avLst/>
          </a:prstGeom>
          <a:solidFill>
            <a:srgbClr val="7F8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178040" y="5239512"/>
            <a:ext cx="1600200" cy="274320"/>
          </a:xfrm>
          <a:prstGeom prst="rect">
            <a:avLst/>
          </a:prstGeom>
          <a:noFill/>
        </p:spPr>
        <p:txBody>
          <a:bodyPr wrap="square">
            <a:spAutoFit/>
          </a:bodyPr>
          <a:lstStyle/>
          <a:p>
            <a:pPr algn="ctr"/>
            <a:r>
              <a:rPr sz="1050" b="1" i="0">
                <a:solidFill>
                  <a:srgbClr val="FFFFFF"/>
                </a:solidFill>
                <a:latin typeface="Calibri"/>
              </a:rPr>
              <a:t>Non renseigné</a:t>
            </a:r>
          </a:p>
        </p:txBody>
      </p:sp>
      <p:sp>
        <p:nvSpPr>
          <p:cNvPr id="45" name="TextBox 44"/>
          <p:cNvSpPr txBox="1"/>
          <p:nvPr/>
        </p:nvSpPr>
        <p:spPr>
          <a:xfrm>
            <a:off x="8961120" y="5120640"/>
            <a:ext cx="2926080" cy="530352"/>
          </a:xfrm>
          <a:prstGeom prst="rect">
            <a:avLst/>
          </a:prstGeom>
          <a:noFill/>
        </p:spPr>
        <p:txBody>
          <a:bodyPr wrap="square">
            <a:spAutoFit/>
          </a:bodyPr>
          <a:lstStyle/>
          <a:p>
            <a:pPr algn="l"/>
            <a:r>
              <a:rPr sz="1000" b="0" i="0">
                <a:solidFill>
                  <a:srgbClr val="2C3E50"/>
                </a:solidFill>
                <a:latin typeface="Calibri"/>
              </a:rPr>
              <a:t>Cibles climatiques non documentées dans ce reporting</a:t>
            </a:r>
          </a:p>
        </p:txBody>
      </p:sp>
      <p:sp>
        <p:nvSpPr>
          <p:cNvPr id="46" name="TextBox 45"/>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9728"/>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0" y="1554480"/>
            <a:ext cx="12188952" cy="2651760"/>
          </a:xfrm>
          <a:prstGeom prst="rect">
            <a:avLst/>
          </a:prstGeom>
          <a:noFill/>
        </p:spPr>
        <p:txBody>
          <a:bodyPr wrap="square">
            <a:spAutoFit/>
          </a:bodyPr>
          <a:lstStyle/>
          <a:p>
            <a:pPr algn="ctr"/>
            <a:r>
              <a:rPr sz="23000" b="1" i="0">
                <a:solidFill>
                  <a:srgbClr val="F39C12"/>
                </a:solidFill>
                <a:latin typeface="Calibri"/>
              </a:rPr>
              <a:t>60</a:t>
            </a:r>
          </a:p>
        </p:txBody>
      </p:sp>
      <p:sp>
        <p:nvSpPr>
          <p:cNvPr id="5" name="TextBox 4"/>
          <p:cNvSpPr txBox="1"/>
          <p:nvPr/>
        </p:nvSpPr>
        <p:spPr>
          <a:xfrm>
            <a:off x="0" y="4160520"/>
            <a:ext cx="12188952" cy="640080"/>
          </a:xfrm>
          <a:prstGeom prst="rect">
            <a:avLst/>
          </a:prstGeom>
          <a:noFill/>
        </p:spPr>
        <p:txBody>
          <a:bodyPr wrap="square">
            <a:spAutoFit/>
          </a:bodyPr>
          <a:lstStyle/>
          <a:p>
            <a:pPr algn="ctr"/>
            <a:r>
              <a:rPr sz="3400" b="1" i="0">
                <a:solidFill>
                  <a:srgbClr val="FFFFFF"/>
                </a:solidFill>
                <a:latin typeface="Calibri"/>
              </a:rPr>
              <a:t>%</a:t>
            </a:r>
          </a:p>
        </p:txBody>
      </p:sp>
      <p:sp>
        <p:nvSpPr>
          <p:cNvPr id="6" name="TextBox 5"/>
          <p:cNvSpPr txBox="1"/>
          <p:nvPr/>
        </p:nvSpPr>
        <p:spPr>
          <a:xfrm>
            <a:off x="1371600" y="4892040"/>
            <a:ext cx="9445752" cy="548640"/>
          </a:xfrm>
          <a:prstGeom prst="rect">
            <a:avLst/>
          </a:prstGeom>
          <a:noFill/>
        </p:spPr>
        <p:txBody>
          <a:bodyPr wrap="square">
            <a:spAutoFit/>
          </a:bodyPr>
          <a:lstStyle/>
          <a:p>
            <a:pPr algn="ctr"/>
            <a:r>
              <a:rPr sz="2000" b="0" i="0">
                <a:solidFill>
                  <a:srgbClr val="AEC6E8"/>
                </a:solidFill>
                <a:latin typeface="Calibri"/>
              </a:rPr>
              <a:t>des émissions relèvent du Scope 3</a:t>
            </a:r>
          </a:p>
        </p:txBody>
      </p:sp>
      <p:sp>
        <p:nvSpPr>
          <p:cNvPr id="7" name="Rectangle 6"/>
          <p:cNvSpPr/>
          <p:nvPr/>
        </p:nvSpPr>
        <p:spPr>
          <a:xfrm>
            <a:off x="5271516" y="5623560"/>
            <a:ext cx="1645920" cy="4572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45920" y="5852160"/>
            <a:ext cx="8897112" cy="731520"/>
          </a:xfrm>
          <a:prstGeom prst="rect">
            <a:avLst/>
          </a:prstGeom>
          <a:noFill/>
        </p:spPr>
        <p:txBody>
          <a:bodyPr wrap="square">
            <a:spAutoFit/>
          </a:bodyPr>
          <a:lstStyle/>
          <a:p>
            <a:pPr algn="ctr"/>
            <a:r>
              <a:rPr sz="1600" b="0" i="1">
                <a:solidFill>
                  <a:srgbClr val="FFFFFF"/>
                </a:solidFill>
                <a:latin typeface="Calibri"/>
              </a:rPr>
              <a:t>La chaîne de valeur, principal terrain d'action climat.</a:t>
            </a:r>
          </a:p>
        </p:txBody>
      </p:sp>
      <p:sp>
        <p:nvSpPr>
          <p:cNvPr id="9" name="TextBox 8"/>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F39C12"/>
                </a:solidFill>
                <a:latin typeface="Calibri"/>
              </a:rPr>
              <a:t>PILIER ENVIRONNEMENTAL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Calibri"/>
              </a:rPr>
              <a:t>Un bilan carbone complet, socle de la trajectoire climat</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Calibri"/>
              </a:rPr>
              <a:t>70</a:t>
            </a:r>
          </a:p>
        </p:txBody>
      </p:sp>
      <p:sp>
        <p:nvSpPr>
          <p:cNvPr id="8" name="TextBox 7"/>
          <p:cNvSpPr txBox="1"/>
          <p:nvPr/>
        </p:nvSpPr>
        <p:spPr>
          <a:xfrm>
            <a:off x="914400" y="6080760"/>
            <a:ext cx="2331720" cy="365760"/>
          </a:xfrm>
          <a:prstGeom prst="rect">
            <a:avLst/>
          </a:prstGeom>
          <a:noFill/>
        </p:spPr>
        <p:txBody>
          <a:bodyPr wrap="square">
            <a:spAutoFit/>
          </a:bodyPr>
          <a:lstStyle/>
          <a:p>
            <a:pPr algn="ctr"/>
            <a:r>
              <a:rPr sz="1100" b="1" i="0">
                <a:solidFill>
                  <a:srgbClr val="FFFFFF"/>
                </a:solidFill>
                <a:latin typeface="Calibri"/>
              </a:rPr>
              <a:t>SCORE / 100</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6B7C93"/>
                </a:solidFill>
                <a:latin typeface="Calibri"/>
              </a:rPr>
              <a:t>INDICATEURS CLÉS</a:t>
            </a:r>
          </a:p>
        </p:txBody>
      </p:sp>
      <p:sp>
        <p:nvSpPr>
          <p:cNvPr id="10" name="Rectangle 9"/>
          <p:cNvSpPr/>
          <p:nvPr/>
        </p:nvSpPr>
        <p:spPr>
          <a:xfrm>
            <a:off x="4526280" y="932688"/>
            <a:ext cx="1280160" cy="4114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27AE60"/>
                </a:solidFill>
                <a:latin typeface="Calibri"/>
              </a:rPr>
              <a:t>8,200 t</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6B7C93"/>
                </a:solidFill>
                <a:latin typeface="Calibri"/>
              </a:rPr>
              <a:t>Émissions CO2 totales</a:t>
            </a:r>
          </a:p>
        </p:txBody>
      </p:sp>
      <p:sp>
        <p:nvSpPr>
          <p:cNvPr id="17" name="Rounded Rectangle 16"/>
          <p:cNvSpPr/>
          <p:nvPr/>
        </p:nvSpPr>
        <p:spPr>
          <a:xfrm>
            <a:off x="8321040" y="1234440"/>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27AE60"/>
                </a:solidFill>
                <a:latin typeface="Calibri"/>
              </a:rPr>
              <a:t>42%</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6B7C93"/>
                </a:solidFill>
                <a:latin typeface="Calibri"/>
              </a:rPr>
              <a:t>Énergie renouvelable</a:t>
            </a:r>
          </a:p>
        </p:txBody>
      </p:sp>
      <p:sp>
        <p:nvSpPr>
          <p:cNvPr id="23" name="Rounded Rectangle 22"/>
          <p:cNvSpPr/>
          <p:nvPr/>
        </p:nvSpPr>
        <p:spPr>
          <a:xfrm>
            <a:off x="4526280" y="2752344"/>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27AE60"/>
                </a:solidFill>
                <a:latin typeface="Calibri"/>
              </a:rPr>
              <a:t>21,500</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6B7C93"/>
                </a:solidFill>
                <a:latin typeface="Calibri"/>
              </a:rPr>
              <a:t>Consommation (MWh)</a:t>
            </a:r>
          </a:p>
        </p:txBody>
      </p:sp>
      <p:sp>
        <p:nvSpPr>
          <p:cNvPr id="29" name="Rounded Rectangle 28"/>
          <p:cNvSpPr/>
          <p:nvPr/>
        </p:nvSpPr>
        <p:spPr>
          <a:xfrm>
            <a:off x="8321040" y="2752344"/>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7"/>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27AE60"/>
                </a:solidFill>
                <a:latin typeface="Calibri"/>
              </a:rPr>
              <a:t>120,000</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6B7C93"/>
                </a:solidFill>
                <a:latin typeface="Calibri"/>
              </a:rPr>
              <a:t>Eau prélevée (m3)</a:t>
            </a:r>
          </a:p>
        </p:txBody>
      </p:sp>
      <p:sp>
        <p:nvSpPr>
          <p:cNvPr id="35" name="Rounded Rectangle 34"/>
          <p:cNvSpPr/>
          <p:nvPr/>
        </p:nvSpPr>
        <p:spPr>
          <a:xfrm>
            <a:off x="4526280" y="4434840"/>
            <a:ext cx="7360920" cy="1847088"/>
          </a:xfrm>
          <a:prstGeom prst="roundRect">
            <a:avLst/>
          </a:prstGeom>
          <a:solidFill>
            <a:srgbClr val="EBF2FB"/>
          </a:solidFill>
          <a:ln w="1905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27AE60"/>
                </a:solidFill>
                <a:latin typeface="Calibr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2C3E50"/>
                </a:solidFill>
                <a:latin typeface="Calibri"/>
              </a:rPr>
              <a:t>Performance environnementale solide ; l'intensité carbone reste le principal levier de création de valeur durable.</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F39C12"/>
                </a:solidFill>
                <a:latin typeface="Calibri"/>
              </a:rPr>
              <a:t>PILIER SOCIAL</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872" b="1" i="0">
                <a:solidFill>
                  <a:srgbClr val="FFFFFF"/>
                </a:solidFill>
                <a:latin typeface="Calibri"/>
              </a:rPr>
              <a:t>La sécurité au travail (TF 6.2), priorité à traiter</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Calibri"/>
              </a:rPr>
              <a:t>55</a:t>
            </a:r>
          </a:p>
        </p:txBody>
      </p:sp>
      <p:sp>
        <p:nvSpPr>
          <p:cNvPr id="8" name="TextBox 7"/>
          <p:cNvSpPr txBox="1"/>
          <p:nvPr/>
        </p:nvSpPr>
        <p:spPr>
          <a:xfrm>
            <a:off x="914400" y="6080760"/>
            <a:ext cx="2331720" cy="365760"/>
          </a:xfrm>
          <a:prstGeom prst="rect">
            <a:avLst/>
          </a:prstGeom>
          <a:noFill/>
        </p:spPr>
        <p:txBody>
          <a:bodyPr wrap="square">
            <a:spAutoFit/>
          </a:bodyPr>
          <a:lstStyle/>
          <a:p>
            <a:pPr algn="ctr"/>
            <a:r>
              <a:rPr sz="1100" b="1" i="0">
                <a:solidFill>
                  <a:srgbClr val="FFFFFF"/>
                </a:solidFill>
                <a:latin typeface="Calibri"/>
              </a:rPr>
              <a:t>SCORE / 100</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6B7C93"/>
                </a:solidFill>
                <a:latin typeface="Calibri"/>
              </a:rPr>
              <a:t>INDICATEURS CLÉS</a:t>
            </a:r>
          </a:p>
        </p:txBody>
      </p:sp>
      <p:sp>
        <p:nvSpPr>
          <p:cNvPr id="10" name="Rectangle 9"/>
          <p:cNvSpPr/>
          <p:nvPr/>
        </p:nvSpPr>
        <p:spPr>
          <a:xfrm>
            <a:off x="4526280" y="932688"/>
            <a:ext cx="1280160" cy="411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2E86C1"/>
                </a:solidFill>
                <a:latin typeface="Calibri"/>
              </a:rPr>
              <a:t>320</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6B7C93"/>
                </a:solidFill>
                <a:latin typeface="Calibri"/>
              </a:rPr>
              <a:t>Effectif total</a:t>
            </a:r>
          </a:p>
        </p:txBody>
      </p:sp>
      <p:sp>
        <p:nvSpPr>
          <p:cNvPr id="17" name="Rounded Rectangle 16"/>
          <p:cNvSpPr/>
          <p:nvPr/>
        </p:nvSpPr>
        <p:spPr>
          <a:xfrm>
            <a:off x="8321040" y="1234440"/>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4"/>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2E86C1"/>
                </a:solidFill>
                <a:latin typeface="Calibri"/>
              </a:rPr>
              <a:t>34%</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6B7C93"/>
                </a:solidFill>
                <a:latin typeface="Calibri"/>
              </a:rPr>
              <a:t>Femmes dans l'effectif</a:t>
            </a:r>
          </a:p>
        </p:txBody>
      </p:sp>
      <p:sp>
        <p:nvSpPr>
          <p:cNvPr id="23" name="Rounded Rectangle 22"/>
          <p:cNvSpPr/>
          <p:nvPr/>
        </p:nvSpPr>
        <p:spPr>
          <a:xfrm>
            <a:off x="4526280" y="2752344"/>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5"/>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2E86C1"/>
                </a:solidFill>
                <a:latin typeface="Calibri"/>
              </a:rPr>
              <a:t>22 h</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6B7C93"/>
                </a:solidFill>
                <a:latin typeface="Calibri"/>
              </a:rPr>
              <a:t>Formation / an</a:t>
            </a:r>
          </a:p>
        </p:txBody>
      </p:sp>
      <p:sp>
        <p:nvSpPr>
          <p:cNvPr id="29" name="Rounded Rectangle 28"/>
          <p:cNvSpPr/>
          <p:nvPr/>
        </p:nvSpPr>
        <p:spPr>
          <a:xfrm>
            <a:off x="8321040" y="2752344"/>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2E86C1"/>
                </a:solidFill>
                <a:latin typeface="Calibri"/>
              </a:rPr>
              <a:t>6.2</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6B7C93"/>
                </a:solidFill>
                <a:latin typeface="Calibri"/>
              </a:rPr>
              <a:t>Taux fréquence accidents</a:t>
            </a:r>
          </a:p>
        </p:txBody>
      </p:sp>
      <p:sp>
        <p:nvSpPr>
          <p:cNvPr id="35" name="Rounded Rectangle 34"/>
          <p:cNvSpPr/>
          <p:nvPr/>
        </p:nvSpPr>
        <p:spPr>
          <a:xfrm>
            <a:off x="4526280" y="4434840"/>
            <a:ext cx="7360920" cy="1847088"/>
          </a:xfrm>
          <a:prstGeom prst="roundRect">
            <a:avLst/>
          </a:prstGeom>
          <a:solidFill>
            <a:srgbClr val="EBF2FB"/>
          </a:solidFill>
          <a:ln w="19050">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2E86C1"/>
                </a:solidFill>
                <a:latin typeface="Calibr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2C3E50"/>
                </a:solidFill>
                <a:latin typeface="Calibri"/>
              </a:rPr>
              <a:t>Performance sociale en construction : parité et sécurité au travail appellent des objectifs chiffrés pour fidéliser les talents.</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0" y="0"/>
            <a:ext cx="4114800" cy="6858000"/>
          </a:xfrm>
          <a:prstGeom prst="rect">
            <a:avLst/>
          </a:prstGeom>
        </p:spPr>
      </p:pic>
      <p:sp>
        <p:nvSpPr>
          <p:cNvPr id="4" name="TextBox 3"/>
          <p:cNvSpPr txBox="1"/>
          <p:nvPr/>
        </p:nvSpPr>
        <p:spPr>
          <a:xfrm>
            <a:off x="338328" y="384048"/>
            <a:ext cx="3520440" cy="320040"/>
          </a:xfrm>
          <a:prstGeom prst="rect">
            <a:avLst/>
          </a:prstGeom>
          <a:noFill/>
        </p:spPr>
        <p:txBody>
          <a:bodyPr wrap="square">
            <a:spAutoFit/>
          </a:bodyPr>
          <a:lstStyle/>
          <a:p>
            <a:pPr algn="l"/>
            <a:r>
              <a:rPr sz="1300" b="1" i="0">
                <a:solidFill>
                  <a:srgbClr val="F39C12"/>
                </a:solidFill>
                <a:latin typeface="Calibri"/>
              </a:rPr>
              <a:t>PILIER GOUVERNANCE</a:t>
            </a:r>
          </a:p>
        </p:txBody>
      </p:sp>
      <p:sp>
        <p:nvSpPr>
          <p:cNvPr id="5" name="TextBox 4"/>
          <p:cNvSpPr txBox="1"/>
          <p:nvPr/>
        </p:nvSpPr>
        <p:spPr>
          <a:xfrm>
            <a:off x="320040" y="777240"/>
            <a:ext cx="3611880" cy="2286000"/>
          </a:xfrm>
          <a:prstGeom prst="rect">
            <a:avLst/>
          </a:prstGeom>
          <a:noFill/>
        </p:spPr>
        <p:txBody>
          <a:bodyPr wrap="square">
            <a:spAutoFit/>
          </a:bodyPr>
          <a:lstStyle/>
          <a:p>
            <a:pPr algn="l"/>
            <a:r>
              <a:rPr sz="1584" b="1" i="0">
                <a:solidFill>
                  <a:srgbClr val="FFFFFF"/>
                </a:solidFill>
                <a:latin typeface="Calibri"/>
              </a:rPr>
              <a:t>L'assurance ESG indépendante, priorité de la gouvernance</a:t>
            </a:r>
          </a:p>
        </p:txBody>
      </p:sp>
      <p:pic>
        <p:nvPicPr>
          <p:cNvPr id="6" name="Picture 5" descr="image.png"/>
          <p:cNvPicPr>
            <a:picLocks noChangeAspect="1"/>
          </p:cNvPicPr>
          <p:nvPr/>
        </p:nvPicPr>
        <p:blipFill>
          <a:blip r:embed="rId3"/>
          <a:stretch>
            <a:fillRect/>
          </a:stretch>
        </p:blipFill>
        <p:spPr>
          <a:xfrm>
            <a:off x="1280160" y="4343400"/>
            <a:ext cx="1600200" cy="1600200"/>
          </a:xfrm>
          <a:prstGeom prst="rect">
            <a:avLst/>
          </a:prstGeom>
        </p:spPr>
      </p:pic>
      <p:sp>
        <p:nvSpPr>
          <p:cNvPr id="7" name="TextBox 6"/>
          <p:cNvSpPr txBox="1"/>
          <p:nvPr/>
        </p:nvSpPr>
        <p:spPr>
          <a:xfrm>
            <a:off x="1280160" y="4828032"/>
            <a:ext cx="1600200" cy="640080"/>
          </a:xfrm>
          <a:prstGeom prst="rect">
            <a:avLst/>
          </a:prstGeom>
          <a:noFill/>
        </p:spPr>
        <p:txBody>
          <a:bodyPr wrap="square">
            <a:spAutoFit/>
          </a:bodyPr>
          <a:lstStyle/>
          <a:p>
            <a:pPr algn="ctr"/>
            <a:r>
              <a:rPr sz="3800" b="1" i="0">
                <a:solidFill>
                  <a:srgbClr val="FFFFFF"/>
                </a:solidFill>
                <a:latin typeface="Calibri"/>
              </a:rPr>
              <a:t>75</a:t>
            </a:r>
          </a:p>
        </p:txBody>
      </p:sp>
      <p:sp>
        <p:nvSpPr>
          <p:cNvPr id="8" name="TextBox 7"/>
          <p:cNvSpPr txBox="1"/>
          <p:nvPr/>
        </p:nvSpPr>
        <p:spPr>
          <a:xfrm>
            <a:off x="914400" y="6080760"/>
            <a:ext cx="2331720" cy="365760"/>
          </a:xfrm>
          <a:prstGeom prst="rect">
            <a:avLst/>
          </a:prstGeom>
          <a:noFill/>
        </p:spPr>
        <p:txBody>
          <a:bodyPr wrap="square">
            <a:spAutoFit/>
          </a:bodyPr>
          <a:lstStyle/>
          <a:p>
            <a:pPr algn="ctr"/>
            <a:r>
              <a:rPr sz="1100" b="1" i="0">
                <a:solidFill>
                  <a:srgbClr val="FFFFFF"/>
                </a:solidFill>
                <a:latin typeface="Calibri"/>
              </a:rPr>
              <a:t>SCORE / 100</a:t>
            </a:r>
          </a:p>
        </p:txBody>
      </p:sp>
      <p:sp>
        <p:nvSpPr>
          <p:cNvPr id="9" name="TextBox 8"/>
          <p:cNvSpPr txBox="1"/>
          <p:nvPr/>
        </p:nvSpPr>
        <p:spPr>
          <a:xfrm>
            <a:off x="4526280" y="457200"/>
            <a:ext cx="7315200" cy="457200"/>
          </a:xfrm>
          <a:prstGeom prst="rect">
            <a:avLst/>
          </a:prstGeom>
          <a:noFill/>
        </p:spPr>
        <p:txBody>
          <a:bodyPr wrap="square">
            <a:spAutoFit/>
          </a:bodyPr>
          <a:lstStyle/>
          <a:p>
            <a:pPr algn="l"/>
            <a:r>
              <a:rPr sz="1500" b="1" i="0">
                <a:solidFill>
                  <a:srgbClr val="6B7C93"/>
                </a:solidFill>
                <a:latin typeface="Calibri"/>
              </a:rPr>
              <a:t>INDICATEURS CLÉS</a:t>
            </a:r>
          </a:p>
        </p:txBody>
      </p:sp>
      <p:sp>
        <p:nvSpPr>
          <p:cNvPr id="10" name="Rectangle 9"/>
          <p:cNvSpPr/>
          <p:nvPr/>
        </p:nvSpPr>
        <p:spPr>
          <a:xfrm>
            <a:off x="4526280" y="932688"/>
            <a:ext cx="1280160" cy="41148"/>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26280" y="1234440"/>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26280" y="1399032"/>
            <a:ext cx="54864" cy="9692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45736" y="1481328"/>
            <a:ext cx="822960" cy="822960"/>
          </a:xfrm>
          <a:prstGeom prst="ellipse">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mage.png"/>
          <p:cNvPicPr>
            <a:picLocks noChangeAspect="1"/>
          </p:cNvPicPr>
          <p:nvPr/>
        </p:nvPicPr>
        <p:blipFill>
          <a:blip r:embed="rId4"/>
          <a:stretch>
            <a:fillRect/>
          </a:stretch>
        </p:blipFill>
        <p:spPr>
          <a:xfrm>
            <a:off x="4919472" y="1655064"/>
            <a:ext cx="475488" cy="475488"/>
          </a:xfrm>
          <a:prstGeom prst="rect">
            <a:avLst/>
          </a:prstGeom>
        </p:spPr>
      </p:pic>
      <p:sp>
        <p:nvSpPr>
          <p:cNvPr id="15" name="TextBox 14"/>
          <p:cNvSpPr txBox="1"/>
          <p:nvPr/>
        </p:nvSpPr>
        <p:spPr>
          <a:xfrm>
            <a:off x="5760720" y="1453896"/>
            <a:ext cx="2240280" cy="594360"/>
          </a:xfrm>
          <a:prstGeom prst="rect">
            <a:avLst/>
          </a:prstGeom>
          <a:noFill/>
        </p:spPr>
        <p:txBody>
          <a:bodyPr wrap="square">
            <a:spAutoFit/>
          </a:bodyPr>
          <a:lstStyle/>
          <a:p>
            <a:pPr algn="l"/>
            <a:r>
              <a:rPr sz="2300" b="1" i="0">
                <a:solidFill>
                  <a:srgbClr val="8E44AD"/>
                </a:solidFill>
                <a:latin typeface="Calibri"/>
              </a:rPr>
              <a:t>9</a:t>
            </a:r>
          </a:p>
        </p:txBody>
      </p:sp>
      <p:sp>
        <p:nvSpPr>
          <p:cNvPr id="16" name="TextBox 15"/>
          <p:cNvSpPr txBox="1"/>
          <p:nvPr/>
        </p:nvSpPr>
        <p:spPr>
          <a:xfrm>
            <a:off x="5769864" y="2057400"/>
            <a:ext cx="2240280" cy="411480"/>
          </a:xfrm>
          <a:prstGeom prst="rect">
            <a:avLst/>
          </a:prstGeom>
          <a:noFill/>
        </p:spPr>
        <p:txBody>
          <a:bodyPr wrap="square">
            <a:spAutoFit/>
          </a:bodyPr>
          <a:lstStyle/>
          <a:p>
            <a:pPr algn="l"/>
            <a:r>
              <a:rPr sz="1050" b="0" i="0">
                <a:solidFill>
                  <a:srgbClr val="6B7C93"/>
                </a:solidFill>
                <a:latin typeface="Calibri"/>
              </a:rPr>
              <a:t>Membres du Conseil</a:t>
            </a:r>
          </a:p>
        </p:txBody>
      </p:sp>
      <p:sp>
        <p:nvSpPr>
          <p:cNvPr id="17" name="Rounded Rectangle 16"/>
          <p:cNvSpPr/>
          <p:nvPr/>
        </p:nvSpPr>
        <p:spPr>
          <a:xfrm>
            <a:off x="8321040" y="1234440"/>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1399032"/>
            <a:ext cx="54864" cy="9692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40496" y="1481328"/>
            <a:ext cx="822960" cy="822960"/>
          </a:xfrm>
          <a:prstGeom prst="ellipse">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mage.png"/>
          <p:cNvPicPr>
            <a:picLocks noChangeAspect="1"/>
          </p:cNvPicPr>
          <p:nvPr/>
        </p:nvPicPr>
        <p:blipFill>
          <a:blip r:embed="rId5"/>
          <a:stretch>
            <a:fillRect/>
          </a:stretch>
        </p:blipFill>
        <p:spPr>
          <a:xfrm>
            <a:off x="8714232" y="1655064"/>
            <a:ext cx="475488" cy="475488"/>
          </a:xfrm>
          <a:prstGeom prst="rect">
            <a:avLst/>
          </a:prstGeom>
        </p:spPr>
      </p:pic>
      <p:sp>
        <p:nvSpPr>
          <p:cNvPr id="21" name="TextBox 20"/>
          <p:cNvSpPr txBox="1"/>
          <p:nvPr/>
        </p:nvSpPr>
        <p:spPr>
          <a:xfrm>
            <a:off x="9555480" y="1453896"/>
            <a:ext cx="2240280" cy="594360"/>
          </a:xfrm>
          <a:prstGeom prst="rect">
            <a:avLst/>
          </a:prstGeom>
          <a:noFill/>
        </p:spPr>
        <p:txBody>
          <a:bodyPr wrap="square">
            <a:spAutoFit/>
          </a:bodyPr>
          <a:lstStyle/>
          <a:p>
            <a:pPr algn="l"/>
            <a:r>
              <a:rPr sz="2300" b="1" i="0">
                <a:solidFill>
                  <a:srgbClr val="8E44AD"/>
                </a:solidFill>
                <a:latin typeface="Calibri"/>
              </a:rPr>
              <a:t>44%</a:t>
            </a:r>
          </a:p>
        </p:txBody>
      </p:sp>
      <p:sp>
        <p:nvSpPr>
          <p:cNvPr id="22" name="TextBox 21"/>
          <p:cNvSpPr txBox="1"/>
          <p:nvPr/>
        </p:nvSpPr>
        <p:spPr>
          <a:xfrm>
            <a:off x="9564624" y="2057400"/>
            <a:ext cx="2240280" cy="411480"/>
          </a:xfrm>
          <a:prstGeom prst="rect">
            <a:avLst/>
          </a:prstGeom>
          <a:noFill/>
        </p:spPr>
        <p:txBody>
          <a:bodyPr wrap="square">
            <a:spAutoFit/>
          </a:bodyPr>
          <a:lstStyle/>
          <a:p>
            <a:pPr algn="l"/>
            <a:r>
              <a:rPr sz="1050" b="0" i="0">
                <a:solidFill>
                  <a:srgbClr val="6B7C93"/>
                </a:solidFill>
                <a:latin typeface="Calibri"/>
              </a:rPr>
              <a:t>Femmes au CA</a:t>
            </a:r>
          </a:p>
        </p:txBody>
      </p:sp>
      <p:sp>
        <p:nvSpPr>
          <p:cNvPr id="23" name="Rounded Rectangle 22"/>
          <p:cNvSpPr/>
          <p:nvPr/>
        </p:nvSpPr>
        <p:spPr>
          <a:xfrm>
            <a:off x="4526280" y="2752344"/>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26280" y="2916936"/>
            <a:ext cx="54864" cy="9692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745736" y="2999232"/>
            <a:ext cx="822960" cy="822960"/>
          </a:xfrm>
          <a:prstGeom prst="ellipse">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image.png"/>
          <p:cNvPicPr>
            <a:picLocks noChangeAspect="1"/>
          </p:cNvPicPr>
          <p:nvPr/>
        </p:nvPicPr>
        <p:blipFill>
          <a:blip r:embed="rId6"/>
          <a:stretch>
            <a:fillRect/>
          </a:stretch>
        </p:blipFill>
        <p:spPr>
          <a:xfrm>
            <a:off x="4919472" y="3172968"/>
            <a:ext cx="475488" cy="475488"/>
          </a:xfrm>
          <a:prstGeom prst="rect">
            <a:avLst/>
          </a:prstGeom>
        </p:spPr>
      </p:pic>
      <p:sp>
        <p:nvSpPr>
          <p:cNvPr id="27" name="TextBox 26"/>
          <p:cNvSpPr txBox="1"/>
          <p:nvPr/>
        </p:nvSpPr>
        <p:spPr>
          <a:xfrm>
            <a:off x="5760720" y="2971800"/>
            <a:ext cx="2240280" cy="594360"/>
          </a:xfrm>
          <a:prstGeom prst="rect">
            <a:avLst/>
          </a:prstGeom>
          <a:noFill/>
        </p:spPr>
        <p:txBody>
          <a:bodyPr wrap="square">
            <a:spAutoFit/>
          </a:bodyPr>
          <a:lstStyle/>
          <a:p>
            <a:pPr algn="l"/>
            <a:r>
              <a:rPr sz="2300" b="1" i="0">
                <a:solidFill>
                  <a:srgbClr val="8E44AD"/>
                </a:solidFill>
                <a:latin typeface="Calibri"/>
              </a:rPr>
              <a:t>45%</a:t>
            </a:r>
          </a:p>
        </p:txBody>
      </p:sp>
      <p:sp>
        <p:nvSpPr>
          <p:cNvPr id="28" name="TextBox 27"/>
          <p:cNvSpPr txBox="1"/>
          <p:nvPr/>
        </p:nvSpPr>
        <p:spPr>
          <a:xfrm>
            <a:off x="5769864" y="3575304"/>
            <a:ext cx="2240280" cy="411480"/>
          </a:xfrm>
          <a:prstGeom prst="rect">
            <a:avLst/>
          </a:prstGeom>
          <a:noFill/>
        </p:spPr>
        <p:txBody>
          <a:bodyPr wrap="square">
            <a:spAutoFit/>
          </a:bodyPr>
          <a:lstStyle/>
          <a:p>
            <a:pPr algn="l"/>
            <a:r>
              <a:rPr sz="1050" b="0" i="0">
                <a:solidFill>
                  <a:srgbClr val="6B7C93"/>
                </a:solidFill>
                <a:latin typeface="Calibri"/>
              </a:rPr>
              <a:t>Administrateurs indépendants</a:t>
            </a:r>
          </a:p>
        </p:txBody>
      </p:sp>
      <p:sp>
        <p:nvSpPr>
          <p:cNvPr id="29" name="Rounded Rectangle 28"/>
          <p:cNvSpPr/>
          <p:nvPr/>
        </p:nvSpPr>
        <p:spPr>
          <a:xfrm>
            <a:off x="8321040" y="2752344"/>
            <a:ext cx="3566160" cy="1298448"/>
          </a:xfrm>
          <a:prstGeom prst="roundRect">
            <a:avLst/>
          </a:prstGeom>
          <a:solidFill>
            <a:srgbClr val="EBF2FB"/>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321040" y="2916936"/>
            <a:ext cx="54864" cy="9692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40496" y="2999232"/>
            <a:ext cx="822960" cy="822960"/>
          </a:xfrm>
          <a:prstGeom prst="ellipse">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image.png"/>
          <p:cNvPicPr>
            <a:picLocks noChangeAspect="1"/>
          </p:cNvPicPr>
          <p:nvPr/>
        </p:nvPicPr>
        <p:blipFill>
          <a:blip r:embed="rId6"/>
          <a:stretch>
            <a:fillRect/>
          </a:stretch>
        </p:blipFill>
        <p:spPr>
          <a:xfrm>
            <a:off x="8714232" y="3172968"/>
            <a:ext cx="475488" cy="475488"/>
          </a:xfrm>
          <a:prstGeom prst="rect">
            <a:avLst/>
          </a:prstGeom>
        </p:spPr>
      </p:pic>
      <p:sp>
        <p:nvSpPr>
          <p:cNvPr id="33" name="TextBox 32"/>
          <p:cNvSpPr txBox="1"/>
          <p:nvPr/>
        </p:nvSpPr>
        <p:spPr>
          <a:xfrm>
            <a:off x="9555480" y="2971800"/>
            <a:ext cx="2240280" cy="594360"/>
          </a:xfrm>
          <a:prstGeom prst="rect">
            <a:avLst/>
          </a:prstGeom>
          <a:noFill/>
        </p:spPr>
        <p:txBody>
          <a:bodyPr wrap="square">
            <a:spAutoFit/>
          </a:bodyPr>
          <a:lstStyle/>
          <a:p>
            <a:pPr algn="l"/>
            <a:r>
              <a:rPr sz="2300" b="1" i="0">
                <a:solidFill>
                  <a:srgbClr val="8E44AD"/>
                </a:solidFill>
                <a:latin typeface="Calibri"/>
              </a:rPr>
              <a:t>Non</a:t>
            </a:r>
          </a:p>
        </p:txBody>
      </p:sp>
      <p:sp>
        <p:nvSpPr>
          <p:cNvPr id="34" name="TextBox 33"/>
          <p:cNvSpPr txBox="1"/>
          <p:nvPr/>
        </p:nvSpPr>
        <p:spPr>
          <a:xfrm>
            <a:off x="9564624" y="3575304"/>
            <a:ext cx="2240280" cy="411480"/>
          </a:xfrm>
          <a:prstGeom prst="rect">
            <a:avLst/>
          </a:prstGeom>
          <a:noFill/>
        </p:spPr>
        <p:txBody>
          <a:bodyPr wrap="square">
            <a:spAutoFit/>
          </a:bodyPr>
          <a:lstStyle/>
          <a:p>
            <a:pPr algn="l"/>
            <a:r>
              <a:rPr sz="1050" b="0" i="0">
                <a:solidFill>
                  <a:srgbClr val="6B7C93"/>
                </a:solidFill>
                <a:latin typeface="Calibri"/>
              </a:rPr>
              <a:t>Audit ESG indépendant</a:t>
            </a:r>
          </a:p>
        </p:txBody>
      </p:sp>
      <p:sp>
        <p:nvSpPr>
          <p:cNvPr id="35" name="Rounded Rectangle 34"/>
          <p:cNvSpPr/>
          <p:nvPr/>
        </p:nvSpPr>
        <p:spPr>
          <a:xfrm>
            <a:off x="4526280" y="4434840"/>
            <a:ext cx="7360920" cy="1847088"/>
          </a:xfrm>
          <a:prstGeom prst="roundRect">
            <a:avLst/>
          </a:prstGeom>
          <a:solidFill>
            <a:srgbClr val="EBF2FB"/>
          </a:solidFill>
          <a:ln w="1905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26280" y="4434840"/>
            <a:ext cx="100584" cy="1847088"/>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910328" y="4654296"/>
            <a:ext cx="6720840" cy="365760"/>
          </a:xfrm>
          <a:prstGeom prst="rect">
            <a:avLst/>
          </a:prstGeom>
          <a:noFill/>
        </p:spPr>
        <p:txBody>
          <a:bodyPr wrap="square">
            <a:spAutoFit/>
          </a:bodyPr>
          <a:lstStyle/>
          <a:p>
            <a:pPr algn="l"/>
            <a:r>
              <a:rPr sz="1250" b="1" i="0">
                <a:solidFill>
                  <a:srgbClr val="8E44AD"/>
                </a:solidFill>
                <a:latin typeface="Calibri"/>
              </a:rPr>
              <a:t>LECTURE MÉTIER</a:t>
            </a:r>
          </a:p>
        </p:txBody>
      </p:sp>
      <p:sp>
        <p:nvSpPr>
          <p:cNvPr id="38" name="TextBox 37"/>
          <p:cNvSpPr txBox="1"/>
          <p:nvPr/>
        </p:nvSpPr>
        <p:spPr>
          <a:xfrm>
            <a:off x="4910328" y="5093208"/>
            <a:ext cx="6629400" cy="1069848"/>
          </a:xfrm>
          <a:prstGeom prst="rect">
            <a:avLst/>
          </a:prstGeom>
          <a:noFill/>
        </p:spPr>
        <p:txBody>
          <a:bodyPr wrap="square">
            <a:spAutoFit/>
          </a:bodyPr>
          <a:lstStyle/>
          <a:p>
            <a:pPr algn="l"/>
            <a:r>
              <a:rPr sz="1600" b="0" i="0">
                <a:solidFill>
                  <a:srgbClr val="2C3E50"/>
                </a:solidFill>
                <a:latin typeface="Calibri"/>
              </a:rPr>
              <a:t>Gouvernance exemplaire : indépendance, audit et supervision ESG inspirent confiance aux investisseurs.</a:t>
            </a:r>
          </a:p>
        </p:txBody>
      </p:sp>
      <p:sp>
        <p:nvSpPr>
          <p:cNvPr id="39" name="TextBox 38"/>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PRIORISATION DES ENJEUX ESG</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1716" b="1" i="0">
                <a:solidFill>
                  <a:srgbClr val="FFFFFF"/>
                </a:solidFill>
                <a:latin typeface="Calibri"/>
              </a:rPr>
              <a:t>Le changement climatique concentre les enjeux ESG prioritaires</a:t>
            </a:r>
          </a:p>
        </p:txBody>
      </p:sp>
      <p:pic>
        <p:nvPicPr>
          <p:cNvPr id="7" name="Picture 6" descr="image.png"/>
          <p:cNvPicPr>
            <a:picLocks noChangeAspect="1"/>
          </p:cNvPicPr>
          <p:nvPr/>
        </p:nvPicPr>
        <p:blipFill>
          <a:blip r:embed="rId2"/>
          <a:stretch>
            <a:fillRect/>
          </a:stretch>
        </p:blipFill>
        <p:spPr>
          <a:xfrm>
            <a:off x="320040" y="1600200"/>
            <a:ext cx="7394055" cy="4480560"/>
          </a:xfrm>
          <a:prstGeom prst="rect">
            <a:avLst/>
          </a:prstGeom>
        </p:spPr>
      </p:pic>
      <p:sp>
        <p:nvSpPr>
          <p:cNvPr id="8" name="Rounded Rectangle 7"/>
          <p:cNvSpPr/>
          <p:nvPr/>
        </p:nvSpPr>
        <p:spPr>
          <a:xfrm>
            <a:off x="8549640" y="1828800"/>
            <a:ext cx="3337560" cy="4023360"/>
          </a:xfrm>
          <a:prstGeom prst="roundRect">
            <a:avLst/>
          </a:prstGeom>
          <a:solidFill>
            <a:srgbClr val="EBF2FB"/>
          </a:solidFill>
          <a:ln w="15875">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549640" y="1828800"/>
            <a:ext cx="82296" cy="402336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23960" y="2011680"/>
            <a:ext cx="2880360" cy="365760"/>
          </a:xfrm>
          <a:prstGeom prst="rect">
            <a:avLst/>
          </a:prstGeom>
          <a:noFill/>
        </p:spPr>
        <p:txBody>
          <a:bodyPr wrap="square">
            <a:spAutoFit/>
          </a:bodyPr>
          <a:lstStyle/>
          <a:p>
            <a:pPr algn="l"/>
            <a:r>
              <a:rPr sz="1200" b="1" i="0">
                <a:solidFill>
                  <a:srgbClr val="F39C12"/>
                </a:solidFill>
                <a:latin typeface="Calibri"/>
              </a:rPr>
              <a:t>LECTURE MÉTIER</a:t>
            </a:r>
          </a:p>
        </p:txBody>
      </p:sp>
      <p:sp>
        <p:nvSpPr>
          <p:cNvPr id="11" name="TextBox 10"/>
          <p:cNvSpPr txBox="1"/>
          <p:nvPr/>
        </p:nvSpPr>
        <p:spPr>
          <a:xfrm>
            <a:off x="8823960" y="2468880"/>
            <a:ext cx="2834640" cy="3200400"/>
          </a:xfrm>
          <a:prstGeom prst="rect">
            <a:avLst/>
          </a:prstGeom>
          <a:noFill/>
        </p:spPr>
        <p:txBody>
          <a:bodyPr wrap="square">
            <a:spAutoFit/>
          </a:bodyPr>
          <a:lstStyle/>
          <a:p>
            <a:pPr algn="l"/>
            <a:r>
              <a:rPr sz="1350" b="0" i="0">
                <a:solidFill>
                  <a:srgbClr val="2C3E50"/>
                </a:solidFill>
                <a:latin typeface="Calibri"/>
              </a:rPr>
              <a:t>Enjeux positionnés selon leur exposition estimée et leur sensibilité économique, à partir des données déclarées.</a:t>
            </a:r>
          </a:p>
        </p:txBody>
      </p:sp>
      <p:sp>
        <p:nvSpPr>
          <p:cNvPr id="12" name="TextBox 11"/>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ALIGNEMENT TAXONOMIE EUROPÉENNE</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1716" b="1" i="0">
                <a:solidFill>
                  <a:srgbClr val="FFFFFF"/>
                </a:solidFill>
                <a:latin typeface="Calibri"/>
              </a:rPr>
              <a:t>52 % des investissements (CapEx) déjà alignés à la Taxonomie UE</a:t>
            </a:r>
          </a:p>
        </p:txBody>
      </p:sp>
      <p:sp>
        <p:nvSpPr>
          <p:cNvPr id="7" name="TextBox 6"/>
          <p:cNvSpPr txBox="1"/>
          <p:nvPr/>
        </p:nvSpPr>
        <p:spPr>
          <a:xfrm>
            <a:off x="411480" y="1554480"/>
            <a:ext cx="4937760" cy="1737360"/>
          </a:xfrm>
          <a:prstGeom prst="rect">
            <a:avLst/>
          </a:prstGeom>
          <a:noFill/>
        </p:spPr>
        <p:txBody>
          <a:bodyPr wrap="square">
            <a:spAutoFit/>
          </a:bodyPr>
          <a:lstStyle/>
          <a:p>
            <a:pPr algn="l"/>
            <a:r>
              <a:rPr sz="9600" b="1" i="0">
                <a:solidFill>
                  <a:srgbClr val="27AE60"/>
                </a:solidFill>
                <a:latin typeface="Calibri"/>
              </a:rPr>
              <a:t>52%</a:t>
            </a:r>
          </a:p>
        </p:txBody>
      </p:sp>
      <p:sp>
        <p:nvSpPr>
          <p:cNvPr id="8" name="TextBox 7"/>
          <p:cNvSpPr txBox="1"/>
          <p:nvPr/>
        </p:nvSpPr>
        <p:spPr>
          <a:xfrm>
            <a:off x="548640" y="3429000"/>
            <a:ext cx="4846320" cy="822960"/>
          </a:xfrm>
          <a:prstGeom prst="rect">
            <a:avLst/>
          </a:prstGeom>
          <a:noFill/>
        </p:spPr>
        <p:txBody>
          <a:bodyPr wrap="square">
            <a:spAutoFit/>
          </a:bodyPr>
          <a:lstStyle/>
          <a:p>
            <a:pPr algn="l"/>
            <a:r>
              <a:rPr sz="1500" b="1" i="0">
                <a:solidFill>
                  <a:srgbClr val="2C3E50"/>
                </a:solidFill>
                <a:latin typeface="Calibri"/>
              </a:rPr>
              <a:t>Part maximale d'activités alignées à la Taxonomie UE</a:t>
            </a:r>
          </a:p>
        </p:txBody>
      </p:sp>
      <p:sp>
        <p:nvSpPr>
          <p:cNvPr id="9" name="Rounded Rectangle 8"/>
          <p:cNvSpPr/>
          <p:nvPr/>
        </p:nvSpPr>
        <p:spPr>
          <a:xfrm>
            <a:off x="502920" y="4297680"/>
            <a:ext cx="4892040" cy="2103120"/>
          </a:xfrm>
          <a:prstGeom prst="roundRect">
            <a:avLst/>
          </a:prstGeom>
          <a:solidFill>
            <a:srgbClr val="EBF2FB"/>
          </a:solidFill>
          <a:ln w="15875">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4297680"/>
            <a:ext cx="82296" cy="21031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462272"/>
            <a:ext cx="4389120" cy="365760"/>
          </a:xfrm>
          <a:prstGeom prst="rect">
            <a:avLst/>
          </a:prstGeom>
          <a:noFill/>
        </p:spPr>
        <p:txBody>
          <a:bodyPr wrap="square">
            <a:spAutoFit/>
          </a:bodyPr>
          <a:lstStyle/>
          <a:p>
            <a:pPr algn="l"/>
            <a:r>
              <a:rPr sz="1150" b="1" i="0">
                <a:solidFill>
                  <a:srgbClr val="27AE60"/>
                </a:solidFill>
                <a:latin typeface="Calibri"/>
              </a:rPr>
              <a:t>LECTURE MÉTIER</a:t>
            </a:r>
          </a:p>
        </p:txBody>
      </p:sp>
      <p:sp>
        <p:nvSpPr>
          <p:cNvPr id="12" name="TextBox 11"/>
          <p:cNvSpPr txBox="1"/>
          <p:nvPr/>
        </p:nvSpPr>
        <p:spPr>
          <a:xfrm>
            <a:off x="777240" y="4828032"/>
            <a:ext cx="4434840" cy="1463040"/>
          </a:xfrm>
          <a:prstGeom prst="rect">
            <a:avLst/>
          </a:prstGeom>
          <a:noFill/>
        </p:spPr>
        <p:txBody>
          <a:bodyPr wrap="square">
            <a:spAutoFit/>
          </a:bodyPr>
          <a:lstStyle/>
          <a:p>
            <a:pPr algn="l"/>
            <a:r>
              <a:rPr sz="1300" b="0" i="0">
                <a:solidFill>
                  <a:srgbClr val="2C3E50"/>
                </a:solidFill>
                <a:latin typeface="Calibri"/>
              </a:rPr>
              <a:t>Parts d'activités déclarées comme alignées à la Taxonomie UE par l'entreprise. Le respect du principe DNSH et des garanties minimales sociales (diligence raisonnable au sens des Principes directeurs de l'OCDE et des Nations unies) n'est pas évalué dans ce rapport.</a:t>
            </a:r>
          </a:p>
        </p:txBody>
      </p:sp>
      <p:pic>
        <p:nvPicPr>
          <p:cNvPr id="13" name="Picture 12" descr="image.png"/>
          <p:cNvPicPr>
            <a:picLocks noChangeAspect="1"/>
          </p:cNvPicPr>
          <p:nvPr/>
        </p:nvPicPr>
        <p:blipFill>
          <a:blip r:embed="rId2"/>
          <a:stretch>
            <a:fillRect/>
          </a:stretch>
        </p:blipFill>
        <p:spPr>
          <a:xfrm>
            <a:off x="5760720" y="2286000"/>
            <a:ext cx="6126480" cy="2728414"/>
          </a:xfrm>
          <a:prstGeom prst="rect">
            <a:avLst/>
          </a:prstGeom>
        </p:spPr>
      </p:pic>
      <p:sp>
        <p:nvSpPr>
          <p:cNvPr id="14" name="TextBox 13"/>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ANALYSE STRATÉGIQUE ESG</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2028" b="1" i="0">
                <a:solidFill>
                  <a:srgbClr val="FFFFFF"/>
                </a:solidFill>
                <a:latin typeface="Calibri"/>
              </a:rPr>
              <a:t>5 forces établies, 5 leviers de progression</a:t>
            </a:r>
          </a:p>
        </p:txBody>
      </p:sp>
      <p:sp>
        <p:nvSpPr>
          <p:cNvPr id="7" name="Rectangle 6"/>
          <p:cNvSpPr/>
          <p:nvPr/>
        </p:nvSpPr>
        <p:spPr>
          <a:xfrm>
            <a:off x="274320" y="1143000"/>
            <a:ext cx="5669280" cy="5257800"/>
          </a:xfrm>
          <a:prstGeom prst="rect">
            <a:avLst/>
          </a:prstGeom>
          <a:solidFill>
            <a:srgbClr val="EBF2FB"/>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25880"/>
            <a:ext cx="1188720" cy="914400"/>
          </a:xfrm>
          <a:prstGeom prst="rect">
            <a:avLst/>
          </a:prstGeom>
          <a:noFill/>
        </p:spPr>
        <p:txBody>
          <a:bodyPr wrap="square">
            <a:spAutoFit/>
          </a:bodyPr>
          <a:lstStyle/>
          <a:p>
            <a:pPr algn="l"/>
            <a:r>
              <a:rPr sz="4600" b="1" i="0">
                <a:solidFill>
                  <a:srgbClr val="27AE60"/>
                </a:solidFill>
                <a:latin typeface="Calibri"/>
              </a:rPr>
              <a:t>5</a:t>
            </a:r>
          </a:p>
        </p:txBody>
      </p:sp>
      <p:sp>
        <p:nvSpPr>
          <p:cNvPr id="9" name="TextBox 8"/>
          <p:cNvSpPr txBox="1"/>
          <p:nvPr/>
        </p:nvSpPr>
        <p:spPr>
          <a:xfrm>
            <a:off x="1600200" y="1572768"/>
            <a:ext cx="4206240" cy="640080"/>
          </a:xfrm>
          <a:prstGeom prst="rect">
            <a:avLst/>
          </a:prstGeom>
          <a:noFill/>
        </p:spPr>
        <p:txBody>
          <a:bodyPr wrap="square">
            <a:spAutoFit/>
          </a:bodyPr>
          <a:lstStyle/>
          <a:p>
            <a:pPr algn="l"/>
            <a:r>
              <a:rPr sz="1500" b="1" i="0">
                <a:solidFill>
                  <a:srgbClr val="2C3E50"/>
                </a:solidFill>
                <a:latin typeface="Calibri"/>
              </a:rPr>
              <a:t>POINTS FORTS</a:t>
            </a:r>
          </a:p>
        </p:txBody>
      </p:sp>
      <p:sp>
        <p:nvSpPr>
          <p:cNvPr id="10" name="Rectangle 9"/>
          <p:cNvSpPr/>
          <p:nvPr/>
        </p:nvSpPr>
        <p:spPr>
          <a:xfrm>
            <a:off x="548640" y="2423160"/>
            <a:ext cx="5120640" cy="1828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2770632"/>
            <a:ext cx="146304" cy="146304"/>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697480"/>
            <a:ext cx="4800600" cy="658368"/>
          </a:xfrm>
          <a:prstGeom prst="rect">
            <a:avLst/>
          </a:prstGeom>
          <a:noFill/>
        </p:spPr>
        <p:txBody>
          <a:bodyPr wrap="square">
            <a:spAutoFit/>
          </a:bodyPr>
          <a:lstStyle/>
          <a:p>
            <a:pPr algn="l"/>
            <a:r>
              <a:rPr sz="1250" b="0" i="0">
                <a:solidFill>
                  <a:srgbClr val="2C3E50"/>
                </a:solidFill>
                <a:latin typeface="Calibri"/>
              </a:rPr>
              <a:t>Excellente performance environnementale globale</a:t>
            </a:r>
          </a:p>
        </p:txBody>
      </p:sp>
      <p:sp>
        <p:nvSpPr>
          <p:cNvPr id="13" name="Oval 12"/>
          <p:cNvSpPr/>
          <p:nvPr/>
        </p:nvSpPr>
        <p:spPr>
          <a:xfrm>
            <a:off x="566928" y="3483864"/>
            <a:ext cx="146304" cy="146304"/>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3410712"/>
            <a:ext cx="4800600" cy="658368"/>
          </a:xfrm>
          <a:prstGeom prst="rect">
            <a:avLst/>
          </a:prstGeom>
          <a:noFill/>
        </p:spPr>
        <p:txBody>
          <a:bodyPr wrap="square">
            <a:spAutoFit/>
          </a:bodyPr>
          <a:lstStyle/>
          <a:p>
            <a:pPr algn="l"/>
            <a:r>
              <a:rPr sz="1250" b="0" i="0">
                <a:solidFill>
                  <a:srgbClr val="2C3E50"/>
                </a:solidFill>
                <a:latin typeface="Calibri"/>
              </a:rPr>
              <a:t>Comité de durabilité opérationnel au niveau du CA</a:t>
            </a:r>
          </a:p>
        </p:txBody>
      </p:sp>
      <p:sp>
        <p:nvSpPr>
          <p:cNvPr id="15" name="Oval 14"/>
          <p:cNvSpPr/>
          <p:nvPr/>
        </p:nvSpPr>
        <p:spPr>
          <a:xfrm>
            <a:off x="566928" y="4197096"/>
            <a:ext cx="146304" cy="146304"/>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4123944"/>
            <a:ext cx="4800600" cy="658368"/>
          </a:xfrm>
          <a:prstGeom prst="rect">
            <a:avLst/>
          </a:prstGeom>
          <a:noFill/>
        </p:spPr>
        <p:txBody>
          <a:bodyPr wrap="square">
            <a:spAutoFit/>
          </a:bodyPr>
          <a:lstStyle/>
          <a:p>
            <a:pPr algn="l"/>
            <a:r>
              <a:rPr sz="1250" b="0" i="0">
                <a:solidFill>
                  <a:srgbClr val="2C3E50"/>
                </a:solidFill>
                <a:latin typeface="Calibri"/>
              </a:rPr>
              <a:t>Parité exemplaire au Conseil d'Administration (44%)</a:t>
            </a:r>
          </a:p>
        </p:txBody>
      </p:sp>
      <p:sp>
        <p:nvSpPr>
          <p:cNvPr id="17" name="Oval 16"/>
          <p:cNvSpPr/>
          <p:nvPr/>
        </p:nvSpPr>
        <p:spPr>
          <a:xfrm>
            <a:off x="566928" y="4910328"/>
            <a:ext cx="146304" cy="146304"/>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4837176"/>
            <a:ext cx="4800600" cy="658368"/>
          </a:xfrm>
          <a:prstGeom prst="rect">
            <a:avLst/>
          </a:prstGeom>
          <a:noFill/>
        </p:spPr>
        <p:txBody>
          <a:bodyPr wrap="square">
            <a:spAutoFit/>
          </a:bodyPr>
          <a:lstStyle/>
          <a:p>
            <a:pPr algn="l"/>
            <a:r>
              <a:rPr sz="1250" b="0" i="0">
                <a:solidFill>
                  <a:srgbClr val="2C3E50"/>
                </a:solidFill>
                <a:latin typeface="Calibri"/>
              </a:rPr>
              <a:t>Gouvernance de haute qualité et transparente</a:t>
            </a:r>
          </a:p>
        </p:txBody>
      </p:sp>
      <p:sp>
        <p:nvSpPr>
          <p:cNvPr id="19" name="Oval 18"/>
          <p:cNvSpPr/>
          <p:nvPr/>
        </p:nvSpPr>
        <p:spPr>
          <a:xfrm>
            <a:off x="566928" y="5623560"/>
            <a:ext cx="146304" cy="146304"/>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5550408"/>
            <a:ext cx="4800600" cy="658368"/>
          </a:xfrm>
          <a:prstGeom prst="rect">
            <a:avLst/>
          </a:prstGeom>
          <a:noFill/>
        </p:spPr>
        <p:txBody>
          <a:bodyPr wrap="square">
            <a:spAutoFit/>
          </a:bodyPr>
          <a:lstStyle/>
          <a:p>
            <a:pPr algn="l"/>
            <a:r>
              <a:rPr sz="1250" b="0" i="0">
                <a:solidFill>
                  <a:srgbClr val="2C3E50"/>
                </a:solidFill>
                <a:latin typeface="Calibri"/>
              </a:rPr>
              <a:t>Reporting complet des émissions Scope 1, 2 et 3</a:t>
            </a:r>
          </a:p>
        </p:txBody>
      </p:sp>
      <p:sp>
        <p:nvSpPr>
          <p:cNvPr id="21" name="Rectangle 20"/>
          <p:cNvSpPr/>
          <p:nvPr/>
        </p:nvSpPr>
        <p:spPr>
          <a:xfrm>
            <a:off x="6245352" y="1143000"/>
            <a:ext cx="5669280" cy="5257800"/>
          </a:xfrm>
          <a:prstGeom prst="rect">
            <a:avLst/>
          </a:prstGeom>
          <a:solidFill>
            <a:srgbClr val="EBF2FB"/>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9672" y="1325880"/>
            <a:ext cx="1188720" cy="914400"/>
          </a:xfrm>
          <a:prstGeom prst="rect">
            <a:avLst/>
          </a:prstGeom>
          <a:noFill/>
        </p:spPr>
        <p:txBody>
          <a:bodyPr wrap="square">
            <a:spAutoFit/>
          </a:bodyPr>
          <a:lstStyle/>
          <a:p>
            <a:pPr algn="l"/>
            <a:r>
              <a:rPr sz="4600" b="1" i="0">
                <a:solidFill>
                  <a:srgbClr val="E74C3C"/>
                </a:solidFill>
                <a:latin typeface="Calibri"/>
              </a:rPr>
              <a:t>5</a:t>
            </a:r>
          </a:p>
        </p:txBody>
      </p:sp>
      <p:sp>
        <p:nvSpPr>
          <p:cNvPr id="23" name="TextBox 22"/>
          <p:cNvSpPr txBox="1"/>
          <p:nvPr/>
        </p:nvSpPr>
        <p:spPr>
          <a:xfrm>
            <a:off x="7571232" y="1572768"/>
            <a:ext cx="4206240" cy="640080"/>
          </a:xfrm>
          <a:prstGeom prst="rect">
            <a:avLst/>
          </a:prstGeom>
          <a:noFill/>
        </p:spPr>
        <p:txBody>
          <a:bodyPr wrap="square">
            <a:spAutoFit/>
          </a:bodyPr>
          <a:lstStyle/>
          <a:p>
            <a:pPr algn="l"/>
            <a:r>
              <a:rPr sz="1500" b="1" i="0">
                <a:solidFill>
                  <a:srgbClr val="2C3E50"/>
                </a:solidFill>
                <a:latin typeface="Calibri"/>
              </a:rPr>
              <a:t>AXES D'AMÉLIORATION</a:t>
            </a:r>
          </a:p>
        </p:txBody>
      </p:sp>
      <p:sp>
        <p:nvSpPr>
          <p:cNvPr id="24" name="Rectangle 23"/>
          <p:cNvSpPr/>
          <p:nvPr/>
        </p:nvSpPr>
        <p:spPr>
          <a:xfrm>
            <a:off x="6519672" y="24231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537960" y="2770632"/>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67144" y="2697480"/>
            <a:ext cx="4800600" cy="658368"/>
          </a:xfrm>
          <a:prstGeom prst="rect">
            <a:avLst/>
          </a:prstGeom>
          <a:noFill/>
        </p:spPr>
        <p:txBody>
          <a:bodyPr wrap="square">
            <a:spAutoFit/>
          </a:bodyPr>
          <a:lstStyle/>
          <a:p>
            <a:pPr algn="l"/>
            <a:r>
              <a:rPr sz="1250" b="0" i="0">
                <a:solidFill>
                  <a:srgbClr val="2C3E50"/>
                </a:solidFill>
                <a:latin typeface="Calibri"/>
              </a:rPr>
              <a:t>Énergie renouvelable à renforcer (actuellement 42%, objectif 50%)</a:t>
            </a:r>
          </a:p>
        </p:txBody>
      </p:sp>
      <p:sp>
        <p:nvSpPr>
          <p:cNvPr id="27" name="Oval 26"/>
          <p:cNvSpPr/>
          <p:nvPr/>
        </p:nvSpPr>
        <p:spPr>
          <a:xfrm>
            <a:off x="6537960" y="3483864"/>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67144" y="3410712"/>
            <a:ext cx="4800600" cy="658368"/>
          </a:xfrm>
          <a:prstGeom prst="rect">
            <a:avLst/>
          </a:prstGeom>
          <a:noFill/>
        </p:spPr>
        <p:txBody>
          <a:bodyPr wrap="square">
            <a:spAutoFit/>
          </a:bodyPr>
          <a:lstStyle/>
          <a:p>
            <a:pPr algn="l"/>
            <a:r>
              <a:rPr sz="1250" b="0" i="0">
                <a:solidFill>
                  <a:srgbClr val="2C3E50"/>
                </a:solidFill>
                <a:latin typeface="Calibri"/>
              </a:rPr>
              <a:t>Déséquilibre de genre dans les effectifs (34% de femmes)</a:t>
            </a:r>
          </a:p>
        </p:txBody>
      </p:sp>
      <p:sp>
        <p:nvSpPr>
          <p:cNvPr id="29" name="Oval 28"/>
          <p:cNvSpPr/>
          <p:nvPr/>
        </p:nvSpPr>
        <p:spPr>
          <a:xfrm>
            <a:off x="6537960" y="4197096"/>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67144" y="4123944"/>
            <a:ext cx="4800600" cy="658368"/>
          </a:xfrm>
          <a:prstGeom prst="rect">
            <a:avLst/>
          </a:prstGeom>
          <a:noFill/>
        </p:spPr>
        <p:txBody>
          <a:bodyPr wrap="square">
            <a:spAutoFit/>
          </a:bodyPr>
          <a:lstStyle/>
          <a:p>
            <a:pPr algn="l"/>
            <a:r>
              <a:rPr sz="1250" b="0" i="0">
                <a:solidFill>
                  <a:srgbClr val="2C3E50"/>
                </a:solidFill>
                <a:latin typeface="Calibri"/>
              </a:rPr>
              <a:t>Taux de fréquence des accidents élevé (TF 6.2)</a:t>
            </a:r>
          </a:p>
        </p:txBody>
      </p:sp>
      <p:sp>
        <p:nvSpPr>
          <p:cNvPr id="31" name="Oval 30"/>
          <p:cNvSpPr/>
          <p:nvPr/>
        </p:nvSpPr>
        <p:spPr>
          <a:xfrm>
            <a:off x="6537960" y="4910328"/>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67144" y="4837176"/>
            <a:ext cx="4800600" cy="658368"/>
          </a:xfrm>
          <a:prstGeom prst="rect">
            <a:avLst/>
          </a:prstGeom>
          <a:noFill/>
        </p:spPr>
        <p:txBody>
          <a:bodyPr wrap="square">
            <a:spAutoFit/>
          </a:bodyPr>
          <a:lstStyle/>
          <a:p>
            <a:pPr algn="l"/>
            <a:r>
              <a:rPr sz="1250" b="0" i="0">
                <a:solidFill>
                  <a:srgbClr val="2C3E50"/>
                </a:solidFill>
                <a:latin typeface="Calibri"/>
              </a:rPr>
              <a:t>Une violation de données — cybersécurité à renforcer</a:t>
            </a:r>
          </a:p>
        </p:txBody>
      </p:sp>
      <p:sp>
        <p:nvSpPr>
          <p:cNvPr id="33" name="Oval 32"/>
          <p:cNvSpPr/>
          <p:nvPr/>
        </p:nvSpPr>
        <p:spPr>
          <a:xfrm>
            <a:off x="6537960" y="5623560"/>
            <a:ext cx="146304" cy="146304"/>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67144" y="5550408"/>
            <a:ext cx="4800600" cy="658368"/>
          </a:xfrm>
          <a:prstGeom prst="rect">
            <a:avLst/>
          </a:prstGeom>
          <a:noFill/>
        </p:spPr>
        <p:txBody>
          <a:bodyPr wrap="square">
            <a:spAutoFit/>
          </a:bodyPr>
          <a:lstStyle/>
          <a:p>
            <a:pPr algn="l"/>
            <a:r>
              <a:rPr sz="1250" b="0" i="0">
                <a:solidFill>
                  <a:srgbClr val="2C3E50"/>
                </a:solidFill>
                <a:latin typeface="Calibri"/>
              </a:rPr>
              <a:t>Absence d'audit ESG indépendant</a:t>
            </a:r>
          </a:p>
        </p:txBody>
      </p:sp>
      <p:sp>
        <p:nvSpPr>
          <p:cNvPr id="35" name="TextBox 34"/>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RISQUES &amp; OPPORTUNITÉS</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1716" b="1" i="0">
                <a:solidFill>
                  <a:srgbClr val="FFFFFF"/>
                </a:solidFill>
                <a:latin typeface="Calibri"/>
              </a:rPr>
              <a:t>Où se concentrent vos risques et vos leviers de valeur</a:t>
            </a:r>
          </a:p>
        </p:txBody>
      </p:sp>
      <p:sp>
        <p:nvSpPr>
          <p:cNvPr id="7" name="Rectangle 6"/>
          <p:cNvSpPr/>
          <p:nvPr/>
        </p:nvSpPr>
        <p:spPr>
          <a:xfrm>
            <a:off x="274320" y="1143000"/>
            <a:ext cx="5669280" cy="5257800"/>
          </a:xfrm>
          <a:prstGeom prst="rect">
            <a:avLst/>
          </a:prstGeom>
          <a:solidFill>
            <a:srgbClr val="EBF2FB"/>
          </a:solidFill>
          <a:ln w="12700">
            <a:solidFill>
              <a:srgbClr val="E74C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48640" y="1371600"/>
            <a:ext cx="566928" cy="566928"/>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1408176"/>
            <a:ext cx="566928" cy="502920"/>
          </a:xfrm>
          <a:prstGeom prst="rect">
            <a:avLst/>
          </a:prstGeom>
          <a:noFill/>
        </p:spPr>
        <p:txBody>
          <a:bodyPr wrap="square">
            <a:spAutoFit/>
          </a:bodyPr>
          <a:lstStyle/>
          <a:p>
            <a:pPr algn="ctr"/>
            <a:r>
              <a:rPr sz="2600" b="1" i="0">
                <a:solidFill>
                  <a:srgbClr val="FFFFFF"/>
                </a:solidFill>
                <a:latin typeface="Calibri"/>
              </a:rPr>
              <a:t>!</a:t>
            </a:r>
          </a:p>
        </p:txBody>
      </p:sp>
      <p:sp>
        <p:nvSpPr>
          <p:cNvPr id="10" name="TextBox 9"/>
          <p:cNvSpPr txBox="1"/>
          <p:nvPr/>
        </p:nvSpPr>
        <p:spPr>
          <a:xfrm>
            <a:off x="1234440" y="1481328"/>
            <a:ext cx="4572000" cy="548640"/>
          </a:xfrm>
          <a:prstGeom prst="rect">
            <a:avLst/>
          </a:prstGeom>
          <a:noFill/>
        </p:spPr>
        <p:txBody>
          <a:bodyPr wrap="square">
            <a:spAutoFit/>
          </a:bodyPr>
          <a:lstStyle/>
          <a:p>
            <a:pPr algn="l"/>
            <a:r>
              <a:rPr sz="1600" b="1" i="0">
                <a:solidFill>
                  <a:srgbClr val="2C3E50"/>
                </a:solidFill>
                <a:latin typeface="Calibri"/>
              </a:rPr>
              <a:t>RISQUES MAJEURS</a:t>
            </a:r>
          </a:p>
        </p:txBody>
      </p:sp>
      <p:sp>
        <p:nvSpPr>
          <p:cNvPr id="11" name="Rectangle 10"/>
          <p:cNvSpPr/>
          <p:nvPr/>
        </p:nvSpPr>
        <p:spPr>
          <a:xfrm>
            <a:off x="548640" y="2194560"/>
            <a:ext cx="5120640" cy="18288"/>
          </a:xfrm>
          <a:prstGeom prst="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2468880"/>
            <a:ext cx="1161288"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487168"/>
            <a:ext cx="1161288" cy="237744"/>
          </a:xfrm>
          <a:prstGeom prst="rect">
            <a:avLst/>
          </a:prstGeom>
          <a:noFill/>
        </p:spPr>
        <p:txBody>
          <a:bodyPr wrap="square">
            <a:spAutoFit/>
          </a:bodyPr>
          <a:lstStyle/>
          <a:p>
            <a:pPr algn="ctr"/>
            <a:r>
              <a:rPr sz="950" b="1" i="0">
                <a:solidFill>
                  <a:srgbClr val="FFFFFF"/>
                </a:solidFill>
                <a:latin typeface="Calibri"/>
              </a:rPr>
              <a:t>Fiabilité</a:t>
            </a:r>
          </a:p>
        </p:txBody>
      </p:sp>
      <p:sp>
        <p:nvSpPr>
          <p:cNvPr id="14" name="Oval 13"/>
          <p:cNvSpPr/>
          <p:nvPr/>
        </p:nvSpPr>
        <p:spPr>
          <a:xfrm>
            <a:off x="5257800" y="2468880"/>
            <a:ext cx="384048" cy="274320"/>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57800" y="2496312"/>
            <a:ext cx="384048" cy="219456"/>
          </a:xfrm>
          <a:prstGeom prst="rect">
            <a:avLst/>
          </a:prstGeom>
          <a:noFill/>
        </p:spPr>
        <p:txBody>
          <a:bodyPr wrap="square">
            <a:spAutoFit/>
          </a:bodyPr>
          <a:lstStyle/>
          <a:p>
            <a:pPr algn="ctr"/>
            <a:r>
              <a:rPr sz="950" b="1" i="0">
                <a:solidFill>
                  <a:srgbClr val="FFFFFF"/>
                </a:solidFill>
                <a:latin typeface="Calibri"/>
              </a:rPr>
              <a:t>P1</a:t>
            </a:r>
          </a:p>
        </p:txBody>
      </p:sp>
      <p:sp>
        <p:nvSpPr>
          <p:cNvPr id="16" name="TextBox 15"/>
          <p:cNvSpPr txBox="1"/>
          <p:nvPr/>
        </p:nvSpPr>
        <p:spPr>
          <a:xfrm>
            <a:off x="548640" y="2816352"/>
            <a:ext cx="5120640" cy="548640"/>
          </a:xfrm>
          <a:prstGeom prst="rect">
            <a:avLst/>
          </a:prstGeom>
          <a:noFill/>
        </p:spPr>
        <p:txBody>
          <a:bodyPr wrap="square">
            <a:spAutoFit/>
          </a:bodyPr>
          <a:lstStyle/>
          <a:p>
            <a:pPr algn="l"/>
            <a:r>
              <a:rPr sz="1250" b="0" i="0">
                <a:solidFill>
                  <a:srgbClr val="2C3E50"/>
                </a:solidFill>
                <a:latin typeface="Calibri"/>
              </a:rPr>
              <a:t>Reporting non audité : crédibilité limitée auprès des investisseurs</a:t>
            </a:r>
          </a:p>
        </p:txBody>
      </p:sp>
      <p:sp>
        <p:nvSpPr>
          <p:cNvPr id="17" name="Rounded Rectangle 16"/>
          <p:cNvSpPr/>
          <p:nvPr/>
        </p:nvSpPr>
        <p:spPr>
          <a:xfrm>
            <a:off x="548640" y="3429000"/>
            <a:ext cx="1463040"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447288"/>
            <a:ext cx="1463040" cy="237744"/>
          </a:xfrm>
          <a:prstGeom prst="rect">
            <a:avLst/>
          </a:prstGeom>
          <a:noFill/>
        </p:spPr>
        <p:txBody>
          <a:bodyPr wrap="square">
            <a:spAutoFit/>
          </a:bodyPr>
          <a:lstStyle/>
          <a:p>
            <a:pPr algn="ctr"/>
            <a:r>
              <a:rPr sz="950" b="1" i="0">
                <a:solidFill>
                  <a:srgbClr val="FFFFFF"/>
                </a:solidFill>
                <a:latin typeface="Calibri"/>
              </a:rPr>
              <a:t>Opérationnel</a:t>
            </a:r>
          </a:p>
        </p:txBody>
      </p:sp>
      <p:sp>
        <p:nvSpPr>
          <p:cNvPr id="19" name="Oval 18"/>
          <p:cNvSpPr/>
          <p:nvPr/>
        </p:nvSpPr>
        <p:spPr>
          <a:xfrm>
            <a:off x="5257800" y="3429000"/>
            <a:ext cx="384048" cy="274320"/>
          </a:xfrm>
          <a:prstGeom prst="ellipse">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57800" y="3456432"/>
            <a:ext cx="384048" cy="219456"/>
          </a:xfrm>
          <a:prstGeom prst="rect">
            <a:avLst/>
          </a:prstGeom>
          <a:noFill/>
        </p:spPr>
        <p:txBody>
          <a:bodyPr wrap="square">
            <a:spAutoFit/>
          </a:bodyPr>
          <a:lstStyle/>
          <a:p>
            <a:pPr algn="ctr"/>
            <a:r>
              <a:rPr sz="950" b="1" i="0">
                <a:solidFill>
                  <a:srgbClr val="FFFFFF"/>
                </a:solidFill>
                <a:latin typeface="Calibri"/>
              </a:rPr>
              <a:t>P1</a:t>
            </a:r>
          </a:p>
        </p:txBody>
      </p:sp>
      <p:sp>
        <p:nvSpPr>
          <p:cNvPr id="21" name="TextBox 20"/>
          <p:cNvSpPr txBox="1"/>
          <p:nvPr/>
        </p:nvSpPr>
        <p:spPr>
          <a:xfrm>
            <a:off x="548640" y="3776472"/>
            <a:ext cx="5120640" cy="548640"/>
          </a:xfrm>
          <a:prstGeom prst="rect">
            <a:avLst/>
          </a:prstGeom>
          <a:noFill/>
        </p:spPr>
        <p:txBody>
          <a:bodyPr wrap="square">
            <a:spAutoFit/>
          </a:bodyPr>
          <a:lstStyle/>
          <a:p>
            <a:pPr algn="l"/>
            <a:r>
              <a:rPr sz="1250" b="0" i="0">
                <a:solidFill>
                  <a:srgbClr val="2C3E50"/>
                </a:solidFill>
                <a:latin typeface="Calibri"/>
              </a:rPr>
              <a:t>Sinistralité élevée : risque humain et social</a:t>
            </a:r>
          </a:p>
        </p:txBody>
      </p:sp>
      <p:sp>
        <p:nvSpPr>
          <p:cNvPr id="22" name="Rounded Rectangle 21"/>
          <p:cNvSpPr/>
          <p:nvPr/>
        </p:nvSpPr>
        <p:spPr>
          <a:xfrm>
            <a:off x="548640" y="4389120"/>
            <a:ext cx="1261872"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407408"/>
            <a:ext cx="1261872" cy="237744"/>
          </a:xfrm>
          <a:prstGeom prst="rect">
            <a:avLst/>
          </a:prstGeom>
          <a:noFill/>
        </p:spPr>
        <p:txBody>
          <a:bodyPr wrap="square">
            <a:spAutoFit/>
          </a:bodyPr>
          <a:lstStyle/>
          <a:p>
            <a:pPr algn="ctr"/>
            <a:r>
              <a:rPr sz="950" b="1" i="0">
                <a:solidFill>
                  <a:srgbClr val="FFFFFF"/>
                </a:solidFill>
                <a:latin typeface="Calibri"/>
              </a:rPr>
              <a:t>Transition</a:t>
            </a:r>
          </a:p>
        </p:txBody>
      </p:sp>
      <p:sp>
        <p:nvSpPr>
          <p:cNvPr id="24" name="Oval 23"/>
          <p:cNvSpPr/>
          <p:nvPr/>
        </p:nvSpPr>
        <p:spPr>
          <a:xfrm>
            <a:off x="5257800" y="438912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57800" y="4416552"/>
            <a:ext cx="384048" cy="219456"/>
          </a:xfrm>
          <a:prstGeom prst="rect">
            <a:avLst/>
          </a:prstGeom>
          <a:noFill/>
        </p:spPr>
        <p:txBody>
          <a:bodyPr wrap="square">
            <a:spAutoFit/>
          </a:bodyPr>
          <a:lstStyle/>
          <a:p>
            <a:pPr algn="ctr"/>
            <a:r>
              <a:rPr sz="950" b="1" i="0">
                <a:solidFill>
                  <a:srgbClr val="FFFFFF"/>
                </a:solidFill>
                <a:latin typeface="Calibri"/>
              </a:rPr>
              <a:t>P2</a:t>
            </a:r>
          </a:p>
        </p:txBody>
      </p:sp>
      <p:sp>
        <p:nvSpPr>
          <p:cNvPr id="26" name="TextBox 25"/>
          <p:cNvSpPr txBox="1"/>
          <p:nvPr/>
        </p:nvSpPr>
        <p:spPr>
          <a:xfrm>
            <a:off x="548640" y="4736592"/>
            <a:ext cx="5120640" cy="548640"/>
          </a:xfrm>
          <a:prstGeom prst="rect">
            <a:avLst/>
          </a:prstGeom>
          <a:noFill/>
        </p:spPr>
        <p:txBody>
          <a:bodyPr wrap="square">
            <a:spAutoFit/>
          </a:bodyPr>
          <a:lstStyle/>
          <a:p>
            <a:pPr algn="l"/>
            <a:r>
              <a:rPr sz="1250" b="0" i="0">
                <a:solidFill>
                  <a:srgbClr val="2C3E50"/>
                </a:solidFill>
                <a:latin typeface="Calibri"/>
              </a:rPr>
              <a:t>Intensité carbone élevée : marge exposée à la tarification du carbone</a:t>
            </a:r>
          </a:p>
        </p:txBody>
      </p:sp>
      <p:sp>
        <p:nvSpPr>
          <p:cNvPr id="27" name="Rounded Rectangle 26"/>
          <p:cNvSpPr/>
          <p:nvPr/>
        </p:nvSpPr>
        <p:spPr>
          <a:xfrm>
            <a:off x="548640" y="5349240"/>
            <a:ext cx="1563624" cy="274320"/>
          </a:xfrm>
          <a:prstGeom prst="roundRect">
            <a:avLst/>
          </a:prstGeom>
          <a:solidFill>
            <a:srgbClr val="E74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5367528"/>
            <a:ext cx="1563624" cy="237744"/>
          </a:xfrm>
          <a:prstGeom prst="rect">
            <a:avLst/>
          </a:prstGeom>
          <a:noFill/>
        </p:spPr>
        <p:txBody>
          <a:bodyPr wrap="square">
            <a:spAutoFit/>
          </a:bodyPr>
          <a:lstStyle/>
          <a:p>
            <a:pPr algn="ctr"/>
            <a:r>
              <a:rPr sz="950" b="1" i="0">
                <a:solidFill>
                  <a:srgbClr val="FFFFFF"/>
                </a:solidFill>
                <a:latin typeface="Calibri"/>
              </a:rPr>
              <a:t>Réglementaire</a:t>
            </a:r>
          </a:p>
        </p:txBody>
      </p:sp>
      <p:sp>
        <p:nvSpPr>
          <p:cNvPr id="29" name="Oval 28"/>
          <p:cNvSpPr/>
          <p:nvPr/>
        </p:nvSpPr>
        <p:spPr>
          <a:xfrm>
            <a:off x="5257800" y="5349240"/>
            <a:ext cx="384048" cy="274320"/>
          </a:xfrm>
          <a:prstGeom prst="ellipse">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57800" y="5376672"/>
            <a:ext cx="384048" cy="219456"/>
          </a:xfrm>
          <a:prstGeom prst="rect">
            <a:avLst/>
          </a:prstGeom>
          <a:noFill/>
        </p:spPr>
        <p:txBody>
          <a:bodyPr wrap="square">
            <a:spAutoFit/>
          </a:bodyPr>
          <a:lstStyle/>
          <a:p>
            <a:pPr algn="ctr"/>
            <a:r>
              <a:rPr sz="950" b="1" i="0">
                <a:solidFill>
                  <a:srgbClr val="FFFFFF"/>
                </a:solidFill>
                <a:latin typeface="Calibri"/>
              </a:rPr>
              <a:t>P2</a:t>
            </a:r>
          </a:p>
        </p:txBody>
      </p:sp>
      <p:sp>
        <p:nvSpPr>
          <p:cNvPr id="31" name="TextBox 30"/>
          <p:cNvSpPr txBox="1"/>
          <p:nvPr/>
        </p:nvSpPr>
        <p:spPr>
          <a:xfrm>
            <a:off x="548640" y="5696712"/>
            <a:ext cx="5120640" cy="548640"/>
          </a:xfrm>
          <a:prstGeom prst="rect">
            <a:avLst/>
          </a:prstGeom>
          <a:noFill/>
        </p:spPr>
        <p:txBody>
          <a:bodyPr wrap="square">
            <a:spAutoFit/>
          </a:bodyPr>
          <a:lstStyle/>
          <a:p>
            <a:pPr algn="l"/>
            <a:r>
              <a:rPr sz="1250" b="0" i="0">
                <a:solidFill>
                  <a:srgbClr val="2C3E50"/>
                </a:solidFill>
                <a:latin typeface="Calibri"/>
              </a:rPr>
              <a:t>Parité sous la cible : risque réglementaire et d'attractivité</a:t>
            </a:r>
          </a:p>
        </p:txBody>
      </p:sp>
      <p:sp>
        <p:nvSpPr>
          <p:cNvPr id="32" name="Rectangle 31"/>
          <p:cNvSpPr/>
          <p:nvPr/>
        </p:nvSpPr>
        <p:spPr>
          <a:xfrm>
            <a:off x="6245352" y="1143000"/>
            <a:ext cx="5669280" cy="5257800"/>
          </a:xfrm>
          <a:prstGeom prst="rect">
            <a:avLst/>
          </a:prstGeom>
          <a:solidFill>
            <a:srgbClr val="EBF2FB"/>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19672" y="1371600"/>
            <a:ext cx="566928" cy="566928"/>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19672" y="1408176"/>
            <a:ext cx="566928" cy="502920"/>
          </a:xfrm>
          <a:prstGeom prst="rect">
            <a:avLst/>
          </a:prstGeom>
          <a:noFill/>
        </p:spPr>
        <p:txBody>
          <a:bodyPr wrap="square">
            <a:spAutoFit/>
          </a:bodyPr>
          <a:lstStyle/>
          <a:p>
            <a:pPr algn="ctr"/>
            <a:r>
              <a:rPr sz="2600" b="1" i="0">
                <a:solidFill>
                  <a:srgbClr val="FFFFFF"/>
                </a:solidFill>
                <a:latin typeface="Calibri"/>
              </a:rPr>
              <a:t>+</a:t>
            </a:r>
          </a:p>
        </p:txBody>
      </p:sp>
      <p:sp>
        <p:nvSpPr>
          <p:cNvPr id="35" name="TextBox 34"/>
          <p:cNvSpPr txBox="1"/>
          <p:nvPr/>
        </p:nvSpPr>
        <p:spPr>
          <a:xfrm>
            <a:off x="7205472" y="1481328"/>
            <a:ext cx="4572000" cy="548640"/>
          </a:xfrm>
          <a:prstGeom prst="rect">
            <a:avLst/>
          </a:prstGeom>
          <a:noFill/>
        </p:spPr>
        <p:txBody>
          <a:bodyPr wrap="square">
            <a:spAutoFit/>
          </a:bodyPr>
          <a:lstStyle/>
          <a:p>
            <a:pPr algn="l"/>
            <a:r>
              <a:rPr sz="1600" b="1" i="0">
                <a:solidFill>
                  <a:srgbClr val="2C3E50"/>
                </a:solidFill>
                <a:latin typeface="Calibri"/>
              </a:rPr>
              <a:t>OPPORTUNITÉS MAJEURES</a:t>
            </a:r>
          </a:p>
        </p:txBody>
      </p:sp>
      <p:sp>
        <p:nvSpPr>
          <p:cNvPr id="36" name="Rectangle 35"/>
          <p:cNvSpPr/>
          <p:nvPr/>
        </p:nvSpPr>
        <p:spPr>
          <a:xfrm>
            <a:off x="6519672" y="2194560"/>
            <a:ext cx="5120640" cy="1828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519672" y="2468880"/>
            <a:ext cx="1362456" cy="27432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19672" y="2487168"/>
            <a:ext cx="1362456" cy="237744"/>
          </a:xfrm>
          <a:prstGeom prst="rect">
            <a:avLst/>
          </a:prstGeom>
          <a:noFill/>
        </p:spPr>
        <p:txBody>
          <a:bodyPr wrap="square">
            <a:spAutoFit/>
          </a:bodyPr>
          <a:lstStyle/>
          <a:p>
            <a:pPr algn="ctr"/>
            <a:r>
              <a:rPr sz="950" b="1" i="0">
                <a:solidFill>
                  <a:srgbClr val="FFFFFF"/>
                </a:solidFill>
                <a:latin typeface="Calibri"/>
              </a:rPr>
              <a:t>Financement</a:t>
            </a:r>
          </a:p>
        </p:txBody>
      </p:sp>
      <p:sp>
        <p:nvSpPr>
          <p:cNvPr id="39" name="TextBox 38"/>
          <p:cNvSpPr txBox="1"/>
          <p:nvPr/>
        </p:nvSpPr>
        <p:spPr>
          <a:xfrm>
            <a:off x="6519672" y="2816352"/>
            <a:ext cx="5120640" cy="548640"/>
          </a:xfrm>
          <a:prstGeom prst="rect">
            <a:avLst/>
          </a:prstGeom>
          <a:noFill/>
        </p:spPr>
        <p:txBody>
          <a:bodyPr wrap="square">
            <a:spAutoFit/>
          </a:bodyPr>
          <a:lstStyle/>
          <a:p>
            <a:pPr algn="l"/>
            <a:r>
              <a:rPr sz="1250" b="0" i="0">
                <a:solidFill>
                  <a:srgbClr val="2C3E50"/>
                </a:solidFill>
                <a:latin typeface="Calibri"/>
              </a:rPr>
              <a:t>Gouvernance solide : accès facilité aux financements ESG (green bonds, prêts indexés)</a:t>
            </a:r>
          </a:p>
        </p:txBody>
      </p:sp>
      <p:sp>
        <p:nvSpPr>
          <p:cNvPr id="40" name="Rounded Rectangle 39"/>
          <p:cNvSpPr/>
          <p:nvPr/>
        </p:nvSpPr>
        <p:spPr>
          <a:xfrm>
            <a:off x="6519672" y="3429000"/>
            <a:ext cx="1362456" cy="27432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19672" y="3447288"/>
            <a:ext cx="1362456" cy="237744"/>
          </a:xfrm>
          <a:prstGeom prst="rect">
            <a:avLst/>
          </a:prstGeom>
          <a:noFill/>
        </p:spPr>
        <p:txBody>
          <a:bodyPr wrap="square">
            <a:spAutoFit/>
          </a:bodyPr>
          <a:lstStyle/>
          <a:p>
            <a:pPr algn="ctr"/>
            <a:r>
              <a:rPr sz="950" b="1" i="0">
                <a:solidFill>
                  <a:srgbClr val="FFFFFF"/>
                </a:solidFill>
                <a:latin typeface="Calibri"/>
              </a:rPr>
              <a:t>Financement</a:t>
            </a:r>
          </a:p>
        </p:txBody>
      </p:sp>
      <p:sp>
        <p:nvSpPr>
          <p:cNvPr id="42" name="TextBox 41"/>
          <p:cNvSpPr txBox="1"/>
          <p:nvPr/>
        </p:nvSpPr>
        <p:spPr>
          <a:xfrm>
            <a:off x="6519672" y="3776472"/>
            <a:ext cx="5120640" cy="548640"/>
          </a:xfrm>
          <a:prstGeom prst="rect">
            <a:avLst/>
          </a:prstGeom>
          <a:noFill/>
        </p:spPr>
        <p:txBody>
          <a:bodyPr wrap="square">
            <a:spAutoFit/>
          </a:bodyPr>
          <a:lstStyle/>
          <a:p>
            <a:pPr algn="l"/>
            <a:r>
              <a:rPr sz="1250" b="0" i="0">
                <a:solidFill>
                  <a:srgbClr val="2C3E50"/>
                </a:solidFill>
                <a:latin typeface="Calibri"/>
              </a:rPr>
              <a:t>Activités alignées Taxonomie : éligibilité aux financements verts</a:t>
            </a:r>
          </a:p>
        </p:txBody>
      </p:sp>
      <p:sp>
        <p:nvSpPr>
          <p:cNvPr id="43" name="Rounded Rectangle 42"/>
          <p:cNvSpPr/>
          <p:nvPr/>
        </p:nvSpPr>
        <p:spPr>
          <a:xfrm>
            <a:off x="6519672" y="4389120"/>
            <a:ext cx="758952" cy="27432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19672" y="4407408"/>
            <a:ext cx="758952" cy="237744"/>
          </a:xfrm>
          <a:prstGeom prst="rect">
            <a:avLst/>
          </a:prstGeom>
          <a:noFill/>
        </p:spPr>
        <p:txBody>
          <a:bodyPr wrap="square">
            <a:spAutoFit/>
          </a:bodyPr>
          <a:lstStyle/>
          <a:p>
            <a:pPr algn="ctr"/>
            <a:r>
              <a:rPr sz="950" b="1" i="0">
                <a:solidFill>
                  <a:srgbClr val="FFFFFF"/>
                </a:solidFill>
                <a:latin typeface="Calibri"/>
              </a:rPr>
              <a:t>Coûts</a:t>
            </a:r>
          </a:p>
        </p:txBody>
      </p:sp>
      <p:sp>
        <p:nvSpPr>
          <p:cNvPr id="45" name="TextBox 44"/>
          <p:cNvSpPr txBox="1"/>
          <p:nvPr/>
        </p:nvSpPr>
        <p:spPr>
          <a:xfrm>
            <a:off x="6519672" y="4736592"/>
            <a:ext cx="5120640" cy="548640"/>
          </a:xfrm>
          <a:prstGeom prst="rect">
            <a:avLst/>
          </a:prstGeom>
          <a:noFill/>
        </p:spPr>
        <p:txBody>
          <a:bodyPr wrap="square">
            <a:spAutoFit/>
          </a:bodyPr>
          <a:lstStyle/>
          <a:p>
            <a:pPr algn="l"/>
            <a:r>
              <a:rPr sz="1250" b="0" i="0">
                <a:solidFill>
                  <a:srgbClr val="2C3E50"/>
                </a:solidFill>
                <a:latin typeface="Calibri"/>
              </a:rPr>
              <a:t>Mix renouvelable engagé : réduction des coûts énergétiques à terme</a:t>
            </a:r>
          </a:p>
        </p:txBody>
      </p:sp>
      <p:sp>
        <p:nvSpPr>
          <p:cNvPr id="46" name="Rounded Rectangle 45"/>
          <p:cNvSpPr/>
          <p:nvPr/>
        </p:nvSpPr>
        <p:spPr>
          <a:xfrm>
            <a:off x="6519672" y="5349240"/>
            <a:ext cx="960120" cy="274320"/>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19672" y="5367528"/>
            <a:ext cx="960120" cy="237744"/>
          </a:xfrm>
          <a:prstGeom prst="rect">
            <a:avLst/>
          </a:prstGeom>
          <a:noFill/>
        </p:spPr>
        <p:txBody>
          <a:bodyPr wrap="square">
            <a:spAutoFit/>
          </a:bodyPr>
          <a:lstStyle/>
          <a:p>
            <a:pPr algn="ctr"/>
            <a:r>
              <a:rPr sz="950" b="1" i="0">
                <a:solidFill>
                  <a:srgbClr val="FFFFFF"/>
                </a:solidFill>
                <a:latin typeface="Calibri"/>
              </a:rPr>
              <a:t>Talents</a:t>
            </a:r>
          </a:p>
        </p:txBody>
      </p:sp>
      <p:sp>
        <p:nvSpPr>
          <p:cNvPr id="48" name="TextBox 47"/>
          <p:cNvSpPr txBox="1"/>
          <p:nvPr/>
        </p:nvSpPr>
        <p:spPr>
          <a:xfrm>
            <a:off x="6519672" y="5696712"/>
            <a:ext cx="5120640" cy="548640"/>
          </a:xfrm>
          <a:prstGeom prst="rect">
            <a:avLst/>
          </a:prstGeom>
          <a:noFill/>
        </p:spPr>
        <p:txBody>
          <a:bodyPr wrap="square">
            <a:spAutoFit/>
          </a:bodyPr>
          <a:lstStyle/>
          <a:p>
            <a:pPr algn="l"/>
            <a:r>
              <a:rPr sz="1250" b="0" i="0">
                <a:solidFill>
                  <a:srgbClr val="2C3E50"/>
                </a:solidFill>
                <a:latin typeface="Calibri"/>
              </a:rPr>
              <a:t>Politique sociale : marque employeur et rétention des talents renforcées</a:t>
            </a:r>
          </a:p>
        </p:txBody>
      </p:sp>
      <p:sp>
        <p:nvSpPr>
          <p:cNvPr id="49" name="TextBox 48"/>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51560"/>
            <a:ext cx="5486400" cy="2926080"/>
          </a:xfrm>
          <a:prstGeom prst="rect">
            <a:avLst/>
          </a:prstGeom>
          <a:noFill/>
        </p:spPr>
        <p:txBody>
          <a:bodyPr wrap="square">
            <a:spAutoFit/>
          </a:bodyPr>
          <a:lstStyle/>
          <a:p>
            <a:pPr algn="l"/>
            <a:r>
              <a:rPr sz="20000" b="1" i="0">
                <a:solidFill>
                  <a:srgbClr val="EBF2FB"/>
                </a:solidFill>
                <a:latin typeface="Calibri"/>
              </a:rPr>
              <a:t>02</a:t>
            </a:r>
          </a:p>
        </p:txBody>
      </p:sp>
      <p:sp>
        <p:nvSpPr>
          <p:cNvPr id="5" name="TextBox 4"/>
          <p:cNvSpPr txBox="1"/>
          <p:nvPr/>
        </p:nvSpPr>
        <p:spPr>
          <a:xfrm>
            <a:off x="640080" y="4160520"/>
            <a:ext cx="10881360" cy="1463040"/>
          </a:xfrm>
          <a:prstGeom prst="rect">
            <a:avLst/>
          </a:prstGeom>
          <a:noFill/>
        </p:spPr>
        <p:txBody>
          <a:bodyPr wrap="square">
            <a:spAutoFit/>
          </a:bodyPr>
          <a:lstStyle/>
          <a:p>
            <a:pPr algn="l"/>
            <a:r>
              <a:rPr sz="4000" b="1" i="0">
                <a:solidFill>
                  <a:srgbClr val="FFFFFF"/>
                </a:solidFill>
                <a:latin typeface="Calibri"/>
              </a:rPr>
              <a:t>PLAN D'ACTION</a:t>
            </a:r>
          </a:p>
        </p:txBody>
      </p:sp>
      <p:sp>
        <p:nvSpPr>
          <p:cNvPr id="6" name="Rectangle 5"/>
          <p:cNvSpPr/>
          <p:nvPr/>
        </p:nvSpPr>
        <p:spPr>
          <a:xfrm>
            <a:off x="685800" y="3977639"/>
            <a:ext cx="2011680" cy="73152"/>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532120"/>
            <a:ext cx="10515600" cy="822960"/>
          </a:xfrm>
          <a:prstGeom prst="rect">
            <a:avLst/>
          </a:prstGeom>
          <a:noFill/>
        </p:spPr>
        <p:txBody>
          <a:bodyPr wrap="square">
            <a:spAutoFit/>
          </a:bodyPr>
          <a:lstStyle/>
          <a:p>
            <a:pPr algn="l"/>
            <a:r>
              <a:rPr sz="1600" b="0" i="1">
                <a:solidFill>
                  <a:srgbClr val="AEC6E8"/>
                </a:solidFill>
                <a:latin typeface="Calibri"/>
              </a:rPr>
              <a:t>Quoi faire, dans quel ordre, sous quel horizon.</a:t>
            </a:r>
          </a:p>
        </p:txBody>
      </p:sp>
      <p:sp>
        <p:nvSpPr>
          <p:cNvPr id="8" name="TextBox 7"/>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PRIORISATION</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2028" b="1" i="0">
                <a:solidFill>
                  <a:srgbClr val="FFFFFF"/>
                </a:solidFill>
                <a:latin typeface="Calibri"/>
              </a:rPr>
              <a:t>Par où commencer : l'effort au regard de l'impact</a:t>
            </a:r>
          </a:p>
        </p:txBody>
      </p:sp>
      <p:pic>
        <p:nvPicPr>
          <p:cNvPr id="7" name="Picture 6" descr="image.png"/>
          <p:cNvPicPr>
            <a:picLocks noChangeAspect="1"/>
          </p:cNvPicPr>
          <p:nvPr/>
        </p:nvPicPr>
        <p:blipFill>
          <a:blip r:embed="rId2"/>
          <a:stretch>
            <a:fillRect/>
          </a:stretch>
        </p:blipFill>
        <p:spPr>
          <a:xfrm>
            <a:off x="320040" y="1463040"/>
            <a:ext cx="8412480" cy="4896447"/>
          </a:xfrm>
          <a:prstGeom prst="rect">
            <a:avLst/>
          </a:prstGeom>
        </p:spPr>
      </p:pic>
      <p:sp>
        <p:nvSpPr>
          <p:cNvPr id="8" name="Rounded Rectangle 7"/>
          <p:cNvSpPr/>
          <p:nvPr/>
        </p:nvSpPr>
        <p:spPr>
          <a:xfrm>
            <a:off x="8915400" y="1600200"/>
            <a:ext cx="2971800" cy="4206240"/>
          </a:xfrm>
          <a:prstGeom prst="roundRect">
            <a:avLst/>
          </a:prstGeom>
          <a:solidFill>
            <a:srgbClr val="EBF2FB"/>
          </a:solidFill>
          <a:ln w="15875">
            <a:solidFill>
              <a:srgbClr val="F39C1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915400" y="1600200"/>
            <a:ext cx="82296" cy="420624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71432" y="1783080"/>
            <a:ext cx="2514600" cy="320040"/>
          </a:xfrm>
          <a:prstGeom prst="rect">
            <a:avLst/>
          </a:prstGeom>
          <a:noFill/>
        </p:spPr>
        <p:txBody>
          <a:bodyPr wrap="square">
            <a:spAutoFit/>
          </a:bodyPr>
          <a:lstStyle/>
          <a:p>
            <a:pPr algn="l"/>
            <a:r>
              <a:rPr sz="1200" b="1" i="0">
                <a:solidFill>
                  <a:srgbClr val="F39C12"/>
                </a:solidFill>
                <a:latin typeface="Calibri"/>
              </a:rPr>
              <a:t>LECTURE MÉTIER</a:t>
            </a:r>
          </a:p>
        </p:txBody>
      </p:sp>
      <p:sp>
        <p:nvSpPr>
          <p:cNvPr id="11" name="TextBox 10"/>
          <p:cNvSpPr txBox="1"/>
          <p:nvPr/>
        </p:nvSpPr>
        <p:spPr>
          <a:xfrm>
            <a:off x="9171432" y="2194560"/>
            <a:ext cx="2514600" cy="3474720"/>
          </a:xfrm>
          <a:prstGeom prst="rect">
            <a:avLst/>
          </a:prstGeom>
          <a:noFill/>
        </p:spPr>
        <p:txBody>
          <a:bodyPr wrap="square">
            <a:spAutoFit/>
          </a:bodyPr>
          <a:lstStyle/>
          <a:p>
            <a:pPr algn="l"/>
            <a:r>
              <a:rPr sz="1300" b="0" i="0">
                <a:solidFill>
                  <a:srgbClr val="2C3E50"/>
                </a:solidFill>
                <a:latin typeface="Calibri"/>
              </a:rPr>
              <a:t>Trois actions combinent fort impact et effort limité — les actions 2, 3 et 4 — et peuvent être lancées immédiatement à moyens constants. Le chantier structurant du quadrant haut-droit justifie un budget et un responsable dédiés : il porte l'essentiel du potentiel de progression du score.</a:t>
            </a:r>
          </a:p>
        </p:txBody>
      </p:sp>
      <p:sp>
        <p:nvSpPr>
          <p:cNvPr id="12" name="TextBox 11"/>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82880"/>
            <a:ext cx="11612880" cy="713232"/>
          </a:xfrm>
          <a:prstGeom prst="rect">
            <a:avLst/>
          </a:prstGeom>
          <a:noFill/>
        </p:spPr>
        <p:txBody>
          <a:bodyPr wrap="square">
            <a:spAutoFit/>
          </a:bodyPr>
          <a:lstStyle/>
          <a:p>
            <a:pPr algn="l"/>
            <a:r>
              <a:rPr sz="2600" b="1" i="0">
                <a:solidFill>
                  <a:srgbClr val="FFFFFF"/>
                </a:solidFill>
                <a:latin typeface="Calibri"/>
              </a:rPr>
              <a:t>Recommandations Prioritaires</a:t>
            </a:r>
          </a:p>
        </p:txBody>
      </p:sp>
      <p:sp>
        <p:nvSpPr>
          <p:cNvPr id="6" name="TextBox 5"/>
          <p:cNvSpPr txBox="1"/>
          <p:nvPr/>
        </p:nvSpPr>
        <p:spPr>
          <a:xfrm>
            <a:off x="548640" y="1097280"/>
            <a:ext cx="11064240" cy="457200"/>
          </a:xfrm>
          <a:prstGeom prst="rect">
            <a:avLst/>
          </a:prstGeom>
          <a:noFill/>
        </p:spPr>
        <p:txBody>
          <a:bodyPr wrap="square">
            <a:spAutoFit/>
          </a:bodyPr>
          <a:lstStyle/>
          <a:p>
            <a:pPr algn="l"/>
            <a:r>
              <a:rPr sz="1300" b="0" i="0">
                <a:solidFill>
                  <a:srgbClr val="6B7C93"/>
                </a:solidFill>
                <a:latin typeface="Calibri"/>
              </a:rPr>
              <a:t>Plan d'action priorisé — chaque levier, son bénéfice attendu et son horizon de mise en œuvre.</a:t>
            </a:r>
          </a:p>
        </p:txBody>
      </p:sp>
      <p:sp>
        <p:nvSpPr>
          <p:cNvPr id="7" name="Rectangle 6"/>
          <p:cNvSpPr/>
          <p:nvPr/>
        </p:nvSpPr>
        <p:spPr>
          <a:xfrm>
            <a:off x="548640" y="1783080"/>
            <a:ext cx="11064240" cy="932688"/>
          </a:xfrm>
          <a:prstGeom prst="rect">
            <a:avLst/>
          </a:prstGeom>
          <a:solidFill>
            <a:srgbClr val="EBF2FB"/>
          </a:solidFill>
          <a:ln w="15875">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2002536"/>
            <a:ext cx="502920" cy="50292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057400"/>
            <a:ext cx="502920" cy="411480"/>
          </a:xfrm>
          <a:prstGeom prst="rect">
            <a:avLst/>
          </a:prstGeom>
          <a:noFill/>
        </p:spPr>
        <p:txBody>
          <a:bodyPr wrap="square">
            <a:spAutoFit/>
          </a:bodyPr>
          <a:lstStyle/>
          <a:p>
            <a:pPr algn="ctr"/>
            <a:r>
              <a:rPr sz="1800" b="1" i="0">
                <a:solidFill>
                  <a:srgbClr val="FFFFFF"/>
                </a:solidFill>
                <a:latin typeface="Calibri"/>
              </a:rPr>
              <a:t>1</a:t>
            </a:r>
          </a:p>
        </p:txBody>
      </p:sp>
      <p:sp>
        <p:nvSpPr>
          <p:cNvPr id="10" name="TextBox 9"/>
          <p:cNvSpPr txBox="1"/>
          <p:nvPr/>
        </p:nvSpPr>
        <p:spPr>
          <a:xfrm>
            <a:off x="1508760" y="1892808"/>
            <a:ext cx="7955279" cy="411480"/>
          </a:xfrm>
          <a:prstGeom prst="rect">
            <a:avLst/>
          </a:prstGeom>
          <a:noFill/>
        </p:spPr>
        <p:txBody>
          <a:bodyPr wrap="square">
            <a:spAutoFit/>
          </a:bodyPr>
          <a:lstStyle/>
          <a:p>
            <a:pPr algn="l"/>
            <a:r>
              <a:rPr sz="1500" b="1" i="0">
                <a:solidFill>
                  <a:srgbClr val="2C3E50"/>
                </a:solidFill>
                <a:latin typeface="Calibri"/>
              </a:rPr>
              <a:t>Augmenter la part d'énergie renouvelable à 50%</a:t>
            </a:r>
          </a:p>
        </p:txBody>
      </p:sp>
      <p:sp>
        <p:nvSpPr>
          <p:cNvPr id="11" name="TextBox 10"/>
          <p:cNvSpPr txBox="1"/>
          <p:nvPr/>
        </p:nvSpPr>
        <p:spPr>
          <a:xfrm>
            <a:off x="1508760" y="2286000"/>
            <a:ext cx="8412480" cy="457200"/>
          </a:xfrm>
          <a:prstGeom prst="rect">
            <a:avLst/>
          </a:prstGeom>
          <a:noFill/>
        </p:spPr>
        <p:txBody>
          <a:bodyPr wrap="square">
            <a:spAutoFit/>
          </a:bodyPr>
          <a:lstStyle/>
          <a:p>
            <a:pPr algn="l"/>
            <a:r>
              <a:rPr sz="1100" b="0" i="0">
                <a:solidFill>
                  <a:srgbClr val="6B7C93"/>
                </a:solidFill>
                <a:latin typeface="Calibri"/>
              </a:rPr>
              <a:t>Réduit les émissions Scope 2 et l'exposition aux prix de l'énergie ; premier levier d'une trajectoire de réduction.  —  Direction des opérations</a:t>
            </a:r>
          </a:p>
        </p:txBody>
      </p:sp>
      <p:sp>
        <p:nvSpPr>
          <p:cNvPr id="12" name="Rounded Rectangle 11"/>
          <p:cNvSpPr/>
          <p:nvPr/>
        </p:nvSpPr>
        <p:spPr>
          <a:xfrm>
            <a:off x="9829800" y="2039112"/>
            <a:ext cx="1554480" cy="420624"/>
          </a:xfrm>
          <a:prstGeom prst="round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29800" y="2103120"/>
            <a:ext cx="1554480" cy="320040"/>
          </a:xfrm>
          <a:prstGeom prst="rect">
            <a:avLst/>
          </a:prstGeom>
          <a:noFill/>
        </p:spPr>
        <p:txBody>
          <a:bodyPr wrap="square">
            <a:spAutoFit/>
          </a:bodyPr>
          <a:lstStyle/>
          <a:p>
            <a:pPr algn="ctr"/>
            <a:r>
              <a:rPr sz="1100" b="1" i="0">
                <a:solidFill>
                  <a:srgbClr val="FFFFFF"/>
                </a:solidFill>
                <a:latin typeface="Calibri"/>
              </a:rPr>
              <a:t>2027</a:t>
            </a:r>
          </a:p>
        </p:txBody>
      </p:sp>
      <p:sp>
        <p:nvSpPr>
          <p:cNvPr id="14" name="Rectangle 13"/>
          <p:cNvSpPr/>
          <p:nvPr/>
        </p:nvSpPr>
        <p:spPr>
          <a:xfrm>
            <a:off x="548640" y="2843784"/>
            <a:ext cx="11064240" cy="932688"/>
          </a:xfrm>
          <a:prstGeom prst="rect">
            <a:avLst/>
          </a:prstGeom>
          <a:solidFill>
            <a:srgbClr val="EBF2FB"/>
          </a:solidFill>
          <a:ln w="15875">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7240" y="3063240"/>
            <a:ext cx="502920" cy="502920"/>
          </a:xfrm>
          <a:prstGeom prst="ellipse">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3118104"/>
            <a:ext cx="502920" cy="411480"/>
          </a:xfrm>
          <a:prstGeom prst="rect">
            <a:avLst/>
          </a:prstGeom>
          <a:noFill/>
        </p:spPr>
        <p:txBody>
          <a:bodyPr wrap="square">
            <a:spAutoFit/>
          </a:bodyPr>
          <a:lstStyle/>
          <a:p>
            <a:pPr algn="ctr"/>
            <a:r>
              <a:rPr sz="1800" b="1" i="0">
                <a:solidFill>
                  <a:srgbClr val="FFFFFF"/>
                </a:solidFill>
                <a:latin typeface="Calibri"/>
              </a:rPr>
              <a:t>2</a:t>
            </a:r>
          </a:p>
        </p:txBody>
      </p:sp>
      <p:sp>
        <p:nvSpPr>
          <p:cNvPr id="17" name="TextBox 16"/>
          <p:cNvSpPr txBox="1"/>
          <p:nvPr/>
        </p:nvSpPr>
        <p:spPr>
          <a:xfrm>
            <a:off x="1508760" y="2953512"/>
            <a:ext cx="7955279" cy="411480"/>
          </a:xfrm>
          <a:prstGeom prst="rect">
            <a:avLst/>
          </a:prstGeom>
          <a:noFill/>
        </p:spPr>
        <p:txBody>
          <a:bodyPr wrap="square">
            <a:spAutoFit/>
          </a:bodyPr>
          <a:lstStyle/>
          <a:p>
            <a:pPr algn="l"/>
            <a:r>
              <a:rPr sz="1500" b="1" i="0">
                <a:solidFill>
                  <a:srgbClr val="2C3E50"/>
                </a:solidFill>
                <a:latin typeface="Calibri"/>
              </a:rPr>
              <a:t>Définir des objectifs chiffrés de parité femme-homme</a:t>
            </a:r>
          </a:p>
        </p:txBody>
      </p:sp>
      <p:sp>
        <p:nvSpPr>
          <p:cNvPr id="18" name="TextBox 17"/>
          <p:cNvSpPr txBox="1"/>
          <p:nvPr/>
        </p:nvSpPr>
        <p:spPr>
          <a:xfrm>
            <a:off x="1508760" y="3346704"/>
            <a:ext cx="8412480" cy="457200"/>
          </a:xfrm>
          <a:prstGeom prst="rect">
            <a:avLst/>
          </a:prstGeom>
          <a:noFill/>
        </p:spPr>
        <p:txBody>
          <a:bodyPr wrap="square">
            <a:spAutoFit/>
          </a:bodyPr>
          <a:lstStyle/>
          <a:p>
            <a:pPr algn="l"/>
            <a:r>
              <a:rPr sz="1100" b="0" i="0">
                <a:solidFill>
                  <a:srgbClr val="6B7C93"/>
                </a:solidFill>
                <a:latin typeface="Calibri"/>
              </a:rPr>
              <a:t>Renforce la diversité des équipes et l'attractivité employeur ; améliore la fidélisation des talents.  —  Direction des ressources humaines</a:t>
            </a:r>
          </a:p>
        </p:txBody>
      </p:sp>
      <p:sp>
        <p:nvSpPr>
          <p:cNvPr id="19" name="Rounded Rectangle 18"/>
          <p:cNvSpPr/>
          <p:nvPr/>
        </p:nvSpPr>
        <p:spPr>
          <a:xfrm>
            <a:off x="9829800" y="3099816"/>
            <a:ext cx="1554480" cy="420624"/>
          </a:xfrm>
          <a:prstGeom prst="round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3163824"/>
            <a:ext cx="1554480" cy="320040"/>
          </a:xfrm>
          <a:prstGeom prst="rect">
            <a:avLst/>
          </a:prstGeom>
          <a:noFill/>
        </p:spPr>
        <p:txBody>
          <a:bodyPr wrap="square">
            <a:spAutoFit/>
          </a:bodyPr>
          <a:lstStyle/>
          <a:p>
            <a:pPr algn="ctr"/>
            <a:r>
              <a:rPr sz="1100" b="1" i="0">
                <a:solidFill>
                  <a:srgbClr val="FFFFFF"/>
                </a:solidFill>
                <a:latin typeface="Calibri"/>
              </a:rPr>
              <a:t>2026</a:t>
            </a:r>
          </a:p>
        </p:txBody>
      </p:sp>
      <p:sp>
        <p:nvSpPr>
          <p:cNvPr id="21" name="Rectangle 20"/>
          <p:cNvSpPr/>
          <p:nvPr/>
        </p:nvSpPr>
        <p:spPr>
          <a:xfrm>
            <a:off x="548640" y="3904488"/>
            <a:ext cx="11064240" cy="932688"/>
          </a:xfrm>
          <a:prstGeom prst="rect">
            <a:avLst/>
          </a:prstGeom>
          <a:solidFill>
            <a:srgbClr val="EBF2FB"/>
          </a:solidFill>
          <a:ln w="15875">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77240" y="4123944"/>
            <a:ext cx="502920" cy="502920"/>
          </a:xfrm>
          <a:prstGeom prst="ellipse">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4178808"/>
            <a:ext cx="502920" cy="411480"/>
          </a:xfrm>
          <a:prstGeom prst="rect">
            <a:avLst/>
          </a:prstGeom>
          <a:noFill/>
        </p:spPr>
        <p:txBody>
          <a:bodyPr wrap="square">
            <a:spAutoFit/>
          </a:bodyPr>
          <a:lstStyle/>
          <a:p>
            <a:pPr algn="ctr"/>
            <a:r>
              <a:rPr sz="1800" b="1" i="0">
                <a:solidFill>
                  <a:srgbClr val="FFFFFF"/>
                </a:solidFill>
                <a:latin typeface="Calibri"/>
              </a:rPr>
              <a:t>3</a:t>
            </a:r>
          </a:p>
        </p:txBody>
      </p:sp>
      <p:sp>
        <p:nvSpPr>
          <p:cNvPr id="24" name="TextBox 23"/>
          <p:cNvSpPr txBox="1"/>
          <p:nvPr/>
        </p:nvSpPr>
        <p:spPr>
          <a:xfrm>
            <a:off x="1508760" y="4014216"/>
            <a:ext cx="7955279" cy="411480"/>
          </a:xfrm>
          <a:prstGeom prst="rect">
            <a:avLst/>
          </a:prstGeom>
          <a:noFill/>
        </p:spPr>
        <p:txBody>
          <a:bodyPr wrap="square">
            <a:spAutoFit/>
          </a:bodyPr>
          <a:lstStyle/>
          <a:p>
            <a:pPr algn="l"/>
            <a:r>
              <a:rPr sz="1500" b="1" i="0">
                <a:solidFill>
                  <a:srgbClr val="2C3E50"/>
                </a:solidFill>
                <a:latin typeface="Calibri"/>
              </a:rPr>
              <a:t>Commander un audit ESG indépendant annuel</a:t>
            </a:r>
          </a:p>
        </p:txBody>
      </p:sp>
      <p:sp>
        <p:nvSpPr>
          <p:cNvPr id="25" name="TextBox 24"/>
          <p:cNvSpPr txBox="1"/>
          <p:nvPr/>
        </p:nvSpPr>
        <p:spPr>
          <a:xfrm>
            <a:off x="1508760" y="4407408"/>
            <a:ext cx="8412480" cy="457200"/>
          </a:xfrm>
          <a:prstGeom prst="rect">
            <a:avLst/>
          </a:prstGeom>
          <a:noFill/>
        </p:spPr>
        <p:txBody>
          <a:bodyPr wrap="square">
            <a:spAutoFit/>
          </a:bodyPr>
          <a:lstStyle/>
          <a:p>
            <a:pPr algn="l"/>
            <a:r>
              <a:rPr sz="1100" b="0" i="0">
                <a:solidFill>
                  <a:srgbClr val="6B7C93"/>
                </a:solidFill>
                <a:latin typeface="Calibri"/>
              </a:rPr>
              <a:t>Apporte l'assurance d'un tiers désormais requise par la CSRD ; renforce la confiance des investisseurs.  —  Direction générale</a:t>
            </a:r>
          </a:p>
        </p:txBody>
      </p:sp>
      <p:sp>
        <p:nvSpPr>
          <p:cNvPr id="26" name="Rounded Rectangle 25"/>
          <p:cNvSpPr/>
          <p:nvPr/>
        </p:nvSpPr>
        <p:spPr>
          <a:xfrm>
            <a:off x="9829800" y="4160520"/>
            <a:ext cx="1554480" cy="420624"/>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829800" y="4224528"/>
            <a:ext cx="1554480" cy="320040"/>
          </a:xfrm>
          <a:prstGeom prst="rect">
            <a:avLst/>
          </a:prstGeom>
          <a:noFill/>
        </p:spPr>
        <p:txBody>
          <a:bodyPr wrap="square">
            <a:spAutoFit/>
          </a:bodyPr>
          <a:lstStyle/>
          <a:p>
            <a:pPr algn="ctr"/>
            <a:r>
              <a:rPr sz="1100" b="1" i="0">
                <a:solidFill>
                  <a:srgbClr val="FFFFFF"/>
                </a:solidFill>
                <a:latin typeface="Calibri"/>
              </a:rPr>
              <a:t>Annuel</a:t>
            </a:r>
          </a:p>
        </p:txBody>
      </p:sp>
      <p:sp>
        <p:nvSpPr>
          <p:cNvPr id="28" name="Rectangle 27"/>
          <p:cNvSpPr/>
          <p:nvPr/>
        </p:nvSpPr>
        <p:spPr>
          <a:xfrm>
            <a:off x="548640" y="4965192"/>
            <a:ext cx="11064240" cy="932688"/>
          </a:xfrm>
          <a:prstGeom prst="rect">
            <a:avLst/>
          </a:prstGeom>
          <a:solidFill>
            <a:srgbClr val="EBF2FB"/>
          </a:solidFill>
          <a:ln w="15875">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77240" y="5184648"/>
            <a:ext cx="502920" cy="502920"/>
          </a:xfrm>
          <a:prstGeom prst="ellipse">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239512"/>
            <a:ext cx="502920" cy="411480"/>
          </a:xfrm>
          <a:prstGeom prst="rect">
            <a:avLst/>
          </a:prstGeom>
          <a:noFill/>
        </p:spPr>
        <p:txBody>
          <a:bodyPr wrap="square">
            <a:spAutoFit/>
          </a:bodyPr>
          <a:lstStyle/>
          <a:p>
            <a:pPr algn="ctr"/>
            <a:r>
              <a:rPr sz="1800" b="1" i="0">
                <a:solidFill>
                  <a:srgbClr val="FFFFFF"/>
                </a:solidFill>
                <a:latin typeface="Calibri"/>
              </a:rPr>
              <a:t>4</a:t>
            </a:r>
          </a:p>
        </p:txBody>
      </p:sp>
      <p:sp>
        <p:nvSpPr>
          <p:cNvPr id="31" name="TextBox 30"/>
          <p:cNvSpPr txBox="1"/>
          <p:nvPr/>
        </p:nvSpPr>
        <p:spPr>
          <a:xfrm>
            <a:off x="1508760" y="5074920"/>
            <a:ext cx="7955279" cy="411480"/>
          </a:xfrm>
          <a:prstGeom prst="rect">
            <a:avLst/>
          </a:prstGeom>
          <a:noFill/>
        </p:spPr>
        <p:txBody>
          <a:bodyPr wrap="square">
            <a:spAutoFit/>
          </a:bodyPr>
          <a:lstStyle/>
          <a:p>
            <a:pPr algn="l"/>
            <a:r>
              <a:rPr sz="1500" b="1" i="0">
                <a:solidFill>
                  <a:srgbClr val="2C3E50"/>
                </a:solidFill>
                <a:latin typeface="Calibri"/>
              </a:rPr>
              <a:t>Aligner la stratégie ESG sur les ODD &amp; la TCFD</a:t>
            </a:r>
          </a:p>
        </p:txBody>
      </p:sp>
      <p:sp>
        <p:nvSpPr>
          <p:cNvPr id="32" name="TextBox 31"/>
          <p:cNvSpPr txBox="1"/>
          <p:nvPr/>
        </p:nvSpPr>
        <p:spPr>
          <a:xfrm>
            <a:off x="1508760" y="5468112"/>
            <a:ext cx="8412480" cy="457200"/>
          </a:xfrm>
          <a:prstGeom prst="rect">
            <a:avLst/>
          </a:prstGeom>
          <a:noFill/>
        </p:spPr>
        <p:txBody>
          <a:bodyPr wrap="square">
            <a:spAutoFit/>
          </a:bodyPr>
          <a:lstStyle/>
          <a:p>
            <a:pPr algn="l"/>
            <a:r>
              <a:rPr sz="1100" b="0" i="0">
                <a:solidFill>
                  <a:srgbClr val="6B7C93"/>
                </a:solidFill>
                <a:latin typeface="Calibri"/>
              </a:rPr>
              <a:t>Renforce l'alignement sur les cadres de référence (ODD, TCFD) et la comparabilité du reporting.  —  Direction RSE</a:t>
            </a:r>
          </a:p>
        </p:txBody>
      </p:sp>
      <p:sp>
        <p:nvSpPr>
          <p:cNvPr id="33" name="Rounded Rectangle 32"/>
          <p:cNvSpPr/>
          <p:nvPr/>
        </p:nvSpPr>
        <p:spPr>
          <a:xfrm>
            <a:off x="9829800" y="5221224"/>
            <a:ext cx="1554480" cy="420624"/>
          </a:xfrm>
          <a:prstGeom prst="round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29800" y="5285232"/>
            <a:ext cx="1554480" cy="320040"/>
          </a:xfrm>
          <a:prstGeom prst="rect">
            <a:avLst/>
          </a:prstGeom>
          <a:noFill/>
        </p:spPr>
        <p:txBody>
          <a:bodyPr wrap="square">
            <a:spAutoFit/>
          </a:bodyPr>
          <a:lstStyle/>
          <a:p>
            <a:pPr algn="ctr"/>
            <a:r>
              <a:rPr sz="1100" b="1" i="0">
                <a:solidFill>
                  <a:srgbClr val="FFFFFF"/>
                </a:solidFill>
                <a:latin typeface="Calibri"/>
              </a:rPr>
              <a:t>Continu</a:t>
            </a:r>
          </a:p>
        </p:txBody>
      </p:sp>
      <p:sp>
        <p:nvSpPr>
          <p:cNvPr id="35" name="TextBox 34"/>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7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143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64008" cy="5715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2608" y="128016"/>
            <a:ext cx="10972800" cy="292608"/>
          </a:xfrm>
          <a:prstGeom prst="rect">
            <a:avLst/>
          </a:prstGeom>
          <a:noFill/>
        </p:spPr>
        <p:txBody>
          <a:bodyPr wrap="square">
            <a:spAutoFit/>
          </a:bodyPr>
          <a:lstStyle/>
          <a:p>
            <a:pPr algn="l"/>
            <a:r>
              <a:rPr sz="1100" b="1" i="0">
                <a:solidFill>
                  <a:srgbClr val="F39C12"/>
                </a:solidFill>
                <a:latin typeface="Calibri"/>
              </a:rPr>
              <a:t>FEUILLE DE ROUTE 12 MOIS</a:t>
            </a:r>
          </a:p>
        </p:txBody>
      </p:sp>
      <p:sp>
        <p:nvSpPr>
          <p:cNvPr id="6" name="TextBox 5"/>
          <p:cNvSpPr txBox="1"/>
          <p:nvPr/>
        </p:nvSpPr>
        <p:spPr>
          <a:xfrm>
            <a:off x="274320" y="384048"/>
            <a:ext cx="11612880" cy="713232"/>
          </a:xfrm>
          <a:prstGeom prst="rect">
            <a:avLst/>
          </a:prstGeom>
          <a:noFill/>
        </p:spPr>
        <p:txBody>
          <a:bodyPr wrap="square">
            <a:spAutoFit/>
          </a:bodyPr>
          <a:lstStyle/>
          <a:p>
            <a:pPr algn="l"/>
            <a:r>
              <a:rPr sz="2340" b="1" i="0">
                <a:solidFill>
                  <a:srgbClr val="FFFFFF"/>
                </a:solidFill>
                <a:latin typeface="Calibri"/>
              </a:rPr>
              <a:t>Un plan d'action ESG sur 12 mois</a:t>
            </a:r>
          </a:p>
        </p:txBody>
      </p:sp>
      <p:sp>
        <p:nvSpPr>
          <p:cNvPr id="7" name="Rounded Rectangle 6"/>
          <p:cNvSpPr/>
          <p:nvPr/>
        </p:nvSpPr>
        <p:spPr>
          <a:xfrm>
            <a:off x="320040" y="1371600"/>
            <a:ext cx="3703320" cy="822960"/>
          </a:xfrm>
          <a:prstGeom prst="round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63040"/>
            <a:ext cx="3246120" cy="411480"/>
          </a:xfrm>
          <a:prstGeom prst="rect">
            <a:avLst/>
          </a:prstGeom>
          <a:noFill/>
        </p:spPr>
        <p:txBody>
          <a:bodyPr wrap="square">
            <a:spAutoFit/>
          </a:bodyPr>
          <a:lstStyle/>
          <a:p>
            <a:pPr algn="l"/>
            <a:r>
              <a:rPr sz="1900" b="1" i="0">
                <a:solidFill>
                  <a:srgbClr val="F39C12"/>
                </a:solidFill>
                <a:latin typeface="Calibri"/>
              </a:rPr>
              <a:t>0-3 mois</a:t>
            </a:r>
          </a:p>
        </p:txBody>
      </p:sp>
      <p:sp>
        <p:nvSpPr>
          <p:cNvPr id="9" name="TextBox 8"/>
          <p:cNvSpPr txBox="1"/>
          <p:nvPr/>
        </p:nvSpPr>
        <p:spPr>
          <a:xfrm>
            <a:off x="548640" y="1874519"/>
            <a:ext cx="3246120" cy="320040"/>
          </a:xfrm>
          <a:prstGeom prst="rect">
            <a:avLst/>
          </a:prstGeom>
          <a:noFill/>
        </p:spPr>
        <p:txBody>
          <a:bodyPr wrap="square">
            <a:spAutoFit/>
          </a:bodyPr>
          <a:lstStyle/>
          <a:p>
            <a:pPr algn="l"/>
            <a:r>
              <a:rPr sz="1100" b="0" i="0">
                <a:solidFill>
                  <a:srgbClr val="AEC6E8"/>
                </a:solidFill>
                <a:latin typeface="Calibri"/>
              </a:rPr>
              <a:t>Quick wins &amp; fondations</a:t>
            </a:r>
          </a:p>
        </p:txBody>
      </p:sp>
      <p:sp>
        <p:nvSpPr>
          <p:cNvPr id="10" name="Rounded Rectangle 9"/>
          <p:cNvSpPr/>
          <p:nvPr/>
        </p:nvSpPr>
        <p:spPr>
          <a:xfrm>
            <a:off x="320040" y="2377440"/>
            <a:ext cx="3703320" cy="822960"/>
          </a:xfrm>
          <a:prstGeom prst="roundRect">
            <a:avLst/>
          </a:prstGeom>
          <a:solidFill>
            <a:srgbClr val="EBF2FB"/>
          </a:solidFill>
          <a:ln w="127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 y="2487168"/>
            <a:ext cx="64008" cy="60350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76072" y="2487168"/>
            <a:ext cx="3291840" cy="548640"/>
          </a:xfrm>
          <a:prstGeom prst="rect">
            <a:avLst/>
          </a:prstGeom>
          <a:noFill/>
        </p:spPr>
        <p:txBody>
          <a:bodyPr wrap="square">
            <a:spAutoFit/>
          </a:bodyPr>
          <a:lstStyle/>
          <a:p>
            <a:pPr algn="l"/>
            <a:r>
              <a:rPr sz="1200" b="1" i="0">
                <a:solidFill>
                  <a:srgbClr val="2C3E50"/>
                </a:solidFill>
                <a:latin typeface="Calibri"/>
              </a:rPr>
              <a:t>Commander un audit ESG indépendant annuel</a:t>
            </a:r>
          </a:p>
        </p:txBody>
      </p:sp>
      <p:sp>
        <p:nvSpPr>
          <p:cNvPr id="13" name="Rounded Rectangle 12"/>
          <p:cNvSpPr/>
          <p:nvPr/>
        </p:nvSpPr>
        <p:spPr>
          <a:xfrm>
            <a:off x="2862072" y="2907792"/>
            <a:ext cx="1051560" cy="237744"/>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62072" y="2926080"/>
            <a:ext cx="1051560" cy="201168"/>
          </a:xfrm>
          <a:prstGeom prst="rect">
            <a:avLst/>
          </a:prstGeom>
          <a:noFill/>
        </p:spPr>
        <p:txBody>
          <a:bodyPr wrap="square">
            <a:spAutoFit/>
          </a:bodyPr>
          <a:lstStyle/>
          <a:p>
            <a:pPr algn="ctr"/>
            <a:r>
              <a:rPr sz="850" b="1" i="0">
                <a:solidFill>
                  <a:srgbClr val="1B3A6B"/>
                </a:solidFill>
                <a:latin typeface="Calibri"/>
              </a:rPr>
              <a:t>QUICK WIN</a:t>
            </a:r>
          </a:p>
        </p:txBody>
      </p:sp>
      <p:sp>
        <p:nvSpPr>
          <p:cNvPr id="15" name="Rounded Rectangle 14"/>
          <p:cNvSpPr/>
          <p:nvPr/>
        </p:nvSpPr>
        <p:spPr>
          <a:xfrm>
            <a:off x="4279392" y="1371600"/>
            <a:ext cx="3703320" cy="822960"/>
          </a:xfrm>
          <a:prstGeom prst="round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07992" y="1463040"/>
            <a:ext cx="3246120" cy="411480"/>
          </a:xfrm>
          <a:prstGeom prst="rect">
            <a:avLst/>
          </a:prstGeom>
          <a:noFill/>
        </p:spPr>
        <p:txBody>
          <a:bodyPr wrap="square">
            <a:spAutoFit/>
          </a:bodyPr>
          <a:lstStyle/>
          <a:p>
            <a:pPr algn="l"/>
            <a:r>
              <a:rPr sz="1900" b="1" i="0">
                <a:solidFill>
                  <a:srgbClr val="F39C12"/>
                </a:solidFill>
                <a:latin typeface="Calibri"/>
              </a:rPr>
              <a:t>3-6 mois</a:t>
            </a:r>
          </a:p>
        </p:txBody>
      </p:sp>
      <p:sp>
        <p:nvSpPr>
          <p:cNvPr id="17" name="TextBox 16"/>
          <p:cNvSpPr txBox="1"/>
          <p:nvPr/>
        </p:nvSpPr>
        <p:spPr>
          <a:xfrm>
            <a:off x="4507992" y="1874519"/>
            <a:ext cx="3246120" cy="320040"/>
          </a:xfrm>
          <a:prstGeom prst="rect">
            <a:avLst/>
          </a:prstGeom>
          <a:noFill/>
        </p:spPr>
        <p:txBody>
          <a:bodyPr wrap="square">
            <a:spAutoFit/>
          </a:bodyPr>
          <a:lstStyle/>
          <a:p>
            <a:pPr algn="l"/>
            <a:r>
              <a:rPr sz="1100" b="0" i="0">
                <a:solidFill>
                  <a:srgbClr val="AEC6E8"/>
                </a:solidFill>
                <a:latin typeface="Calibri"/>
              </a:rPr>
              <a:t>Structuration</a:t>
            </a:r>
          </a:p>
        </p:txBody>
      </p:sp>
      <p:sp>
        <p:nvSpPr>
          <p:cNvPr id="18" name="Rounded Rectangle 17"/>
          <p:cNvSpPr/>
          <p:nvPr/>
        </p:nvSpPr>
        <p:spPr>
          <a:xfrm>
            <a:off x="4279392" y="2377440"/>
            <a:ext cx="3703320" cy="822960"/>
          </a:xfrm>
          <a:prstGeom prst="roundRect">
            <a:avLst/>
          </a:prstGeom>
          <a:solidFill>
            <a:srgbClr val="EBF2FB"/>
          </a:solidFill>
          <a:ln w="12700">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79392" y="2487168"/>
            <a:ext cx="64008" cy="603504"/>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35424" y="2487168"/>
            <a:ext cx="3291840" cy="548640"/>
          </a:xfrm>
          <a:prstGeom prst="rect">
            <a:avLst/>
          </a:prstGeom>
          <a:noFill/>
        </p:spPr>
        <p:txBody>
          <a:bodyPr wrap="square">
            <a:spAutoFit/>
          </a:bodyPr>
          <a:lstStyle/>
          <a:p>
            <a:pPr algn="l"/>
            <a:r>
              <a:rPr sz="1200" b="1" i="0">
                <a:solidFill>
                  <a:srgbClr val="2C3E50"/>
                </a:solidFill>
                <a:latin typeface="Calibri"/>
              </a:rPr>
              <a:t>Définir des objectifs chiffrés de parité femme-homme</a:t>
            </a:r>
          </a:p>
        </p:txBody>
      </p:sp>
      <p:sp>
        <p:nvSpPr>
          <p:cNvPr id="21" name="Rounded Rectangle 20"/>
          <p:cNvSpPr/>
          <p:nvPr/>
        </p:nvSpPr>
        <p:spPr>
          <a:xfrm>
            <a:off x="6821424" y="2907792"/>
            <a:ext cx="1051560" cy="237744"/>
          </a:xfrm>
          <a:prstGeom prst="round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21424" y="2926080"/>
            <a:ext cx="1051560" cy="201168"/>
          </a:xfrm>
          <a:prstGeom prst="rect">
            <a:avLst/>
          </a:prstGeom>
          <a:noFill/>
        </p:spPr>
        <p:txBody>
          <a:bodyPr wrap="square">
            <a:spAutoFit/>
          </a:bodyPr>
          <a:lstStyle/>
          <a:p>
            <a:pPr algn="ctr"/>
            <a:r>
              <a:rPr sz="850" b="1" i="0">
                <a:solidFill>
                  <a:srgbClr val="1B3A6B"/>
                </a:solidFill>
                <a:latin typeface="Calibri"/>
              </a:rPr>
              <a:t>QUICK WIN</a:t>
            </a:r>
          </a:p>
        </p:txBody>
      </p:sp>
      <p:sp>
        <p:nvSpPr>
          <p:cNvPr id="23" name="Rounded Rectangle 22"/>
          <p:cNvSpPr/>
          <p:nvPr/>
        </p:nvSpPr>
        <p:spPr>
          <a:xfrm>
            <a:off x="4279392" y="3310128"/>
            <a:ext cx="3703320" cy="822960"/>
          </a:xfrm>
          <a:prstGeom prst="roundRect">
            <a:avLst/>
          </a:prstGeom>
          <a:solidFill>
            <a:srgbClr val="EBF2FB"/>
          </a:solidFill>
          <a:ln w="127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79392" y="3419856"/>
            <a:ext cx="64008" cy="60350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35424" y="3419856"/>
            <a:ext cx="3291840" cy="548640"/>
          </a:xfrm>
          <a:prstGeom prst="rect">
            <a:avLst/>
          </a:prstGeom>
          <a:noFill/>
        </p:spPr>
        <p:txBody>
          <a:bodyPr wrap="square">
            <a:spAutoFit/>
          </a:bodyPr>
          <a:lstStyle/>
          <a:p>
            <a:pPr algn="l"/>
            <a:r>
              <a:rPr sz="1200" b="1" i="0">
                <a:solidFill>
                  <a:srgbClr val="2C3E50"/>
                </a:solidFill>
                <a:latin typeface="Calibri"/>
              </a:rPr>
              <a:t>Aligner la stratégie ESG sur les ODD &amp; la TCFD</a:t>
            </a:r>
          </a:p>
        </p:txBody>
      </p:sp>
      <p:sp>
        <p:nvSpPr>
          <p:cNvPr id="26" name="Rounded Rectangle 25"/>
          <p:cNvSpPr/>
          <p:nvPr/>
        </p:nvSpPr>
        <p:spPr>
          <a:xfrm>
            <a:off x="8238744" y="1371600"/>
            <a:ext cx="3703320" cy="822960"/>
          </a:xfrm>
          <a:prstGeom prst="round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67344" y="1463040"/>
            <a:ext cx="3246120" cy="411480"/>
          </a:xfrm>
          <a:prstGeom prst="rect">
            <a:avLst/>
          </a:prstGeom>
          <a:noFill/>
        </p:spPr>
        <p:txBody>
          <a:bodyPr wrap="square">
            <a:spAutoFit/>
          </a:bodyPr>
          <a:lstStyle/>
          <a:p>
            <a:pPr algn="l"/>
            <a:r>
              <a:rPr sz="1900" b="1" i="0">
                <a:solidFill>
                  <a:srgbClr val="F39C12"/>
                </a:solidFill>
                <a:latin typeface="Calibri"/>
              </a:rPr>
              <a:t>6-12 mois</a:t>
            </a:r>
          </a:p>
        </p:txBody>
      </p:sp>
      <p:sp>
        <p:nvSpPr>
          <p:cNvPr id="28" name="TextBox 27"/>
          <p:cNvSpPr txBox="1"/>
          <p:nvPr/>
        </p:nvSpPr>
        <p:spPr>
          <a:xfrm>
            <a:off x="8467344" y="1874519"/>
            <a:ext cx="3246120" cy="320040"/>
          </a:xfrm>
          <a:prstGeom prst="rect">
            <a:avLst/>
          </a:prstGeom>
          <a:noFill/>
        </p:spPr>
        <p:txBody>
          <a:bodyPr wrap="square">
            <a:spAutoFit/>
          </a:bodyPr>
          <a:lstStyle/>
          <a:p>
            <a:pPr algn="l"/>
            <a:r>
              <a:rPr sz="1100" b="0" i="0">
                <a:solidFill>
                  <a:srgbClr val="AEC6E8"/>
                </a:solidFill>
                <a:latin typeface="Calibri"/>
              </a:rPr>
              <a:t>Deploiement</a:t>
            </a:r>
          </a:p>
        </p:txBody>
      </p:sp>
      <p:sp>
        <p:nvSpPr>
          <p:cNvPr id="29" name="Rounded Rectangle 28"/>
          <p:cNvSpPr/>
          <p:nvPr/>
        </p:nvSpPr>
        <p:spPr>
          <a:xfrm>
            <a:off x="8238744" y="2377440"/>
            <a:ext cx="3703320" cy="822960"/>
          </a:xfrm>
          <a:prstGeom prst="roundRect">
            <a:avLst/>
          </a:prstGeom>
          <a:solidFill>
            <a:srgbClr val="EBF2FB"/>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38744" y="2487168"/>
            <a:ext cx="64008" cy="603504"/>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94776" y="2487168"/>
            <a:ext cx="3291840" cy="548640"/>
          </a:xfrm>
          <a:prstGeom prst="rect">
            <a:avLst/>
          </a:prstGeom>
          <a:noFill/>
        </p:spPr>
        <p:txBody>
          <a:bodyPr wrap="square">
            <a:spAutoFit/>
          </a:bodyPr>
          <a:lstStyle/>
          <a:p>
            <a:pPr algn="l"/>
            <a:r>
              <a:rPr sz="1200" b="1" i="0">
                <a:solidFill>
                  <a:srgbClr val="2C3E50"/>
                </a:solidFill>
                <a:latin typeface="Calibri"/>
              </a:rPr>
              <a:t>Augmenter la part d'énergie renouvelable à 50%</a:t>
            </a:r>
          </a:p>
        </p:txBody>
      </p:sp>
      <p:sp>
        <p:nvSpPr>
          <p:cNvPr id="32" name="TextBox 31"/>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640080"/>
            <a:ext cx="10515600" cy="822960"/>
          </a:xfrm>
          <a:prstGeom prst="rect">
            <a:avLst/>
          </a:prstGeom>
          <a:noFill/>
        </p:spPr>
        <p:txBody>
          <a:bodyPr wrap="square">
            <a:spAutoFit/>
          </a:bodyPr>
          <a:lstStyle/>
          <a:p>
            <a:pPr algn="l"/>
            <a:r>
              <a:rPr sz="3000" b="1" i="0">
                <a:solidFill>
                  <a:srgbClr val="FFFFFF"/>
                </a:solidFill>
                <a:latin typeface="Calibri"/>
              </a:rPr>
              <a:t>Conclusion &amp; Engagements</a:t>
            </a:r>
          </a:p>
        </p:txBody>
      </p:sp>
      <p:sp>
        <p:nvSpPr>
          <p:cNvPr id="5" name="Rectangle 4"/>
          <p:cNvSpPr/>
          <p:nvPr/>
        </p:nvSpPr>
        <p:spPr>
          <a:xfrm>
            <a:off x="621792" y="1481328"/>
            <a:ext cx="1645920" cy="54864"/>
          </a:xfrm>
          <a:prstGeom prst="rect">
            <a:avLst/>
          </a:prstGeom>
          <a:solidFill>
            <a:srgbClr val="F39C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783080"/>
            <a:ext cx="10972800" cy="1188720"/>
          </a:xfrm>
          <a:prstGeom prst="rect">
            <a:avLst/>
          </a:prstGeom>
          <a:noFill/>
        </p:spPr>
        <p:txBody>
          <a:bodyPr wrap="square">
            <a:spAutoFit/>
          </a:bodyPr>
          <a:lstStyle/>
          <a:p>
            <a:pPr algn="l"/>
            <a:r>
              <a:rPr sz="2000" b="1" i="0">
                <a:solidFill>
                  <a:srgbClr val="FFFFFF"/>
                </a:solidFill>
                <a:latin typeface="Calibri"/>
              </a:rPr>
              <a:t>Acme Industries affiche un profil ESG solide (66/100, A), porté par la gouvernance (75/100) ; le social (55/100) concentre le potentiel de progression.</a:t>
            </a:r>
          </a:p>
        </p:txBody>
      </p:sp>
      <p:sp>
        <p:nvSpPr>
          <p:cNvPr id="7" name="TextBox 6"/>
          <p:cNvSpPr txBox="1"/>
          <p:nvPr/>
        </p:nvSpPr>
        <p:spPr>
          <a:xfrm>
            <a:off x="594360" y="3246120"/>
            <a:ext cx="7315200" cy="365760"/>
          </a:xfrm>
          <a:prstGeom prst="rect">
            <a:avLst/>
          </a:prstGeom>
          <a:noFill/>
        </p:spPr>
        <p:txBody>
          <a:bodyPr wrap="square">
            <a:spAutoFit/>
          </a:bodyPr>
          <a:lstStyle/>
          <a:p>
            <a:pPr algn="l"/>
            <a:r>
              <a:rPr sz="1300" b="1" i="0">
                <a:solidFill>
                  <a:srgbClr val="F39C12"/>
                </a:solidFill>
                <a:latin typeface="Calibri"/>
              </a:rPr>
              <a:t>NOS ENGAGEMENTS PRIORITAIRES</a:t>
            </a:r>
          </a:p>
        </p:txBody>
      </p:sp>
      <p:sp>
        <p:nvSpPr>
          <p:cNvPr id="8" name="TextBox 7"/>
          <p:cNvSpPr txBox="1"/>
          <p:nvPr/>
        </p:nvSpPr>
        <p:spPr>
          <a:xfrm>
            <a:off x="594360" y="3794760"/>
            <a:ext cx="822960" cy="640080"/>
          </a:xfrm>
          <a:prstGeom prst="rect">
            <a:avLst/>
          </a:prstGeom>
          <a:noFill/>
        </p:spPr>
        <p:txBody>
          <a:bodyPr wrap="square">
            <a:spAutoFit/>
          </a:bodyPr>
          <a:lstStyle/>
          <a:p>
            <a:pPr algn="l"/>
            <a:r>
              <a:rPr sz="3000" b="1" i="0">
                <a:solidFill>
                  <a:srgbClr val="F39C12"/>
                </a:solidFill>
                <a:latin typeface="Calibri"/>
              </a:rPr>
              <a:t>01</a:t>
            </a:r>
          </a:p>
        </p:txBody>
      </p:sp>
      <p:sp>
        <p:nvSpPr>
          <p:cNvPr id="9" name="TextBox 8"/>
          <p:cNvSpPr txBox="1"/>
          <p:nvPr/>
        </p:nvSpPr>
        <p:spPr>
          <a:xfrm>
            <a:off x="1554480" y="3840480"/>
            <a:ext cx="8229600" cy="457200"/>
          </a:xfrm>
          <a:prstGeom prst="rect">
            <a:avLst/>
          </a:prstGeom>
          <a:noFill/>
        </p:spPr>
        <p:txBody>
          <a:bodyPr wrap="square">
            <a:spAutoFit/>
          </a:bodyPr>
          <a:lstStyle/>
          <a:p>
            <a:pPr algn="l"/>
            <a:r>
              <a:rPr sz="1600" b="1" i="0">
                <a:solidFill>
                  <a:srgbClr val="FFFFFF"/>
                </a:solidFill>
                <a:latin typeface="Calibri"/>
              </a:rPr>
              <a:t>Augmenter la part d'énergie renouvelable à 50%</a:t>
            </a:r>
          </a:p>
        </p:txBody>
      </p:sp>
      <p:sp>
        <p:nvSpPr>
          <p:cNvPr id="10" name="TextBox 9"/>
          <p:cNvSpPr txBox="1"/>
          <p:nvPr/>
        </p:nvSpPr>
        <p:spPr>
          <a:xfrm>
            <a:off x="9966960" y="3867912"/>
            <a:ext cx="1737360" cy="365760"/>
          </a:xfrm>
          <a:prstGeom prst="rect">
            <a:avLst/>
          </a:prstGeom>
          <a:noFill/>
        </p:spPr>
        <p:txBody>
          <a:bodyPr wrap="square">
            <a:spAutoFit/>
          </a:bodyPr>
          <a:lstStyle/>
          <a:p>
            <a:pPr algn="r"/>
            <a:r>
              <a:rPr sz="1300" b="1" i="0">
                <a:solidFill>
                  <a:srgbClr val="AEC6E8"/>
                </a:solidFill>
                <a:latin typeface="Calibri"/>
              </a:rPr>
              <a:t>2027</a:t>
            </a:r>
          </a:p>
        </p:txBody>
      </p:sp>
      <p:sp>
        <p:nvSpPr>
          <p:cNvPr id="11" name="Rectangle 10"/>
          <p:cNvSpPr/>
          <p:nvPr/>
        </p:nvSpPr>
        <p:spPr>
          <a:xfrm>
            <a:off x="1554480" y="4453128"/>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4581144"/>
            <a:ext cx="822960" cy="640080"/>
          </a:xfrm>
          <a:prstGeom prst="rect">
            <a:avLst/>
          </a:prstGeom>
          <a:noFill/>
        </p:spPr>
        <p:txBody>
          <a:bodyPr wrap="square">
            <a:spAutoFit/>
          </a:bodyPr>
          <a:lstStyle/>
          <a:p>
            <a:pPr algn="l"/>
            <a:r>
              <a:rPr sz="3000" b="1" i="0">
                <a:solidFill>
                  <a:srgbClr val="F39C12"/>
                </a:solidFill>
                <a:latin typeface="Calibri"/>
              </a:rPr>
              <a:t>02</a:t>
            </a:r>
          </a:p>
        </p:txBody>
      </p:sp>
      <p:sp>
        <p:nvSpPr>
          <p:cNvPr id="13" name="TextBox 12"/>
          <p:cNvSpPr txBox="1"/>
          <p:nvPr/>
        </p:nvSpPr>
        <p:spPr>
          <a:xfrm>
            <a:off x="1554480" y="4626864"/>
            <a:ext cx="8229600" cy="457200"/>
          </a:xfrm>
          <a:prstGeom prst="rect">
            <a:avLst/>
          </a:prstGeom>
          <a:noFill/>
        </p:spPr>
        <p:txBody>
          <a:bodyPr wrap="square">
            <a:spAutoFit/>
          </a:bodyPr>
          <a:lstStyle/>
          <a:p>
            <a:pPr algn="l"/>
            <a:r>
              <a:rPr sz="1600" b="1" i="0">
                <a:solidFill>
                  <a:srgbClr val="FFFFFF"/>
                </a:solidFill>
                <a:latin typeface="Calibri"/>
              </a:rPr>
              <a:t>Définir des objectifs chiffrés de parité femme-homme</a:t>
            </a:r>
          </a:p>
        </p:txBody>
      </p:sp>
      <p:sp>
        <p:nvSpPr>
          <p:cNvPr id="14" name="TextBox 13"/>
          <p:cNvSpPr txBox="1"/>
          <p:nvPr/>
        </p:nvSpPr>
        <p:spPr>
          <a:xfrm>
            <a:off x="9966960" y="4654296"/>
            <a:ext cx="1737360" cy="365760"/>
          </a:xfrm>
          <a:prstGeom prst="rect">
            <a:avLst/>
          </a:prstGeom>
          <a:noFill/>
        </p:spPr>
        <p:txBody>
          <a:bodyPr wrap="square">
            <a:spAutoFit/>
          </a:bodyPr>
          <a:lstStyle/>
          <a:p>
            <a:pPr algn="r"/>
            <a:r>
              <a:rPr sz="1300" b="1" i="0">
                <a:solidFill>
                  <a:srgbClr val="AEC6E8"/>
                </a:solidFill>
                <a:latin typeface="Calibri"/>
              </a:rPr>
              <a:t>2026</a:t>
            </a:r>
          </a:p>
        </p:txBody>
      </p:sp>
      <p:sp>
        <p:nvSpPr>
          <p:cNvPr id="15" name="Rectangle 14"/>
          <p:cNvSpPr/>
          <p:nvPr/>
        </p:nvSpPr>
        <p:spPr>
          <a:xfrm>
            <a:off x="1554480" y="5239512"/>
            <a:ext cx="10149840" cy="10972"/>
          </a:xfrm>
          <a:prstGeom prst="rect">
            <a:avLst/>
          </a:prstGeom>
          <a:solidFill>
            <a:srgbClr val="555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5367528"/>
            <a:ext cx="822960" cy="640080"/>
          </a:xfrm>
          <a:prstGeom prst="rect">
            <a:avLst/>
          </a:prstGeom>
          <a:noFill/>
        </p:spPr>
        <p:txBody>
          <a:bodyPr wrap="square">
            <a:spAutoFit/>
          </a:bodyPr>
          <a:lstStyle/>
          <a:p>
            <a:pPr algn="l"/>
            <a:r>
              <a:rPr sz="3000" b="1" i="0">
                <a:solidFill>
                  <a:srgbClr val="F39C12"/>
                </a:solidFill>
                <a:latin typeface="Calibri"/>
              </a:rPr>
              <a:t>03</a:t>
            </a:r>
          </a:p>
        </p:txBody>
      </p:sp>
      <p:sp>
        <p:nvSpPr>
          <p:cNvPr id="17" name="TextBox 16"/>
          <p:cNvSpPr txBox="1"/>
          <p:nvPr/>
        </p:nvSpPr>
        <p:spPr>
          <a:xfrm>
            <a:off x="1554480" y="5413248"/>
            <a:ext cx="8229600" cy="457200"/>
          </a:xfrm>
          <a:prstGeom prst="rect">
            <a:avLst/>
          </a:prstGeom>
          <a:noFill/>
        </p:spPr>
        <p:txBody>
          <a:bodyPr wrap="square">
            <a:spAutoFit/>
          </a:bodyPr>
          <a:lstStyle/>
          <a:p>
            <a:pPr algn="l"/>
            <a:r>
              <a:rPr sz="1600" b="1" i="0">
                <a:solidFill>
                  <a:srgbClr val="FFFFFF"/>
                </a:solidFill>
                <a:latin typeface="Calibri"/>
              </a:rPr>
              <a:t>Commander un audit ESG indépendant annuel</a:t>
            </a:r>
          </a:p>
        </p:txBody>
      </p:sp>
      <p:sp>
        <p:nvSpPr>
          <p:cNvPr id="18" name="TextBox 17"/>
          <p:cNvSpPr txBox="1"/>
          <p:nvPr/>
        </p:nvSpPr>
        <p:spPr>
          <a:xfrm>
            <a:off x="9966960" y="5440680"/>
            <a:ext cx="1737360" cy="365760"/>
          </a:xfrm>
          <a:prstGeom prst="rect">
            <a:avLst/>
          </a:prstGeom>
          <a:noFill/>
        </p:spPr>
        <p:txBody>
          <a:bodyPr wrap="square">
            <a:spAutoFit/>
          </a:bodyPr>
          <a:lstStyle/>
          <a:p>
            <a:pPr algn="r"/>
            <a:r>
              <a:rPr sz="1300" b="1" i="0">
                <a:solidFill>
                  <a:srgbClr val="AEC6E8"/>
                </a:solidFill>
                <a:latin typeface="Calibri"/>
              </a:rPr>
              <a:t>Annuel</a:t>
            </a:r>
          </a:p>
        </p:txBody>
      </p:sp>
      <p:sp>
        <p:nvSpPr>
          <p:cNvPr id="19" name="TextBox 18"/>
          <p:cNvSpPr txBox="1"/>
          <p:nvPr/>
        </p:nvSpPr>
        <p:spPr>
          <a:xfrm>
            <a:off x="594360" y="6400800"/>
            <a:ext cx="10058400" cy="365760"/>
          </a:xfrm>
          <a:prstGeom prst="rect">
            <a:avLst/>
          </a:prstGeom>
          <a:noFill/>
        </p:spPr>
        <p:txBody>
          <a:bodyPr wrap="square">
            <a:spAutoFit/>
          </a:bodyPr>
          <a:lstStyle/>
          <a:p>
            <a:pPr algn="l"/>
            <a:r>
              <a:rPr sz="900" b="0" i="1">
                <a:solidFill>
                  <a:srgbClr val="AEC6E8"/>
                </a:solidFill>
                <a:latin typeface="Calibri"/>
              </a:rPr>
              <a:t>© 2025 Acme Industries — Document confidentiel</a:t>
            </a:r>
          </a:p>
        </p:txBody>
      </p:sp>
      <p:sp>
        <p:nvSpPr>
          <p:cNvPr id="20" name="TextBox 19"/>
          <p:cNvSpPr txBox="1"/>
          <p:nvPr/>
        </p:nvSpPr>
        <p:spPr>
          <a:xfrm>
            <a:off x="8778240" y="6537960"/>
            <a:ext cx="3200400" cy="274320"/>
          </a:xfrm>
          <a:prstGeom prst="rect">
            <a:avLst/>
          </a:prstGeom>
          <a:noFill/>
        </p:spPr>
        <p:txBody>
          <a:bodyPr wrap="square">
            <a:spAutoFit/>
          </a:bodyPr>
          <a:lstStyle/>
          <a:p>
            <a:pPr algn="r"/>
            <a:r>
              <a:rPr sz="800" b="0" i="0">
                <a:solidFill>
                  <a:srgbClr val="6B7C93"/>
                </a:solidFill>
                <a:latin typeface="Calibri"/>
              </a:rPr>
              <a:t>Acme Industries   |   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