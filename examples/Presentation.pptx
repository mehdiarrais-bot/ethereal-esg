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2.png"/><Relationship Id="rId6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937760"/>
            <a:ext cx="12188952" cy="19202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39C12"/>
                </a:solidFill>
                <a:latin typeface="Calibri"/>
              </a:rPr>
              <a:t>RAPPORT ESG — SYNTHÈSE EXÉCUTIVE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8412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ACME INDUSTRIES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429000"/>
            <a:ext cx="1828800" cy="5486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65760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1">
                <a:solidFill>
                  <a:srgbClr val="AEC6E8"/>
                </a:solidFill>
                <a:latin typeface="Calibri"/>
              </a:rPr>
              <a:t>Une performance ESG solide et engagée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89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EC6E8"/>
                </a:solidFill>
                <a:latin typeface="Calibri"/>
              </a:rPr>
              <a:t>Exercice 2025   |   Industrie manufacturière   |   France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489204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200" b="1" i="0">
                <a:solidFill>
                  <a:srgbClr val="F39C12"/>
                </a:solidFill>
                <a:latin typeface="Calibri"/>
              </a:rPr>
              <a:t>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6172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AEC6E8"/>
                </a:solidFill>
                <a:latin typeface="Calibri"/>
              </a:rPr>
              <a:t>/100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0" y="5074920"/>
            <a:ext cx="1417320" cy="86868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0" y="5193792"/>
            <a:ext cx="1417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B3A6B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8"/>
                </a:solidFill>
                <a:latin typeface="Calibri"/>
              </a:rPr>
              <a:t>Présenté par J. Martin — Directrice Générale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44805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2C3E50"/>
                </a:solidFill>
                <a:latin typeface="Calibri"/>
              </a:rPr>
              <a:t>Rapport ESG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949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B7C93"/>
                </a:solidFill>
                <a:latin typeface="Calibri"/>
              </a:rPr>
              <a:t>Acme Industries  •  Industrie manufacturière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914400"/>
            <a:ext cx="121889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39C12"/>
                </a:solidFill>
                <a:latin typeface="Calibri"/>
              </a:rPr>
              <a:t>LE MOT DE LA 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EBF2FB"/>
                </a:solidFill>
                <a:latin typeface="Calibri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103120"/>
            <a:ext cx="8897112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FFFFFF"/>
                </a:solidFill>
                <a:latin typeface="Calibri"/>
              </a:rPr>
              <a:t>« La performance durable est au cœur de notre stratégie industrielle : chaque euro investi doit créer de la valeur pour nos clients et pour la planète. »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8676" y="5212080"/>
            <a:ext cx="1371600" cy="36576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544068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EC6E8"/>
                </a:solidFill>
                <a:latin typeface="Calibri"/>
              </a:rPr>
              <a:t>J. Martin — Directrice Générale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2C3E50"/>
                </a:solidFill>
                <a:latin typeface="Calibri"/>
              </a:rPr>
              <a:t>SOMMAIRE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25880"/>
            <a:ext cx="1645920" cy="5486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920240"/>
            <a:ext cx="3611880" cy="4206240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39C12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SITUATION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2971800" cy="1828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Synthèse Exécutive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5196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Pilier Environnemental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0060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Pilier Social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4924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Pilier Gouvernance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1920240"/>
            <a:ext cx="3611880" cy="4206240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214884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39C12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6324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DIAGNOSTIC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3520440"/>
            <a:ext cx="2971800" cy="1828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3703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Positionnement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25196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Risques &amp; Opportunités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80060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Analyse Stratégique ESG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5320" y="1920240"/>
            <a:ext cx="3611880" cy="4206240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214884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39C12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306324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PLAN D'ACTION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5360" y="3520440"/>
            <a:ext cx="2971800" cy="1828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0" y="3703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Recommandations Prioritaires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425196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Un plan d'action ESG sur 12 mois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480060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Alignement — ODD &amp; Cadres de Référence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534924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Conclusion &amp; Engagements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43400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270248" y="0"/>
            <a:ext cx="73152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SYNTHÈSE ESG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691640"/>
            <a:ext cx="39776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0" b="1" i="0">
                <a:solidFill>
                  <a:srgbClr val="FFFFFF"/>
                </a:solidFill>
                <a:latin typeface="Calibri"/>
              </a:rPr>
              <a:t>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611880"/>
            <a:ext cx="39776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AEC6E8"/>
                </a:solidFill>
                <a:latin typeface="Calibri"/>
              </a:rPr>
              <a:t>/ 100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17320" y="4343400"/>
            <a:ext cx="1508760" cy="7772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4480560"/>
            <a:ext cx="1508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B3A6B"/>
                </a:solidFill>
                <a:latin typeface="Calibr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" y="5349240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AEC6E8"/>
                </a:solidFill>
                <a:latin typeface="Calibri"/>
              </a:rPr>
              <a:t>SCORE ESG GLOBAL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" y="5760720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CAF50"/>
                </a:solidFill>
                <a:latin typeface="Calibri"/>
              </a:rPr>
              <a:t>+10 pts  vs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594360"/>
            <a:ext cx="7223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2C3E50"/>
                </a:solidFill>
                <a:latin typeface="Calibri"/>
              </a:rPr>
              <a:t>Synthèse Exécutive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82312" y="1481328"/>
            <a:ext cx="1463040" cy="5486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1737360"/>
            <a:ext cx="7178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Acme Industries affiche un profil ESG solide (66/100, A), porté par la gouvernance (75/100) ; le social (55/100) concentre le potentiel de progression.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200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  <a:latin typeface="Calibri"/>
              </a:rPr>
              <a:t>PERFORMANCE PAR PILIER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703320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Environnement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70332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27AE60"/>
                </a:solidFill>
                <a:latin typeface="Calibri"/>
              </a:rPr>
              <a:t>70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4032504"/>
            <a:ext cx="3108960" cy="15544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54880" y="4032504"/>
            <a:ext cx="2176272" cy="15544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4544568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Social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544568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2E86C1"/>
                </a:solidFill>
                <a:latin typeface="Calibri"/>
              </a:rPr>
              <a:t>55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0" y="4873752"/>
            <a:ext cx="3108960" cy="15544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754880" y="4873752"/>
            <a:ext cx="1709928" cy="155448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0" y="5385816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Gouvernance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5385816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8E44AD"/>
                </a:solidFill>
                <a:latin typeface="Calibri"/>
              </a:rPr>
              <a:t>75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0" y="5715000"/>
            <a:ext cx="3108960" cy="15544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0" y="5715000"/>
            <a:ext cx="2331720" cy="155448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L'ANALYSE DU CONSULTANT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25880"/>
            <a:ext cx="1645920" cy="457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2C3E50"/>
                </a:solidFill>
                <a:latin typeface="Calibri"/>
              </a:rPr>
              <a:t>La priorité 2026 est la fiabilisation du reporting énergie avant l'audit de certification prévu au troisième trimestre.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0350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  <a:latin typeface="Calibri"/>
              </a:rPr>
              <a:t>J. Martin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0" b="1" i="0">
                <a:solidFill>
                  <a:srgbClr val="EBF2FB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6052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DIAGNOSTIC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977639"/>
            <a:ext cx="201168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5321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AEC6E8"/>
                </a:solidFill>
                <a:latin typeface="Calibri"/>
              </a:rPr>
              <a:t>Où vous situez-vous, et face à qui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POSITIONNEMENT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16" b="1" i="0">
                <a:solidFill>
                  <a:srgbClr val="FFFFFF"/>
                </a:solidFill>
                <a:latin typeface="Calibri"/>
              </a:rPr>
              <a:t>La gouvernance est le point fort d'Acme Industries, le social sa priorité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6858000" cy="421982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52360" y="1600200"/>
            <a:ext cx="4434840" cy="2148840"/>
          </a:xfrm>
          <a:prstGeom prst="roundRect">
            <a:avLst/>
          </a:prstGeom>
          <a:solidFill>
            <a:srgbClr val="EBF2FB"/>
          </a:solidFill>
          <a:ln w="15875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52360" y="1600200"/>
            <a:ext cx="82296" cy="21488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80" y="1764792"/>
            <a:ext cx="3977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C12"/>
                </a:solidFill>
                <a:latin typeface="Calibri"/>
              </a:rPr>
              <a:t>LECTURE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80" y="214884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C3E50"/>
                </a:solidFill>
                <a:latin typeface="Calibri"/>
              </a:rPr>
              <a:t>20 points séparent votre pilier le plus solide du plus fragile — l'écart interne à réduire en priorité.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4023360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  <a:latin typeface="Calibri"/>
              </a:rPr>
              <a:t>MATURITÉ ESG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4434840"/>
            <a:ext cx="841248" cy="45720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52360" y="4480560"/>
            <a:ext cx="841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B7C93"/>
                </a:solidFill>
                <a:latin typeface="Calibri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8472" y="4434840"/>
            <a:ext cx="841248" cy="45720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8472" y="4480560"/>
            <a:ext cx="841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B7C93"/>
                </a:solidFill>
                <a:latin typeface="Calibr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44584" y="4434840"/>
            <a:ext cx="841248" cy="457200"/>
          </a:xfrm>
          <a:prstGeom prst="roundRect">
            <a:avLst/>
          </a:prstGeom>
          <a:solidFill>
            <a:srgbClr val="F39C1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44584" y="4480560"/>
            <a:ext cx="841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3A6B"/>
                </a:solidFill>
                <a:latin typeface="Calibri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40696" y="4434840"/>
            <a:ext cx="841248" cy="45720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0696" y="4480560"/>
            <a:ext cx="841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B7C93"/>
                </a:solidFill>
                <a:latin typeface="Calibri"/>
              </a:rPr>
              <a:t>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036808" y="4434840"/>
            <a:ext cx="841248" cy="45720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36808" y="4480560"/>
            <a:ext cx="841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B7C93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5029200"/>
            <a:ext cx="4434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39C12"/>
                </a:solidFill>
                <a:latin typeface="Calibri"/>
              </a:rPr>
              <a:t>Structurée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5440680"/>
            <a:ext cx="4434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Pour franchir le cap suivant : faire auditer le reporting.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TRAJECTOIRE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28" b="1" i="0">
                <a:solidFill>
                  <a:srgbClr val="FFFFFF"/>
                </a:solidFill>
                <a:latin typeface="Calibri"/>
              </a:rPr>
              <a:t>Une trajectoire ESG mesurée exercice après exercice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463040"/>
            <a:ext cx="9784080" cy="52089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88720" y="630936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93"/>
                </a:solidFill>
                <a:latin typeface="Calibri"/>
              </a:rPr>
              <a:t>Évolution pluriannuelle du score ESG (global et par pilier)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POSITIONNEMENT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40" b="1" i="0">
                <a:solidFill>
                  <a:srgbClr val="FFFFFF"/>
                </a:solidFill>
                <a:latin typeface="Calibri"/>
              </a:rPr>
              <a:t>Analyse des écarts réglementaires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325880"/>
            <a:ext cx="11640312" cy="621792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8988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Bilan GES Scopes 1 &amp;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47218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ESRS E1-6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78040" y="1453896"/>
            <a:ext cx="160020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150876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Conforme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1389888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Émissions mesurées et publiées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01168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Émissions de la chaîne de valeur (Scope 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09397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ESRS E1-6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8040" y="2075688"/>
            <a:ext cx="160020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78040" y="2130552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Conforme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011680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Scope 3 mesuré et publié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69464"/>
            <a:ext cx="11640312" cy="621792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633472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Vérification du reporting par un tiers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71576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CSRD (assurance limitée)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78040" y="2697480"/>
            <a:ext cx="1600200" cy="3657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78040" y="2752344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Non conforme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2633472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Aucune assurance externe à 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55264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Supervision de la durabilité par la gouvernance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3337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ESRS 2 GOV-1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78040" y="3319272"/>
            <a:ext cx="160020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78040" y="3374136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Conforme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3255264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Comité de durabilité en place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813048"/>
            <a:ext cx="11640312" cy="621792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877056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Indépendance du conseil (seuil 50 %)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395935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AFEP-MEDEF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78040" y="3941064"/>
            <a:ext cx="1600200" cy="36576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78040" y="3995928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Partiel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3877056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45 % d'administrateurs indépendants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49884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Publication des indicateurs Taxonomie 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9240" y="458114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Règlement (UE) 2020/852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78040" y="4562856"/>
            <a:ext cx="160020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78040" y="461772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Conforme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0" y="4498848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Parts alignées publiées (CA/CapEx/OpEx)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5056632"/>
            <a:ext cx="11640312" cy="621792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51206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Objectifs climatiques chiffrés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49240" y="520293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ESRS E1-4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78040" y="5184648"/>
            <a:ext cx="160020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78040" y="5239512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Conforme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20" y="5120640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Trajectoire -42 % à 2030 définie (réf. SBTi)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218895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000" b="1" i="0">
                <a:solidFill>
                  <a:srgbClr val="F39C12"/>
                </a:solidFill>
                <a:latin typeface="Calibri"/>
              </a:rPr>
              <a:t>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160520"/>
            <a:ext cx="121889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92040"/>
            <a:ext cx="94457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EC6E8"/>
                </a:solidFill>
                <a:latin typeface="Calibri"/>
              </a:rPr>
              <a:t>des émissions relèvent du Scope 3</a:t>
            </a:r>
          </a:p>
        </p:txBody>
      </p:sp>
      <p:sp>
        <p:nvSpPr>
          <p:cNvPr id="7" name="Rectangle 6"/>
          <p:cNvSpPr/>
          <p:nvPr/>
        </p:nvSpPr>
        <p:spPr>
          <a:xfrm>
            <a:off x="5271516" y="5623560"/>
            <a:ext cx="1645920" cy="457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5852160"/>
            <a:ext cx="8897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FFFFFF"/>
                </a:solidFill>
                <a:latin typeface="Calibri"/>
              </a:rPr>
              <a:t>La chaîne de valeur, principal terrain d'action climat.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148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38328" y="384048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PILIER ENVIRONNEMENTAL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77240"/>
            <a:ext cx="3611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84" b="1" i="0">
                <a:solidFill>
                  <a:srgbClr val="FFFFFF"/>
                </a:solidFill>
                <a:latin typeface="Calibri"/>
              </a:rPr>
              <a:t>Un bilan carbone complet, socle de la trajectoire climat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343400"/>
            <a:ext cx="1600200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80160" y="4828032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08076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SCORE /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B7C93"/>
                </a:solidFill>
                <a:latin typeface="Calibri"/>
              </a:rPr>
              <a:t>INDICATEURS CLÉS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932688"/>
            <a:ext cx="1280160" cy="411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6280" y="1234440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1399032"/>
            <a:ext cx="54864" cy="9692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45736" y="1481328"/>
            <a:ext cx="822960" cy="82296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472" y="1655064"/>
            <a:ext cx="475488" cy="4754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0720" y="1453896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7AE60"/>
                </a:solidFill>
                <a:latin typeface="Calibri"/>
              </a:rPr>
              <a:t>8,200 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9864" y="205740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Émissions CO2 totales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1234440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1399032"/>
            <a:ext cx="54864" cy="9692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40496" y="1481328"/>
            <a:ext cx="822960" cy="82296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232" y="1655064"/>
            <a:ext cx="475488" cy="47548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555480" y="1453896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7AE60"/>
                </a:solidFill>
                <a:latin typeface="Calibri"/>
              </a:rPr>
              <a:t>42%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205740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Énergie renouvelable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2752344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26280" y="2916936"/>
            <a:ext cx="54864" cy="9692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745736" y="2999232"/>
            <a:ext cx="822960" cy="82296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9472" y="3172968"/>
            <a:ext cx="475488" cy="4754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760720" y="297180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7AE60"/>
                </a:solidFill>
                <a:latin typeface="Calibri"/>
              </a:rPr>
              <a:t>21,500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9864" y="3575304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Consommation (MWh)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2752344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21040" y="2916936"/>
            <a:ext cx="54864" cy="9692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40496" y="2999232"/>
            <a:ext cx="822960" cy="82296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4232" y="3172968"/>
            <a:ext cx="475488" cy="47548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555480" y="297180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7AE60"/>
                </a:solidFill>
                <a:latin typeface="Calibri"/>
              </a:rPr>
              <a:t>120,000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64624" y="3575304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Eau prélevée (m3)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26280" y="4434840"/>
            <a:ext cx="7360920" cy="1847088"/>
          </a:xfrm>
          <a:prstGeom prst="roundRect">
            <a:avLst/>
          </a:prstGeom>
          <a:solidFill>
            <a:srgbClr val="EBF2FB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26280" y="4434840"/>
            <a:ext cx="100584" cy="1847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10328" y="4654296"/>
            <a:ext cx="6720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7AE60"/>
                </a:solidFill>
                <a:latin typeface="Calibri"/>
              </a:rPr>
              <a:t>LECTURE MÉTIER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0328" y="5093208"/>
            <a:ext cx="662940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Performance environnementale solide, au-dessus de la moyenne sectorielle ; l'intensité carbone reste le principal levier de création de valeur durable.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148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38328" y="384048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PILIER SOCIAL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77240"/>
            <a:ext cx="3611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72" b="1" i="0">
                <a:solidFill>
                  <a:srgbClr val="FFFFFF"/>
                </a:solidFill>
                <a:latin typeface="Calibri"/>
              </a:rPr>
              <a:t>La sécurité au travail (TF 6.2), priorité à traiter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343400"/>
            <a:ext cx="1600200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80160" y="4828032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08076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SCORE /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B7C93"/>
                </a:solidFill>
                <a:latin typeface="Calibri"/>
              </a:rPr>
              <a:t>INDICATEURS CLÉS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932688"/>
            <a:ext cx="1280160" cy="411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6280" y="1234440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1399032"/>
            <a:ext cx="54864" cy="9692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45736" y="1481328"/>
            <a:ext cx="822960" cy="82296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472" y="1655064"/>
            <a:ext cx="475488" cy="4754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0720" y="1453896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E86C1"/>
                </a:solidFill>
                <a:latin typeface="Calibri"/>
              </a:rPr>
              <a:t>320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9864" y="205740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Effectif total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1234440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1399032"/>
            <a:ext cx="54864" cy="9692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40496" y="1481328"/>
            <a:ext cx="822960" cy="82296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4232" y="1655064"/>
            <a:ext cx="475488" cy="47548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555480" y="1453896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E86C1"/>
                </a:solidFill>
                <a:latin typeface="Calibri"/>
              </a:rPr>
              <a:t>34%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205740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Femmes dans l'effectif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2752344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26280" y="2916936"/>
            <a:ext cx="54864" cy="9692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745736" y="2999232"/>
            <a:ext cx="822960" cy="82296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3172968"/>
            <a:ext cx="475488" cy="4754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760720" y="297180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E86C1"/>
                </a:solidFill>
                <a:latin typeface="Calibri"/>
              </a:rPr>
              <a:t>22 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9864" y="3575304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Formation / an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2752344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21040" y="2916936"/>
            <a:ext cx="54864" cy="9692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40496" y="2999232"/>
            <a:ext cx="822960" cy="82296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14232" y="3172968"/>
            <a:ext cx="475488" cy="47548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555480" y="297180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E86C1"/>
                </a:solidFill>
                <a:latin typeface="Calibri"/>
              </a:rPr>
              <a:t>6.2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64624" y="3575304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Taux fréquence accidents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26280" y="4434840"/>
            <a:ext cx="7360920" cy="1847088"/>
          </a:xfrm>
          <a:prstGeom prst="roundRect">
            <a:avLst/>
          </a:prstGeom>
          <a:solidFill>
            <a:srgbClr val="EBF2FB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26280" y="4434840"/>
            <a:ext cx="100584" cy="184708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10328" y="4654296"/>
            <a:ext cx="6720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E86C1"/>
                </a:solidFill>
                <a:latin typeface="Calibri"/>
              </a:rPr>
              <a:t>LECTURE MÉTIER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0328" y="5093208"/>
            <a:ext cx="662940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Performance sociale en construction : parité et sécurité au travail appellent des objectifs chiffrés pour fidéliser les talents.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148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38328" y="384048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PILIER GOUVERNANCE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77240"/>
            <a:ext cx="3611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84" b="1" i="0">
                <a:solidFill>
                  <a:srgbClr val="FFFFFF"/>
                </a:solidFill>
                <a:latin typeface="Calibri"/>
              </a:rPr>
              <a:t>L'assurance ESG indépendante, priorité de la gouvernance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343400"/>
            <a:ext cx="1600200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80160" y="4828032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08076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SCORE /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B7C93"/>
                </a:solidFill>
                <a:latin typeface="Calibri"/>
              </a:rPr>
              <a:t>INDICATEURS CLÉS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932688"/>
            <a:ext cx="1280160" cy="4114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6280" y="1234440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1399032"/>
            <a:ext cx="54864" cy="9692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45736" y="1481328"/>
            <a:ext cx="822960" cy="82296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472" y="1655064"/>
            <a:ext cx="475488" cy="4754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0720" y="1453896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8E44AD"/>
                </a:solidFill>
                <a:latin typeface="Calibri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9864" y="205740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Membres du Conseil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1234440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1399032"/>
            <a:ext cx="54864" cy="9692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40496" y="1481328"/>
            <a:ext cx="822960" cy="82296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232" y="1655064"/>
            <a:ext cx="475488" cy="47548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555480" y="1453896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8E44AD"/>
                </a:solidFill>
                <a:latin typeface="Calibri"/>
              </a:rPr>
              <a:t>44%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205740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Femmes au CA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2752344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26280" y="2916936"/>
            <a:ext cx="54864" cy="9692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745736" y="2999232"/>
            <a:ext cx="822960" cy="82296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9472" y="3172968"/>
            <a:ext cx="475488" cy="4754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760720" y="297180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8E44AD"/>
                </a:solidFill>
                <a:latin typeface="Calibri"/>
              </a:rPr>
              <a:t>45%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9864" y="3575304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Administrateurs indépendants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2752344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21040" y="2916936"/>
            <a:ext cx="54864" cy="9692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40496" y="2999232"/>
            <a:ext cx="822960" cy="82296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14232" y="3172968"/>
            <a:ext cx="475488" cy="47548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555480" y="297180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8E44AD"/>
                </a:solidFill>
                <a:latin typeface="Calibri"/>
              </a:rPr>
              <a:t>Non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64624" y="3575304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Audit ESG indépendant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26280" y="4434840"/>
            <a:ext cx="7360920" cy="1847088"/>
          </a:xfrm>
          <a:prstGeom prst="roundRect">
            <a:avLst/>
          </a:prstGeom>
          <a:solidFill>
            <a:srgbClr val="EBF2FB"/>
          </a:solidFill>
          <a:ln w="1905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26280" y="4434840"/>
            <a:ext cx="100584" cy="184708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10328" y="4654296"/>
            <a:ext cx="6720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8E44AD"/>
                </a:solidFill>
                <a:latin typeface="Calibri"/>
              </a:rPr>
              <a:t>LECTURE MÉTIER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0328" y="5093208"/>
            <a:ext cx="662940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Gouvernance exemplaire : indépendance, audit et supervision ESG inspirent confiance aux investisseurs.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PRIORISATION DES ENJEUX ESG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16" b="1" i="0">
                <a:solidFill>
                  <a:srgbClr val="FFFFFF"/>
                </a:solidFill>
                <a:latin typeface="Calibri"/>
              </a:rPr>
              <a:t>Le changement climatique concentre les enjeux ESG prioritaires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00200"/>
            <a:ext cx="7394055" cy="44805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549640" y="1828800"/>
            <a:ext cx="3337560" cy="4023360"/>
          </a:xfrm>
          <a:prstGeom prst="roundRect">
            <a:avLst/>
          </a:prstGeom>
          <a:solidFill>
            <a:srgbClr val="EBF2FB"/>
          </a:solidFill>
          <a:ln w="15875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549640" y="1828800"/>
            <a:ext cx="82296" cy="402336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23960" y="2011680"/>
            <a:ext cx="2880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C12"/>
                </a:solidFill>
                <a:latin typeface="Calibri"/>
              </a:rPr>
              <a:t>LECTURE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246888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C3E50"/>
                </a:solidFill>
                <a:latin typeface="Calibri"/>
              </a:rPr>
              <a:t>Enjeux positionnés selon leur exposition estimée et leur sensibilité économique, à partir des données déclarées.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OBJECTIFS &amp; TRAJECTOIRE ESG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28" b="1" i="0">
                <a:solidFill>
                  <a:srgbClr val="FFFFFF"/>
                </a:solidFill>
                <a:latin typeface="Calibri"/>
              </a:rPr>
              <a:t>Une trajectoire de -42 % des émissions d'ici 2030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F39C12"/>
                </a:solidFill>
                <a:latin typeface="Calibri"/>
              </a:rPr>
              <a:t>-42%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290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Réduction des émissions CO₂ visée d'ici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C93"/>
                </a:solidFill>
                <a:latin typeface="Calibri"/>
              </a:rPr>
              <a:t>Objectif 2030 : 4,756 t CO₂e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4892040" cy="1691640"/>
          </a:xfrm>
          <a:prstGeom prst="roundRect">
            <a:avLst/>
          </a:prstGeom>
          <a:solidFill>
            <a:srgbClr val="EBF2FB"/>
          </a:solidFill>
          <a:ln w="15875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82296" cy="16916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86460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39C12"/>
                </a:solidFill>
                <a:latin typeface="Calibri"/>
              </a:rPr>
              <a:t>LECTURE MÉTIER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230368"/>
            <a:ext cx="4434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  <a:latin typeface="Calibri"/>
              </a:rPr>
              <a:t>Trajectoire alignée sur l'objectif 1,5°C de l'Accord de Paris (méthodologie Science Based Targets), avec un suivi annuel piloté par la gouvernance ESG.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103120"/>
            <a:ext cx="6035040" cy="29818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ALIGNEMENT TAXONOMIE EUROPÉENNE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16" b="1" i="0">
                <a:solidFill>
                  <a:srgbClr val="FFFFFF"/>
                </a:solidFill>
                <a:latin typeface="Calibri"/>
              </a:rPr>
              <a:t>52 % des investissements (CapEx) déjà alignés à la Taxonomie 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27AE60"/>
                </a:solidFill>
                <a:latin typeface="Calibri"/>
              </a:rPr>
              <a:t>52%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290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Part maximale d'activités alignées à la Taxonomie 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297680"/>
            <a:ext cx="4892040" cy="2103120"/>
          </a:xfrm>
          <a:prstGeom prst="roundRect">
            <a:avLst/>
          </a:prstGeom>
          <a:solidFill>
            <a:srgbClr val="EBF2FB"/>
          </a:solidFill>
          <a:ln w="1587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4297680"/>
            <a:ext cx="82296" cy="21031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462272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7AE60"/>
                </a:solidFill>
                <a:latin typeface="Calibri"/>
              </a:rPr>
              <a:t>LECTURE MÉTIER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4434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  <a:latin typeface="Calibri"/>
              </a:rPr>
              <a:t>Ces indicateurs traduisent une contribution substantielle à un objectif environnemental, dans le respect du principe DNSH et des garanties minimales sociales. Le CapEx aligné reflète la trajectoire d'investissement bas-carbone.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286000"/>
            <a:ext cx="6126480" cy="27284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ANALYSE STRATÉGIQUE ESG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28" b="1" i="0">
                <a:solidFill>
                  <a:srgbClr val="FFFFFF"/>
                </a:solidFill>
                <a:latin typeface="Calibri"/>
              </a:rPr>
              <a:t>5 forces établies, 5 leviers de progression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5669280" cy="5257800"/>
          </a:xfrm>
          <a:prstGeom prst="rect">
            <a:avLst/>
          </a:prstGeom>
          <a:solidFill>
            <a:srgbClr val="EBF2FB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27AE60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57276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POINTS FORTS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23160"/>
            <a:ext cx="5120640" cy="182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2770632"/>
            <a:ext cx="146304" cy="14630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697480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Excellente performance environnementale globale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483864"/>
            <a:ext cx="146304" cy="14630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410712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Comité de durabilité opérationnel au niveau du CA</a:t>
            </a:r>
          </a:p>
        </p:txBody>
      </p:sp>
      <p:sp>
        <p:nvSpPr>
          <p:cNvPr id="15" name="Oval 14"/>
          <p:cNvSpPr/>
          <p:nvPr/>
        </p:nvSpPr>
        <p:spPr>
          <a:xfrm>
            <a:off x="566928" y="4197096"/>
            <a:ext cx="146304" cy="14630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4123944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Parité exemplaire au Conseil d'Administration (44%)</a:t>
            </a:r>
          </a:p>
        </p:txBody>
      </p:sp>
      <p:sp>
        <p:nvSpPr>
          <p:cNvPr id="17" name="Oval 16"/>
          <p:cNvSpPr/>
          <p:nvPr/>
        </p:nvSpPr>
        <p:spPr>
          <a:xfrm>
            <a:off x="566928" y="4910328"/>
            <a:ext cx="146304" cy="14630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837176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Gouvernance de haute qualité et transparente</a:t>
            </a:r>
          </a:p>
        </p:txBody>
      </p:sp>
      <p:sp>
        <p:nvSpPr>
          <p:cNvPr id="19" name="Oval 18"/>
          <p:cNvSpPr/>
          <p:nvPr/>
        </p:nvSpPr>
        <p:spPr>
          <a:xfrm>
            <a:off x="566928" y="5623560"/>
            <a:ext cx="146304" cy="14630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5550408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Reporting complet des émissions Scope 1, 2 et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45352" y="1143000"/>
            <a:ext cx="5669280" cy="5257800"/>
          </a:xfrm>
          <a:prstGeom prst="rect">
            <a:avLst/>
          </a:prstGeom>
          <a:solidFill>
            <a:srgbClr val="EBF2FB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1325880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E74C3C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71232" y="157276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AXES D'AMÉLIORATION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9672" y="2423160"/>
            <a:ext cx="5120640" cy="1828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37960" y="2770632"/>
            <a:ext cx="146304" cy="146304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67144" y="2697480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Énergie renouvelable à renforcer (actuellement 42%, objectif 50%)</a:t>
            </a:r>
          </a:p>
        </p:txBody>
      </p:sp>
      <p:sp>
        <p:nvSpPr>
          <p:cNvPr id="27" name="Oval 26"/>
          <p:cNvSpPr/>
          <p:nvPr/>
        </p:nvSpPr>
        <p:spPr>
          <a:xfrm>
            <a:off x="6537960" y="3483864"/>
            <a:ext cx="146304" cy="146304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67144" y="3410712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Déséquilibre de genre dans les effectifs (34% de femmes)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4197096"/>
            <a:ext cx="146304" cy="146304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67144" y="4123944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Taux d'accidents supérieur aux standards sectoriels (TF 6.2)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4910328"/>
            <a:ext cx="146304" cy="146304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67144" y="4837176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Une violation de données — cybersécurité à renforcer</a:t>
            </a:r>
          </a:p>
        </p:txBody>
      </p:sp>
      <p:sp>
        <p:nvSpPr>
          <p:cNvPr id="33" name="Oval 32"/>
          <p:cNvSpPr/>
          <p:nvPr/>
        </p:nvSpPr>
        <p:spPr>
          <a:xfrm>
            <a:off x="6537960" y="5623560"/>
            <a:ext cx="146304" cy="146304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67144" y="5550408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Absence d'audit ESG indépendant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RISQUES &amp; OPPORTUNITÉS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16" b="1" i="0">
                <a:solidFill>
                  <a:srgbClr val="FFFFFF"/>
                </a:solidFill>
                <a:latin typeface="Calibri"/>
              </a:rPr>
              <a:t>Où se concentrent vos risques et vos leviers de valeur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5669280" cy="5257800"/>
          </a:xfrm>
          <a:prstGeom prst="rect">
            <a:avLst/>
          </a:prstGeom>
          <a:solidFill>
            <a:srgbClr val="EBF2FB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48640" y="1371600"/>
            <a:ext cx="566928" cy="566928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08176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481328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C3E50"/>
                </a:solidFill>
                <a:latin typeface="Calibri"/>
              </a:rPr>
              <a:t>RISQUES MAJEURS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5120640" cy="1828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2468880"/>
            <a:ext cx="1161288" cy="2743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487168"/>
            <a:ext cx="11612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Fiabilité</a:t>
            </a:r>
          </a:p>
        </p:txBody>
      </p:sp>
      <p:sp>
        <p:nvSpPr>
          <p:cNvPr id="14" name="Oval 13"/>
          <p:cNvSpPr/>
          <p:nvPr/>
        </p:nvSpPr>
        <p:spPr>
          <a:xfrm>
            <a:off x="5257800" y="2468880"/>
            <a:ext cx="384048" cy="27432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57800" y="2496312"/>
            <a:ext cx="3840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81635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Reporting non audité : crédibilité limitée auprès des investisseurs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29000"/>
            <a:ext cx="1463040" cy="2743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447288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Opérationnel</a:t>
            </a:r>
          </a:p>
        </p:txBody>
      </p:sp>
      <p:sp>
        <p:nvSpPr>
          <p:cNvPr id="19" name="Oval 18"/>
          <p:cNvSpPr/>
          <p:nvPr/>
        </p:nvSpPr>
        <p:spPr>
          <a:xfrm>
            <a:off x="5257800" y="3429000"/>
            <a:ext cx="384048" cy="27432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57800" y="3456432"/>
            <a:ext cx="3840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77647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Sinistralité au-dessus des standards : risque humain et social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389120"/>
            <a:ext cx="1261872" cy="2743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407408"/>
            <a:ext cx="1261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Transition</a:t>
            </a:r>
          </a:p>
        </p:txBody>
      </p:sp>
      <p:sp>
        <p:nvSpPr>
          <p:cNvPr id="24" name="Oval 23"/>
          <p:cNvSpPr/>
          <p:nvPr/>
        </p:nvSpPr>
        <p:spPr>
          <a:xfrm>
            <a:off x="5257800" y="4389120"/>
            <a:ext cx="384048" cy="27432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57800" y="4416552"/>
            <a:ext cx="3840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73659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Intensité carbone élevée : marge exposée à la tarification du carbone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349240"/>
            <a:ext cx="1563624" cy="2743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367528"/>
            <a:ext cx="15636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Réglementaire</a:t>
            </a:r>
          </a:p>
        </p:txBody>
      </p:sp>
      <p:sp>
        <p:nvSpPr>
          <p:cNvPr id="29" name="Oval 28"/>
          <p:cNvSpPr/>
          <p:nvPr/>
        </p:nvSpPr>
        <p:spPr>
          <a:xfrm>
            <a:off x="5257800" y="5349240"/>
            <a:ext cx="384048" cy="27432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57800" y="5376672"/>
            <a:ext cx="3840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69671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Parité sous la cible : risque réglementaire et d'attractivité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5352" y="1143000"/>
            <a:ext cx="5669280" cy="5257800"/>
          </a:xfrm>
          <a:prstGeom prst="rect">
            <a:avLst/>
          </a:prstGeom>
          <a:solidFill>
            <a:srgbClr val="EBF2FB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519672" y="1371600"/>
            <a:ext cx="566928" cy="566928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19672" y="1408176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05472" y="1481328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C3E50"/>
                </a:solidFill>
                <a:latin typeface="Calibri"/>
              </a:rPr>
              <a:t>OPPORTUNITÉS MAJEURES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19672" y="2194560"/>
            <a:ext cx="5120640" cy="182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19672" y="2468880"/>
            <a:ext cx="1362456" cy="2743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19672" y="2487168"/>
            <a:ext cx="13624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Financement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19672" y="281635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Gouvernance solide : accès facilité aux financements ESG (green bonds, prêts indexés)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19672" y="3429000"/>
            <a:ext cx="1362456" cy="2743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9672" y="3447288"/>
            <a:ext cx="13624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Financement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9672" y="377647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Activités alignées Taxonomie : éligibilité aux financements verts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19672" y="4389120"/>
            <a:ext cx="758952" cy="2743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19672" y="4407408"/>
            <a:ext cx="758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Coûts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19672" y="473659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Mix renouvelable engagé : réduction des coûts énergétiques à terme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19672" y="5349240"/>
            <a:ext cx="960120" cy="2743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19672" y="5367528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Talents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19672" y="569671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Politique sociale : marque employeur et rétention des talents renforcées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0" b="1" i="0">
                <a:solidFill>
                  <a:srgbClr val="EBF2FB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6052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PLAN D'ACTION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977639"/>
            <a:ext cx="201168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5321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AEC6E8"/>
                </a:solidFill>
                <a:latin typeface="Calibri"/>
              </a:rPr>
              <a:t>Quoi faire, dans quel ordre, sous quel horizon.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PRIORISATION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28" b="1" i="0">
                <a:solidFill>
                  <a:srgbClr val="FFFFFF"/>
                </a:solidFill>
                <a:latin typeface="Calibri"/>
              </a:rPr>
              <a:t>Par où commencer : l'effort au regard de l'impact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0"/>
            <a:ext cx="8412480" cy="489644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915400" y="1600200"/>
            <a:ext cx="2971800" cy="4206240"/>
          </a:xfrm>
          <a:prstGeom prst="roundRect">
            <a:avLst/>
          </a:prstGeom>
          <a:solidFill>
            <a:srgbClr val="EBF2FB"/>
          </a:solidFill>
          <a:ln w="15875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15400" y="1600200"/>
            <a:ext cx="82296" cy="42062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71432" y="178308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C12"/>
                </a:solidFill>
                <a:latin typeface="Calibri"/>
              </a:rPr>
              <a:t>LECTURE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71432" y="2194560"/>
            <a:ext cx="2514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  <a:latin typeface="Calibri"/>
              </a:rPr>
              <a:t>Trois actions combinent fort impact et effort limité — les actions 2, 3 et 4 — et peuvent être lancées immédiatement à moyens constants. Le chantier structurant du quadrant haut-droit justifie un budget et un responsable dédiés : il porte l'essentiel du potentiel de progression du score.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82880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Recommandations Prioritaires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C93"/>
                </a:solidFill>
                <a:latin typeface="Calibri"/>
              </a:rPr>
              <a:t>Plan d'action priorisé — chaque levier, son bénéfice attendu et son horizon de mise en œuvre.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1064240" cy="932688"/>
          </a:xfrm>
          <a:prstGeom prst="rect">
            <a:avLst/>
          </a:prstGeom>
          <a:solidFill>
            <a:srgbClr val="EBF2FB"/>
          </a:solidFill>
          <a:ln w="1587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2002536"/>
            <a:ext cx="502920" cy="50292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5740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892808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Augmenter la part d'énergie renouvelable à 50%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28600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93"/>
                </a:solidFill>
                <a:latin typeface="Calibri"/>
              </a:rPr>
              <a:t>Réduit les émissions Scope 2 et l'exposition aux prix de l'énergie ; contribue directement à la trajectoire SBTi.  —  Direction des opérations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29800" y="2039112"/>
            <a:ext cx="1554480" cy="420624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2980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2027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43784"/>
            <a:ext cx="11064240" cy="932688"/>
          </a:xfrm>
          <a:prstGeom prst="rect">
            <a:avLst/>
          </a:prstGeom>
          <a:solidFill>
            <a:srgbClr val="EBF2FB"/>
          </a:solidFill>
          <a:ln w="15875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7240" y="306324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11810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2953512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Définir des objectifs chiffrés de parité femme-homme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346704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93"/>
                </a:solidFill>
                <a:latin typeface="Calibri"/>
              </a:rPr>
              <a:t>Renforce la diversité des équipes et l'attractivité employeur ; améliore la fidélisation des talents.  —  Direction des ressources humaines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29800" y="3099816"/>
            <a:ext cx="1554480" cy="420624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9800" y="3163824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904488"/>
            <a:ext cx="11064240" cy="932688"/>
          </a:xfrm>
          <a:prstGeom prst="rect">
            <a:avLst/>
          </a:prstGeom>
          <a:solidFill>
            <a:srgbClr val="EBF2FB"/>
          </a:solidFill>
          <a:ln w="15875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4123944"/>
            <a:ext cx="502920" cy="50292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17880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014216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Commander un audit ESG indépendant annuel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407408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93"/>
                </a:solidFill>
                <a:latin typeface="Calibri"/>
              </a:rPr>
              <a:t>Apporte l'assurance d'un tiers désormais requise par la CSRD ; renforce la confiance des investisseurs.  —  Direction générale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4160520"/>
            <a:ext cx="1554480" cy="420624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9800" y="422452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Annuel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965192"/>
            <a:ext cx="11064240" cy="932688"/>
          </a:xfrm>
          <a:prstGeom prst="rect">
            <a:avLst/>
          </a:prstGeom>
          <a:solidFill>
            <a:srgbClr val="EBF2FB"/>
          </a:solidFill>
          <a:ln w="15875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7240" y="5184648"/>
            <a:ext cx="502920" cy="50292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23951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507492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Aligner la stratégie ESG sur les ODD &amp; la TCFD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546811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93"/>
                </a:solidFill>
                <a:latin typeface="Calibri"/>
              </a:rPr>
              <a:t>Renforce l'alignement sur les cadres de référence (ODD, TCFD) et la comparabilité du reporting.  —  Direction RSE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29800" y="5221224"/>
            <a:ext cx="1554480" cy="420624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528523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Continu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FEUILLE DE ROUTE 12 MOIS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40" b="1" i="0">
                <a:solidFill>
                  <a:srgbClr val="FFFFFF"/>
                </a:solidFill>
                <a:latin typeface="Calibri"/>
              </a:rPr>
              <a:t>Un plan d'action ESG sur 12 mois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371600"/>
            <a:ext cx="3703320" cy="822960"/>
          </a:xfrm>
          <a:prstGeom prst="round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39C12"/>
                </a:solidFill>
                <a:latin typeface="Calibri"/>
              </a:rPr>
              <a:t>0-3 mois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EC6E8"/>
                </a:solidFill>
                <a:latin typeface="Calibri"/>
              </a:rPr>
              <a:t>Quick wins &amp; fondations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2377440"/>
            <a:ext cx="3703320" cy="82296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2487168"/>
            <a:ext cx="64008" cy="60350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248716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Commander un audit ESG indépendant annuel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62072" y="2907792"/>
            <a:ext cx="1051560" cy="237744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62072" y="2926080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B3A6B"/>
                </a:solidFill>
                <a:latin typeface="Calibri"/>
              </a:rPr>
              <a:t>QUICK WIN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9392" y="1371600"/>
            <a:ext cx="3703320" cy="822960"/>
          </a:xfrm>
          <a:prstGeom prst="round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7992" y="14630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39C12"/>
                </a:solidFill>
                <a:latin typeface="Calibri"/>
              </a:rPr>
              <a:t>3-6 mois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1874519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EC6E8"/>
                </a:solidFill>
                <a:latin typeface="Calibri"/>
              </a:rPr>
              <a:t>Structuration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79392" y="2377440"/>
            <a:ext cx="3703320" cy="82296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79392" y="2487168"/>
            <a:ext cx="64008" cy="60350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5424" y="248716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Définir des objectifs chiffrés de parité femme-homme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21424" y="2907792"/>
            <a:ext cx="1051560" cy="237744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21424" y="2926080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B3A6B"/>
                </a:solidFill>
                <a:latin typeface="Calibri"/>
              </a:rPr>
              <a:t>QUICK WIN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79392" y="3310128"/>
            <a:ext cx="3703320" cy="82296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79392" y="3419856"/>
            <a:ext cx="64008" cy="60350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5424" y="3419856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Aligner la stratégie ESG sur les ODD &amp; la TCFD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38744" y="1371600"/>
            <a:ext cx="3703320" cy="822960"/>
          </a:xfrm>
          <a:prstGeom prst="round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67344" y="14630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39C12"/>
                </a:solidFill>
                <a:latin typeface="Calibri"/>
              </a:rPr>
              <a:t>6-12 mois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67344" y="1874519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EC6E8"/>
                </a:solidFill>
                <a:latin typeface="Calibri"/>
              </a:rPr>
              <a:t>Deploiement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38744" y="2377440"/>
            <a:ext cx="3703320" cy="82296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38744" y="2487168"/>
            <a:ext cx="64008" cy="60350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94776" y="248716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Augmenter la part d'énergie renouvelable à 50%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ALIGNEMENT — ODD &amp; CADRES DE RÉFÉRENCE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28" b="1" i="0">
                <a:solidFill>
                  <a:srgbClr val="FFFFFF"/>
                </a:solidFill>
                <a:latin typeface="Calibri"/>
              </a:rPr>
              <a:t>Une stratégie ESG ancrée dans les ODD de l'ONU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657600" cy="14630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ODD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8745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Énergie propre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188720"/>
            <a:ext cx="3657600" cy="1463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2801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ODD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8745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Travail décent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188720"/>
            <a:ext cx="3657600" cy="14630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2801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ODD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18745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Inégalités réduites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834640"/>
            <a:ext cx="3657600" cy="14630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292608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ODD 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5204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Conso. responsable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2834640"/>
            <a:ext cx="3657600" cy="14630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43400" y="292608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ODD 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35204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Action climatique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2834640"/>
            <a:ext cx="3657600" cy="14630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92608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ODD 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35204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Paix &amp; Institutions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572000"/>
            <a:ext cx="11640312" cy="2743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4709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C3E50"/>
                </a:solidFill>
                <a:latin typeface="Calibri"/>
              </a:rPr>
              <a:t>Cadres reportés : GRI Standards  |  TCFD  |  CSRD / DPEF  |  SFDR  |  ISO 14001 / 26000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5349240"/>
            <a:ext cx="11640312" cy="1143000"/>
          </a:xfrm>
          <a:prstGeom prst="roundRect">
            <a:avLst/>
          </a:prstGeom>
          <a:solidFill>
            <a:srgbClr val="EBF2FB"/>
          </a:solidFill>
          <a:ln w="15875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5349240"/>
            <a:ext cx="82296" cy="1143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50468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C12"/>
                </a:solidFill>
                <a:latin typeface="Calibri"/>
              </a:rPr>
              <a:t>LECTURE MÉTIER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5216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C3E50"/>
                </a:solidFill>
                <a:latin typeface="Calibri"/>
              </a:rPr>
              <a:t>L'alignement sur les ODD et les cadres GRI, TCFD et CSRD garantit la comparabilité du reporting et répond aux attentes des investisseurs et des régulateurs.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00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Conclusion &amp; Engagements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481328"/>
            <a:ext cx="1645920" cy="5486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Acme Industries affiche un profil ESG solide (66/100, A), porté par la gouvernance (75/100) ; le social (55/100) concentre le potentiel de progression.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246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NOS ENGAGEMENTS PRIORITAIRES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79476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39C12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8404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Augmenter la part d'énergie renouvelable à 50%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386791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AEC6E8"/>
                </a:solidFill>
                <a:latin typeface="Calibri"/>
              </a:rPr>
              <a:t>2027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54480" y="4453128"/>
            <a:ext cx="10149840" cy="10972"/>
          </a:xfrm>
          <a:prstGeom prst="rect">
            <a:avLst/>
          </a:prstGeom>
          <a:solidFill>
            <a:srgbClr val="555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581144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39C12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6268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Définir des objectifs chiffrés de parité femme-homme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465429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AEC6E8"/>
                </a:solidFill>
                <a:latin typeface="Calibri"/>
              </a:rPr>
              <a:t>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5239512"/>
            <a:ext cx="10149840" cy="10972"/>
          </a:xfrm>
          <a:prstGeom prst="rect">
            <a:avLst/>
          </a:prstGeom>
          <a:solidFill>
            <a:srgbClr val="555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367528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39C12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41324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Commander un audit ESG indépendant annuel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54406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AEC6E8"/>
                </a:solidFill>
                <a:latin typeface="Calibri"/>
              </a:rPr>
              <a:t>Annuel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EC6E8"/>
                </a:solidFill>
                <a:latin typeface="Calibri"/>
              </a:rPr>
              <a:t>© 2025 Acme Industries — Document confidentiel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