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88952" cy="19202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RAPPORT ESG — SYNTHÈSE EXÉCUTIVE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ACME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82880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6576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AEC6E8"/>
                </a:solidFill>
                <a:latin typeface="Calibri"/>
              </a:rPr>
              <a:t>Une performance ESG solide et engagée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6E8"/>
                </a:solidFill>
                <a:latin typeface="Calibri"/>
              </a:rPr>
              <a:t>Exercice 2025   |   Industrie manufacturière   |   France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8920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200" b="1" i="0">
                <a:solidFill>
                  <a:srgbClr val="F39C12"/>
                </a:solidFill>
                <a:latin typeface="Calibri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72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EC6E8"/>
                </a:solidFill>
                <a:latin typeface="Calibri"/>
              </a:rPr>
              <a:t>/100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5074920"/>
            <a:ext cx="1417320" cy="8686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5193792"/>
            <a:ext cx="1417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B3A6B"/>
                </a:solidFill>
                <a:latin typeface="Calibri"/>
              </a:rPr>
              <a:t>BBB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8"/>
                </a:solidFill>
                <a:latin typeface="Calibri"/>
              </a:rPr>
              <a:t>Présenté par J. Martin — Directrice Générale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  <a:latin typeface="Calibri"/>
              </a:rPr>
              <a:t>LE MOT DE LA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EBF2FB"/>
                </a:solidFill>
                <a:latin typeface="Calibri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03120"/>
            <a:ext cx="88971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Calibri"/>
              </a:rPr>
              <a:t>« La performance durable est au cœur de notre stratégie industrielle : chaque euro investi doit créer de la valeur pour nos clients et pour la planète. 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6" y="5212080"/>
            <a:ext cx="137160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440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EC6E8"/>
                </a:solidFill>
                <a:latin typeface="Calibri"/>
              </a:rPr>
              <a:t>J. Martin — Directrice Générale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C3E50"/>
                </a:solidFill>
                <a:latin typeface="Calibri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SITUATION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Synthèse Exécutive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Environnemental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Gouvernance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DIAGNOSTIC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Benchmark Sectoriel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Risques &amp; Opportunités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Analyse Stratégique ESG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PLAN D'ACTION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Recommandations Prioritaires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Un plan d'action ESG sur 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Alignement — ODD &amp; Cadres de Référence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Conclusion &amp; Engagements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43400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70248" y="0"/>
            <a:ext cx="7315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SYNTHÈSE ESG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691640"/>
            <a:ext cx="39776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0" b="1" i="0">
                <a:solidFill>
                  <a:srgbClr val="FFFFFF"/>
                </a:solidFill>
                <a:latin typeface="Calibri"/>
              </a:rPr>
              <a:t>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611880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EC6E8"/>
                </a:solidFill>
                <a:latin typeface="Calibri"/>
              </a:rPr>
              <a:t>/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4343400"/>
            <a:ext cx="1508760" cy="7772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48056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B3A6B"/>
                </a:solidFill>
                <a:latin typeface="Calibri"/>
              </a:rPr>
              <a:t>BBB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534924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EC6E8"/>
                </a:solidFill>
                <a:latin typeface="Calibri"/>
              </a:rPr>
              <a:t>SCORE ESG 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576072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50"/>
                </a:solidFill>
                <a:latin typeface="Calibri"/>
              </a:rPr>
              <a:t>+9 pts  vs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9436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3E50"/>
                </a:solidFill>
                <a:latin typeface="Calibri"/>
              </a:rPr>
              <a:t>Synthèse Exécutive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82312" y="1481328"/>
            <a:ext cx="146304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7178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Acme Industries affiche un profil ESG solide (64/100, BBB), porté par l'environnement (70/100) ; le social (55/100) concentre le potentiel de progression.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PERFORMANCE PAR PILIER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0332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Environnement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70332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7AE60"/>
                </a:solidFill>
                <a:latin typeface="Calibri"/>
              </a:rPr>
              <a:t>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032504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4032504"/>
            <a:ext cx="2176272" cy="15544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5445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Social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54456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86C1"/>
                </a:solidFill>
                <a:latin typeface="Calibri"/>
              </a:rPr>
              <a:t>55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873752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4873752"/>
            <a:ext cx="1709928" cy="155448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858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858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E44AD"/>
                </a:solidFill>
                <a:latin typeface="Calibri"/>
              </a:rPr>
              <a:t>68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5715000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5715000"/>
            <a:ext cx="2123419" cy="155448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3246120"/>
            <a:ext cx="3841459" cy="3246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L'ANALYSE DU CONSULTANT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2C3E50"/>
                </a:solidFill>
                <a:latin typeface="Calibri"/>
              </a:rPr>
              <a:t>Priorité 2026 : fiabiliser le reporting énergie avant l'audit de certification prévu au T3. Le reste de la trajectoire est tenu.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J. Martin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Où vous situez-vous, et face à qui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BENCHMARK SECTORIEL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Acme Industries surperforme son secteur de 9 points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6858000" cy="42198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600200"/>
            <a:ext cx="4434840" cy="21488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600200"/>
            <a:ext cx="82296" cy="2148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764792"/>
            <a:ext cx="3977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14884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E50"/>
                </a:solidFill>
                <a:latin typeface="Calibri"/>
              </a:rPr>
              <a:t>Votre avance se joue sur l'environnement (+18 pts vs secteur) ; le social (-1 pts) est l'écart à combler en priorité.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40233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MATURITÉ ESG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4434840"/>
            <a:ext cx="841248" cy="45720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0696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0696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36808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36808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029200"/>
            <a:ext cx="4434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Structurée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440680"/>
            <a:ext cx="4434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Pour franchir le cap suivant : faire auditer le reporting.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  <a:latin typeface="Calibri"/>
              </a:rPr>
              <a:t>Référence sectorielle interne — marché ETI/PME.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TRAJECTOIRE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ESG mesurée exercice après exercice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2089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30936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93"/>
                </a:solidFill>
                <a:latin typeface="Calibri"/>
              </a:rPr>
              <a:t>Évolution pluriannuelle du score ESG (global et par pilier)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BENCHMARK SECTORIEL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Analyse des écarts réglementaires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Bilan GES Scopes 1 &amp;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472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45389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50876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38988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Émissions mesurées et publiées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Émissions de la chaîne de valeur (Scope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9397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07568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3055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01168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Scope 3 mesuré et publié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9464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3347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Vérification du reporting par un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CSRD (assurance limitée)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2697480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75234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63347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Aucune assurance externe à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Supervision de la durabilité par la 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2 GOV-1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3319272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337413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255264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Comité de durabilité en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87705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Mixité des effectifs (cible 40 %)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9593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Index égalité / ESRS S1-9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941064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399592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877056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34 % de femmes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498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Indépendance du conseil (seuil 50 %)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4581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AFEP-MEDEF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78040" y="4562856"/>
            <a:ext cx="160020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78040" y="461772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49884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45 % d'administrateurs indépendants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56632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Publication des indicateurs Taxonomie 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52029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Règlement (UE) 2020/852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18464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523951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512064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Parts alignées publiées (CA/CapEx/OpEx)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74243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Objectifs climatiques chiffrés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58247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78040" y="5806440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586130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574243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Trajectoire -42 % à 2030 définie (réf. SBTi)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8895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0" b="1" i="0">
                <a:solidFill>
                  <a:srgbClr val="F39C12"/>
                </a:solidFill>
                <a:latin typeface="Calibri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0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9204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6E8"/>
                </a:solidFill>
                <a:latin typeface="Calibri"/>
              </a:rPr>
              <a:t>des émissions relèvent du Scope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516" y="562356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852160"/>
            <a:ext cx="8897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La chaîne de valeur, principal terrain d'action climat.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ENVIRONNEMENTAL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Un bilan carbone complet, socle de la trajectoire climat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8,200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Émissions CO2 totales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Énergie renouvelable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14,500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Consommation (MWh)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120,000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Eau prélevée (m3)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environnementale solide, au-dessus de la moyenne sectorielle ; l'intensité carbone reste le principal levier de création de valeur durable.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72" b="1" i="0">
                <a:solidFill>
                  <a:srgbClr val="FFFFFF"/>
                </a:solidFill>
                <a:latin typeface="Calibri"/>
              </a:rPr>
              <a:t>La sécurité au travail (TF 6.2), priorité à traiter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Effectif 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dans l'effectif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22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Formation / 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6.2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Taux fréquence accidents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sociale en construction : parité et sécurité au travail appellent des objectifs chiffrés pour fidéliser les talents.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GOUVERNANCE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L'assurance ESG indépendante, priorité de la gouvernance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Membres du Conseil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29%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au 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Administrateurs indépendants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Audit ESG indépendant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8E44AD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Gouvernance robuste ; l'assurance externe et le comité de durabilité consolident la crédibilité du reporting.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DOUBLE MATÉRIALITÉ — CSRD / ESRS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Le changement climatique concentre les enjeux ESG prioritaires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7394055" cy="44805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828800"/>
            <a:ext cx="3337560" cy="402336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828800"/>
            <a:ext cx="82296" cy="4023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201168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46888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Enjeux ESG positionnés selon leur impact et leur importance financière. Le quadrant supérieur droit concentre les priorités stratégiques.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OBJECTIFS &amp; TRAJECTOIRE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de -42 % des émissions d'ici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39C12"/>
                </a:solidFill>
                <a:latin typeface="Calibri"/>
              </a:rPr>
              <a:t>-42%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Réduction des émissions CO₂ visée d'ici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Objectif 2030 : 4,756 t CO₂e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4892040" cy="16916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82296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Trajectoire alignée sur l'objectif 1,5°C de l'Accord de Paris (méthodologie Science Based Targets), avec un suivi annuel piloté par la gouvernance ESG.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03120"/>
            <a:ext cx="6035040" cy="298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TAXONOMIE EUROPÉENNE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52 % des investissements (CapEx) déjà alignés à la Taxonomie 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27AE60"/>
                </a:solidFill>
                <a:latin typeface="Calibri"/>
              </a:rPr>
              <a:t>52%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Part maximale d'activités alignées à la Taxonomie 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97680"/>
            <a:ext cx="4892040" cy="210312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82296" cy="2103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62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4434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Ces indicateurs traduisent une contribution substantielle à un objectif environnemental, dans le respect du principe DNSH et des garanties minimales sociales. Le CapEx aligné reflète la trajectoire d'investissement bas-carbone.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6000"/>
            <a:ext cx="6126480" cy="27284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ANALYSE STRATÉGIQUE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3 forces établies, 5 leviers de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7AE60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POINTS FORTS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770632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Excellente performance environnementale globale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483864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Comité de durabilité opérationnel au niveau du CA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197096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complet des émissions Scope 1, 2 et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74C3C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2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AXES D'AMÉLIORATION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9672" y="24231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2770632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67144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Énergie renouvelable à renforcer (actuellement 42%, objectif 50%)</a:t>
            </a:r>
          </a:p>
        </p:txBody>
      </p:sp>
      <p:sp>
        <p:nvSpPr>
          <p:cNvPr id="23" name="Oval 22"/>
          <p:cNvSpPr/>
          <p:nvPr/>
        </p:nvSpPr>
        <p:spPr>
          <a:xfrm>
            <a:off x="6537960" y="3483864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Déséquilibre de genre dans les effectifs (34% femmes — objectif 40%)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4197096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67144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Taux d'accidents supérieur aux standards sectoriels (TF 6.2)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4910328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67144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Une violation de données — cybersécurité à renforcer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5623560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67144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Absence d'audit ESG indépendant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RISQUES &amp; OPPORTUNITÉS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Où se concentrent vos risques et vos leviers de valeur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RISQUES MAJEURS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1161288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161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Fiabilité</a:t>
            </a:r>
          </a:p>
        </p:txBody>
      </p:sp>
      <p:sp>
        <p:nvSpPr>
          <p:cNvPr id="14" name="Oval 13"/>
          <p:cNvSpPr/>
          <p:nvPr/>
        </p:nvSpPr>
        <p:spPr>
          <a:xfrm>
            <a:off x="5257800" y="246888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49631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non audité : crédibilité limitée auprès des investisseurs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463040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Opérationnel</a:t>
            </a:r>
          </a:p>
        </p:txBody>
      </p:sp>
      <p:sp>
        <p:nvSpPr>
          <p:cNvPr id="19" name="Oval 18"/>
          <p:cNvSpPr/>
          <p:nvPr/>
        </p:nvSpPr>
        <p:spPr>
          <a:xfrm>
            <a:off x="5257800" y="342900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345643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Sinistralité au-dessus des standards : risque humain et social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89120"/>
            <a:ext cx="1261872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07408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Transition</a:t>
            </a:r>
          </a:p>
        </p:txBody>
      </p:sp>
      <p:sp>
        <p:nvSpPr>
          <p:cNvPr id="24" name="Oval 23"/>
          <p:cNvSpPr/>
          <p:nvPr/>
        </p:nvSpPr>
        <p:spPr>
          <a:xfrm>
            <a:off x="5257800" y="438912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Intensité carbone élevée : marge exposée à la tarification du carbone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49240"/>
            <a:ext cx="1563624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67528"/>
            <a:ext cx="1563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Réglementaire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534924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537667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sous la cible : risque réglementaire et d'attractivité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19672" y="1371600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OPPORTUNITÉS MAJEURES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19672" y="21945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246888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248716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Activités alignées Taxonomie : éligibilité aux financements verts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9672" y="3429000"/>
            <a:ext cx="758952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3447288"/>
            <a:ext cx="758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Coûts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Mix renouvelable engagé : réduction des coûts énergétiques à terme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19672" y="4389120"/>
            <a:ext cx="960120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40740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Talents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672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Politique sociale : marque employeur et rétention des talents renforcées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19672" y="5349240"/>
            <a:ext cx="758952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19672" y="5367528"/>
            <a:ext cx="758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Coûts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9672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Économie circulaire : baisse des coûts matières et déchets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PLAN D'ACTION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Quoi faire, dans quel ordre, sous quel horizon.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Par où commencer : l'effort au regard de l'impact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8412480" cy="48964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971800" cy="42062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82296" cy="4206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71432" y="17830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194560"/>
            <a:ext cx="2514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Trois actions combinent fort impact et effort limité — les actions 2, 3 et 4 — et peuvent être lancées immédiatement à moyens constants. Le chantier structurant du quadrant haut-droit justifie un budget et un responsable dédiés : il porte l'essentiel du potentiel de progression du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Recommandations Prioritaires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Plan d'action priorisé — chaque levier, son bénéfice attendu et son horizon de mise en œuvre.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002536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9280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Réduit les émissions Scope 2 et l'exposition aux prix de l'énergie ; contribue directement à la trajectoire SBTi.  —  Direction des opérations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2039112"/>
            <a:ext cx="1554480" cy="42062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535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46704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la diversité et la conformité (loi Rixain, transparence salariale UE) ; améliore l'attractivité employeur.  —  Direction des ressources humaines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3099816"/>
            <a:ext cx="1554480" cy="420624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316382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04488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88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01421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0740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Apporte l'assurance d'un tiers désormais requise par la CSRD ; renforce la confiance des investisseurs.  —  Direction générale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4160520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4224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Annuel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65192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749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46811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l'alignement sur les cadres de référence (ODD, TCFD) et la comparabilité du reporting.  —  Direction RSE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5221224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52852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Continu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FEUILLE DE ROUTE 12 MOIS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Un plan d'action ESG sur 12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0-3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Quick wins &amp; fondations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487168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3-6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Structuration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2487168"/>
            <a:ext cx="64008" cy="60350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1424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9392" y="3310128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419856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341985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6-12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Deploiement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38744" y="2487168"/>
            <a:ext cx="64008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94776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— ODD &amp; CADRES DE 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stratégie ESG ancrée dans les ODD de l'ONU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657600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Énergie propre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657600" cy="1463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Travail décent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Inégalités réduites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Conso. responsable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Action climatique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83464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Paix &amp; Institutions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72000"/>
            <a:ext cx="11640312" cy="2743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709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3E50"/>
                </a:solidFill>
                <a:latin typeface="Calibri"/>
              </a:rPr>
              <a:t>Cadres reportés : GRI Standards  |  TCFD  |  CSRD / DPEF  |  SFDR  |  ISO 14001 / 26000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5349240"/>
            <a:ext cx="11640312" cy="114300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349240"/>
            <a:ext cx="82296" cy="1143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046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L'alignement sur les ODD et les cadres GRI, TCFD et CSRD garantit la comparabilité du reporting et répond aux attentes des investisseurs et des régulateurs.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 &amp; Engagements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481328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Acme Industries affiche un profil ESG solide (64/100, BBB), porté par l'environnement (70/100) ; le social (55/100) concentre le potentiel de progression.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NOS ENGAGEMENTS PRIORITAIRES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94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38679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4453128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81144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268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4654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5239512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3675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132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5440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Annuel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EC6E8"/>
                </a:solidFill>
                <a:latin typeface="Calibri"/>
              </a:rPr>
              <a:t>© 2025 Acme Industries — Document confidentiel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