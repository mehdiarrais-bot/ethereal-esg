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F39C12"/>
                </a:solidFill>
                <a:latin typeface="Calibr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FFFFF"/>
                </a:solidFill>
                <a:latin typeface="Calibri"/>
              </a:rPr>
              <a:t>ACME INDUSTRIES</a:t>
            </a:r>
          </a:p>
        </p:txBody>
      </p:sp>
      <p:sp>
        <p:nvSpPr>
          <p:cNvPr id="7" name="Rectangle 6"/>
          <p:cNvSpPr/>
          <p:nvPr/>
        </p:nvSpPr>
        <p:spPr>
          <a:xfrm>
            <a:off x="594360" y="3429000"/>
            <a:ext cx="182880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AEC6E8"/>
                </a:solidFill>
                <a:latin typeface="Calibr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AEC6E8"/>
                </a:solidFill>
                <a:latin typeface="Calibr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F39C12"/>
                </a:solidFill>
                <a:latin typeface="Calibri"/>
              </a:rPr>
              <a:t>66</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AEC6E8"/>
                </a:solidFill>
                <a:latin typeface="Calibri"/>
              </a:rPr>
              <a:t>/100</a:t>
            </a:r>
          </a:p>
        </p:txBody>
      </p:sp>
      <p:sp>
        <p:nvSpPr>
          <p:cNvPr id="12" name="Rounded Rectangle 11"/>
          <p:cNvSpPr/>
          <p:nvPr/>
        </p:nvSpPr>
        <p:spPr>
          <a:xfrm>
            <a:off x="10241280" y="5074920"/>
            <a:ext cx="1417320" cy="86868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B3A6B"/>
                </a:solidFill>
                <a:latin typeface="Calibri"/>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AEC6E8"/>
                </a:solidFill>
                <a:latin typeface="Calibr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2C3E50"/>
                </a:solidFill>
                <a:latin typeface="Calibri"/>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6B7C93"/>
                </a:solidFill>
                <a:latin typeface="Calibr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F39C12"/>
                </a:solidFill>
                <a:latin typeface="Calibr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BF2FB"/>
                </a:solidFill>
                <a:latin typeface="Calibri"/>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FFFFF"/>
                </a:solidFill>
                <a:latin typeface="Calibri"/>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AEC6E8"/>
                </a:solidFill>
                <a:latin typeface="Calibr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2C3E50"/>
                </a:solidFill>
                <a:latin typeface="Calibri"/>
              </a:rPr>
              <a:t>SOMMAIRE</a:t>
            </a:r>
          </a:p>
        </p:txBody>
      </p:sp>
      <p:sp>
        <p:nvSpPr>
          <p:cNvPr id="5" name="Rectangle 4"/>
          <p:cNvSpPr/>
          <p:nvPr/>
        </p:nvSpPr>
        <p:spPr>
          <a:xfrm>
            <a:off x="640080" y="1325880"/>
            <a:ext cx="164592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F39C12"/>
                </a:solidFill>
                <a:latin typeface="Calibri"/>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2C3E50"/>
                </a:solidFill>
                <a:latin typeface="Calibri"/>
              </a:rPr>
              <a:t>SITUATION</a:t>
            </a:r>
          </a:p>
        </p:txBody>
      </p:sp>
      <p:sp>
        <p:nvSpPr>
          <p:cNvPr id="9" name="Rectangle 8"/>
          <p:cNvSpPr/>
          <p:nvPr/>
        </p:nvSpPr>
        <p:spPr>
          <a:xfrm>
            <a:off x="914400" y="3520440"/>
            <a:ext cx="2971800" cy="1828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2C3E50"/>
                </a:solidFill>
                <a:latin typeface="Calibr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2C3E50"/>
                </a:solidFill>
                <a:latin typeface="Calibr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2C3E50"/>
                </a:solidFill>
                <a:latin typeface="Calibr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2C3E50"/>
                </a:solidFill>
                <a:latin typeface="Calibri"/>
              </a:rPr>
              <a:t>—  Pilier Gouvernance</a:t>
            </a:r>
          </a:p>
        </p:txBody>
      </p:sp>
      <p:sp>
        <p:nvSpPr>
          <p:cNvPr id="14" name="Rectangle 13"/>
          <p:cNvSpPr/>
          <p:nvPr/>
        </p:nvSpPr>
        <p:spPr>
          <a:xfrm>
            <a:off x="4434840" y="1920240"/>
            <a:ext cx="3611880" cy="4206240"/>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F39C12"/>
                </a:solidFill>
                <a:latin typeface="Calibri"/>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2C3E50"/>
                </a:solidFill>
                <a:latin typeface="Calibri"/>
              </a:rPr>
              <a:t>DIAGNOSTIC</a:t>
            </a:r>
          </a:p>
        </p:txBody>
      </p:sp>
      <p:sp>
        <p:nvSpPr>
          <p:cNvPr id="17" name="Rectangle 16"/>
          <p:cNvSpPr/>
          <p:nvPr/>
        </p:nvSpPr>
        <p:spPr>
          <a:xfrm>
            <a:off x="4754880" y="3520440"/>
            <a:ext cx="2971800" cy="1828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2C3E50"/>
                </a:solidFill>
                <a:latin typeface="Calibr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2C3E50"/>
                </a:solidFill>
                <a:latin typeface="Calibr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2C3E50"/>
                </a:solidFill>
                <a:latin typeface="Calibri"/>
              </a:rPr>
              <a:t>—  Analyse Stratégique ESG</a:t>
            </a:r>
          </a:p>
        </p:txBody>
      </p:sp>
      <p:sp>
        <p:nvSpPr>
          <p:cNvPr id="21" name="Rectangle 20"/>
          <p:cNvSpPr/>
          <p:nvPr/>
        </p:nvSpPr>
        <p:spPr>
          <a:xfrm>
            <a:off x="8275320" y="1920240"/>
            <a:ext cx="3611880" cy="4206240"/>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F39C12"/>
                </a:solidFill>
                <a:latin typeface="Calibri"/>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2C3E50"/>
                </a:solidFill>
                <a:latin typeface="Calibri"/>
              </a:rPr>
              <a:t>PLAN D'ACTION</a:t>
            </a:r>
          </a:p>
        </p:txBody>
      </p:sp>
      <p:sp>
        <p:nvSpPr>
          <p:cNvPr id="24" name="Rectangle 23"/>
          <p:cNvSpPr/>
          <p:nvPr/>
        </p:nvSpPr>
        <p:spPr>
          <a:xfrm>
            <a:off x="8595360" y="3520440"/>
            <a:ext cx="2971800" cy="1828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2C3E50"/>
                </a:solidFill>
                <a:latin typeface="Calibr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2C3E50"/>
                </a:solidFill>
                <a:latin typeface="Calibr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2C3E50"/>
                </a:solidFill>
                <a:latin typeface="Calibr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F39C12"/>
                </a:solidFill>
                <a:latin typeface="Calibr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Calibri"/>
              </a:rPr>
              <a:t>66</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AEC6E8"/>
                </a:solidFill>
                <a:latin typeface="Calibri"/>
              </a:rPr>
              <a:t>/ 100</a:t>
            </a:r>
          </a:p>
        </p:txBody>
      </p:sp>
      <p:sp>
        <p:nvSpPr>
          <p:cNvPr id="8" name="Rounded Rectangle 7"/>
          <p:cNvSpPr/>
          <p:nvPr/>
        </p:nvSpPr>
        <p:spPr>
          <a:xfrm>
            <a:off x="1417320" y="4343400"/>
            <a:ext cx="1508760" cy="77724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B3A6B"/>
                </a:solidFill>
                <a:latin typeface="Calibri"/>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AEC6E8"/>
                </a:solidFill>
                <a:latin typeface="Calibr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Calibri"/>
              </a:rPr>
              <a:t>+10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2C3E50"/>
                </a:solidFill>
                <a:latin typeface="Calibri"/>
              </a:rPr>
              <a:t>Synthèse Exécutive</a:t>
            </a:r>
          </a:p>
        </p:txBody>
      </p:sp>
      <p:sp>
        <p:nvSpPr>
          <p:cNvPr id="13" name="Rectangle 12"/>
          <p:cNvSpPr/>
          <p:nvPr/>
        </p:nvSpPr>
        <p:spPr>
          <a:xfrm>
            <a:off x="4782312" y="1481328"/>
            <a:ext cx="146304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2C3E50"/>
                </a:solidFill>
                <a:latin typeface="Calibri"/>
              </a:rPr>
              <a:t>Acme Industries affiche un profil ESG solide (66/100, A), porté par la gouvernance (75/100) ; le social (55/100)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6B7C93"/>
                </a:solidFill>
                <a:latin typeface="Calibr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2C3E50"/>
                </a:solidFill>
                <a:latin typeface="Calibri"/>
              </a:rPr>
              <a:t>Environnement</a:t>
            </a:r>
          </a:p>
        </p:txBody>
      </p:sp>
      <p:sp>
        <p:nvSpPr>
          <p:cNvPr id="17" name="TextBox 16"/>
          <p:cNvSpPr txBox="1"/>
          <p:nvPr/>
        </p:nvSpPr>
        <p:spPr>
          <a:xfrm>
            <a:off x="7315200" y="3703320"/>
            <a:ext cx="548640" cy="292608"/>
          </a:xfrm>
          <a:prstGeom prst="rect">
            <a:avLst/>
          </a:prstGeom>
          <a:noFill/>
        </p:spPr>
        <p:txBody>
          <a:bodyPr wrap="square">
            <a:spAutoFit/>
          </a:bodyPr>
          <a:lstStyle/>
          <a:p>
            <a:pPr algn="r"/>
            <a:r>
              <a:rPr sz="1300" b="1" i="0">
                <a:solidFill>
                  <a:srgbClr val="27AE60"/>
                </a:solidFill>
                <a:latin typeface="Calibri"/>
              </a:rPr>
              <a:t>70</a:t>
            </a:r>
          </a:p>
        </p:txBody>
      </p:sp>
      <p:sp>
        <p:nvSpPr>
          <p:cNvPr id="18" name="Rounded Rectangle 17"/>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754880" y="4032504"/>
            <a:ext cx="2176272" cy="15544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0" y="4544568"/>
            <a:ext cx="3108960" cy="292608"/>
          </a:xfrm>
          <a:prstGeom prst="rect">
            <a:avLst/>
          </a:prstGeom>
          <a:noFill/>
        </p:spPr>
        <p:txBody>
          <a:bodyPr wrap="square">
            <a:spAutoFit/>
          </a:bodyPr>
          <a:lstStyle/>
          <a:p>
            <a:pPr algn="l"/>
            <a:r>
              <a:rPr sz="1250" b="1" i="0">
                <a:solidFill>
                  <a:srgbClr val="2C3E50"/>
                </a:solidFill>
                <a:latin typeface="Calibri"/>
              </a:rPr>
              <a:t>Social</a:t>
            </a:r>
          </a:p>
        </p:txBody>
      </p:sp>
      <p:sp>
        <p:nvSpPr>
          <p:cNvPr id="21" name="TextBox 20"/>
          <p:cNvSpPr txBox="1"/>
          <p:nvPr/>
        </p:nvSpPr>
        <p:spPr>
          <a:xfrm>
            <a:off x="7315200" y="4544568"/>
            <a:ext cx="548640" cy="292608"/>
          </a:xfrm>
          <a:prstGeom prst="rect">
            <a:avLst/>
          </a:prstGeom>
          <a:noFill/>
        </p:spPr>
        <p:txBody>
          <a:bodyPr wrap="square">
            <a:spAutoFit/>
          </a:bodyPr>
          <a:lstStyle/>
          <a:p>
            <a:pPr algn="r"/>
            <a:r>
              <a:rPr sz="1300" b="1" i="0">
                <a:solidFill>
                  <a:srgbClr val="2E86C1"/>
                </a:solidFill>
                <a:latin typeface="Calibri"/>
              </a:rPr>
              <a:t>55</a:t>
            </a:r>
          </a:p>
        </p:txBody>
      </p:sp>
      <p:sp>
        <p:nvSpPr>
          <p:cNvPr id="22" name="Rounded Rectangle 21"/>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0" y="4873752"/>
            <a:ext cx="1709928" cy="155448"/>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5385816"/>
            <a:ext cx="3108960" cy="292608"/>
          </a:xfrm>
          <a:prstGeom prst="rect">
            <a:avLst/>
          </a:prstGeom>
          <a:noFill/>
        </p:spPr>
        <p:txBody>
          <a:bodyPr wrap="square">
            <a:spAutoFit/>
          </a:bodyPr>
          <a:lstStyle/>
          <a:p>
            <a:pPr algn="l"/>
            <a:r>
              <a:rPr sz="1250" b="1" i="0">
                <a:solidFill>
                  <a:srgbClr val="2C3E50"/>
                </a:solidFill>
                <a:latin typeface="Calibri"/>
              </a:rPr>
              <a:t>Gouvernance</a:t>
            </a:r>
          </a:p>
        </p:txBody>
      </p:sp>
      <p:sp>
        <p:nvSpPr>
          <p:cNvPr id="25" name="TextBox 24"/>
          <p:cNvSpPr txBox="1"/>
          <p:nvPr/>
        </p:nvSpPr>
        <p:spPr>
          <a:xfrm>
            <a:off x="7315200" y="5385816"/>
            <a:ext cx="548640" cy="292608"/>
          </a:xfrm>
          <a:prstGeom prst="rect">
            <a:avLst/>
          </a:prstGeom>
          <a:noFill/>
        </p:spPr>
        <p:txBody>
          <a:bodyPr wrap="square">
            <a:spAutoFit/>
          </a:bodyPr>
          <a:lstStyle/>
          <a:p>
            <a:pPr algn="r"/>
            <a:r>
              <a:rPr sz="1300" b="1" i="0">
                <a:solidFill>
                  <a:srgbClr val="8E44AD"/>
                </a:solidFill>
                <a:latin typeface="Calibri"/>
              </a:rPr>
              <a:t>75</a:t>
            </a:r>
          </a:p>
        </p:txBody>
      </p:sp>
      <p:sp>
        <p:nvSpPr>
          <p:cNvPr id="26" name="Rounded Rectangle 25"/>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754880" y="5715000"/>
            <a:ext cx="2331720" cy="155448"/>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F39C12"/>
                </a:solidFill>
                <a:latin typeface="Calibri"/>
              </a:rPr>
              <a:t>L'ANALYSE DU CONSULTANT</a:t>
            </a:r>
          </a:p>
        </p:txBody>
      </p:sp>
      <p:sp>
        <p:nvSpPr>
          <p:cNvPr id="5" name="Rectangle 4"/>
          <p:cNvSpPr/>
          <p:nvPr/>
        </p:nvSpPr>
        <p:spPr>
          <a:xfrm>
            <a:off x="685800" y="1325880"/>
            <a:ext cx="1645920" cy="4572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2C3E50"/>
                </a:solidFill>
                <a:latin typeface="Calibri"/>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6B7C93"/>
                </a:solidFill>
                <a:latin typeface="Calibr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BF2FB"/>
                </a:solidFill>
                <a:latin typeface="Calibri"/>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FFFFF"/>
                </a:solidFill>
                <a:latin typeface="Calibri"/>
              </a:rPr>
              <a:t>DIAGNOSTIC</a:t>
            </a:r>
          </a:p>
        </p:txBody>
      </p:sp>
      <p:sp>
        <p:nvSpPr>
          <p:cNvPr id="6" name="Rectangle 5"/>
          <p:cNvSpPr/>
          <p:nvPr/>
        </p:nvSpPr>
        <p:spPr>
          <a:xfrm>
            <a:off x="685800" y="3977639"/>
            <a:ext cx="2011680" cy="73152"/>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AEC6E8"/>
                </a:solidFill>
                <a:latin typeface="Calibr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POSITIONNEMENT</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La gouvernance est le point fort d'Acme Industries, le social sa priorité</a:t>
            </a:r>
          </a:p>
        </p:txBody>
      </p:sp>
      <p:pic>
        <p:nvPicPr>
          <p:cNvPr id="7" name="Picture 6" descr="image.png"/>
          <p:cNvPicPr>
            <a:picLocks noChangeAspect="1"/>
          </p:cNvPicPr>
          <p:nvPr/>
        </p:nvPicPr>
        <p:blipFill>
          <a:blip r:embed="rId2"/>
          <a:stretch>
            <a:fillRect/>
          </a:stretch>
        </p:blipFill>
        <p:spPr>
          <a:xfrm>
            <a:off x="320040" y="1554480"/>
            <a:ext cx="6858000" cy="4213575"/>
          </a:xfrm>
          <a:prstGeom prst="rect">
            <a:avLst/>
          </a:prstGeom>
        </p:spPr>
      </p:pic>
      <p:sp>
        <p:nvSpPr>
          <p:cNvPr id="8" name="Rounded Rectangle 7"/>
          <p:cNvSpPr/>
          <p:nvPr/>
        </p:nvSpPr>
        <p:spPr>
          <a:xfrm>
            <a:off x="7452360" y="1600200"/>
            <a:ext cx="4434840" cy="2148840"/>
          </a:xfrm>
          <a:prstGeom prst="roundRect">
            <a:avLst/>
          </a:prstGeom>
          <a:solidFill>
            <a:srgbClr val="EBF2FB"/>
          </a:solidFill>
          <a:ln w="15875">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600200"/>
            <a:ext cx="82296" cy="214884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80" y="1764792"/>
            <a:ext cx="3977640" cy="320040"/>
          </a:xfrm>
          <a:prstGeom prst="rect">
            <a:avLst/>
          </a:prstGeom>
          <a:noFill/>
        </p:spPr>
        <p:txBody>
          <a:bodyPr wrap="square">
            <a:spAutoFit/>
          </a:bodyPr>
          <a:lstStyle/>
          <a:p>
            <a:pPr algn="l"/>
            <a:r>
              <a:rPr sz="1200" b="1" i="0">
                <a:solidFill>
                  <a:srgbClr val="F39C12"/>
                </a:solidFill>
                <a:latin typeface="Calibri"/>
              </a:rPr>
              <a:t>LECTURE MÉTIER</a:t>
            </a:r>
          </a:p>
        </p:txBody>
      </p:sp>
      <p:sp>
        <p:nvSpPr>
          <p:cNvPr id="11" name="TextBox 10"/>
          <p:cNvSpPr txBox="1"/>
          <p:nvPr/>
        </p:nvSpPr>
        <p:spPr>
          <a:xfrm>
            <a:off x="7726680" y="2148840"/>
            <a:ext cx="3931920" cy="1554480"/>
          </a:xfrm>
          <a:prstGeom prst="rect">
            <a:avLst/>
          </a:prstGeom>
          <a:noFill/>
        </p:spPr>
        <p:txBody>
          <a:bodyPr wrap="square">
            <a:spAutoFit/>
          </a:bodyPr>
          <a:lstStyle/>
          <a:p>
            <a:pPr algn="l"/>
            <a:r>
              <a:rPr sz="1400" b="0" i="0">
                <a:solidFill>
                  <a:srgbClr val="2C3E50"/>
                </a:solidFill>
                <a:latin typeface="Calibri"/>
              </a:rPr>
              <a:t>20 points séparent votre pilier le plus solide du plus fragile — l'écart interne à réduire en priorité.</a:t>
            </a:r>
          </a:p>
        </p:txBody>
      </p:sp>
      <p:sp>
        <p:nvSpPr>
          <p:cNvPr id="12" name="TextBox 11"/>
          <p:cNvSpPr txBox="1"/>
          <p:nvPr/>
        </p:nvSpPr>
        <p:spPr>
          <a:xfrm>
            <a:off x="7470648" y="4023360"/>
            <a:ext cx="4434840" cy="320040"/>
          </a:xfrm>
          <a:prstGeom prst="rect">
            <a:avLst/>
          </a:prstGeom>
          <a:noFill/>
        </p:spPr>
        <p:txBody>
          <a:bodyPr wrap="square">
            <a:spAutoFit/>
          </a:bodyPr>
          <a:lstStyle/>
          <a:p>
            <a:pPr algn="l"/>
            <a:r>
              <a:rPr sz="1200" b="1" i="0">
                <a:solidFill>
                  <a:srgbClr val="6B7C93"/>
                </a:solidFill>
                <a:latin typeface="Calibri"/>
              </a:rPr>
              <a:t>MATURITÉ ESG</a:t>
            </a:r>
          </a:p>
        </p:txBody>
      </p:sp>
      <p:sp>
        <p:nvSpPr>
          <p:cNvPr id="13" name="Rounded Rectangle 12"/>
          <p:cNvSpPr/>
          <p:nvPr/>
        </p:nvSpPr>
        <p:spPr>
          <a:xfrm>
            <a:off x="7452360"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52360" y="4480560"/>
            <a:ext cx="841248" cy="365760"/>
          </a:xfrm>
          <a:prstGeom prst="rect">
            <a:avLst/>
          </a:prstGeom>
          <a:noFill/>
        </p:spPr>
        <p:txBody>
          <a:bodyPr wrap="square">
            <a:spAutoFit/>
          </a:bodyPr>
          <a:lstStyle/>
          <a:p>
            <a:pPr algn="ctr"/>
            <a:r>
              <a:rPr sz="1400" b="1" i="0">
                <a:solidFill>
                  <a:srgbClr val="6B7C93"/>
                </a:solidFill>
                <a:latin typeface="Calibri"/>
              </a:rPr>
              <a:t>1</a:t>
            </a:r>
          </a:p>
        </p:txBody>
      </p:sp>
      <p:sp>
        <p:nvSpPr>
          <p:cNvPr id="15" name="Rounded Rectangle 14"/>
          <p:cNvSpPr/>
          <p:nvPr/>
        </p:nvSpPr>
        <p:spPr>
          <a:xfrm>
            <a:off x="8348472"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48472" y="4480560"/>
            <a:ext cx="841248" cy="365760"/>
          </a:xfrm>
          <a:prstGeom prst="rect">
            <a:avLst/>
          </a:prstGeom>
          <a:noFill/>
        </p:spPr>
        <p:txBody>
          <a:bodyPr wrap="square">
            <a:spAutoFit/>
          </a:bodyPr>
          <a:lstStyle/>
          <a:p>
            <a:pPr algn="ctr"/>
            <a:r>
              <a:rPr sz="1400" b="1" i="0">
                <a:solidFill>
                  <a:srgbClr val="6B7C93"/>
                </a:solidFill>
                <a:latin typeface="Calibri"/>
              </a:rPr>
              <a:t>2</a:t>
            </a:r>
          </a:p>
        </p:txBody>
      </p:sp>
      <p:sp>
        <p:nvSpPr>
          <p:cNvPr id="17" name="Rounded Rectangle 16"/>
          <p:cNvSpPr/>
          <p:nvPr/>
        </p:nvSpPr>
        <p:spPr>
          <a:xfrm>
            <a:off x="9244584" y="4434840"/>
            <a:ext cx="841248" cy="457200"/>
          </a:xfrm>
          <a:prstGeom prst="roundRect">
            <a:avLst/>
          </a:prstGeom>
          <a:solidFill>
            <a:srgbClr val="F39C1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44584" y="4480560"/>
            <a:ext cx="841248" cy="365760"/>
          </a:xfrm>
          <a:prstGeom prst="rect">
            <a:avLst/>
          </a:prstGeom>
          <a:noFill/>
        </p:spPr>
        <p:txBody>
          <a:bodyPr wrap="square">
            <a:spAutoFit/>
          </a:bodyPr>
          <a:lstStyle/>
          <a:p>
            <a:pPr algn="ctr"/>
            <a:r>
              <a:rPr sz="1400" b="1" i="0">
                <a:solidFill>
                  <a:srgbClr val="1B3A6B"/>
                </a:solidFill>
                <a:latin typeface="Calibri"/>
              </a:rPr>
              <a:t>3</a:t>
            </a:r>
          </a:p>
        </p:txBody>
      </p:sp>
      <p:sp>
        <p:nvSpPr>
          <p:cNvPr id="19" name="Rounded Rectangle 18"/>
          <p:cNvSpPr/>
          <p:nvPr/>
        </p:nvSpPr>
        <p:spPr>
          <a:xfrm>
            <a:off x="10140696"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0696" y="4480560"/>
            <a:ext cx="841248" cy="365760"/>
          </a:xfrm>
          <a:prstGeom prst="rect">
            <a:avLst/>
          </a:prstGeom>
          <a:noFill/>
        </p:spPr>
        <p:txBody>
          <a:bodyPr wrap="square">
            <a:spAutoFit/>
          </a:bodyPr>
          <a:lstStyle/>
          <a:p>
            <a:pPr algn="ctr"/>
            <a:r>
              <a:rPr sz="1400" b="1" i="0">
                <a:solidFill>
                  <a:srgbClr val="6B7C93"/>
                </a:solidFill>
                <a:latin typeface="Calibri"/>
              </a:rPr>
              <a:t>4</a:t>
            </a:r>
          </a:p>
        </p:txBody>
      </p:sp>
      <p:sp>
        <p:nvSpPr>
          <p:cNvPr id="21" name="Rounded Rectangle 20"/>
          <p:cNvSpPr/>
          <p:nvPr/>
        </p:nvSpPr>
        <p:spPr>
          <a:xfrm>
            <a:off x="11036808"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36808" y="4480560"/>
            <a:ext cx="841248" cy="365760"/>
          </a:xfrm>
          <a:prstGeom prst="rect">
            <a:avLst/>
          </a:prstGeom>
          <a:noFill/>
        </p:spPr>
        <p:txBody>
          <a:bodyPr wrap="square">
            <a:spAutoFit/>
          </a:bodyPr>
          <a:lstStyle/>
          <a:p>
            <a:pPr algn="ctr"/>
            <a:r>
              <a:rPr sz="1400" b="1" i="0">
                <a:solidFill>
                  <a:srgbClr val="6B7C93"/>
                </a:solidFill>
                <a:latin typeface="Calibri"/>
              </a:rPr>
              <a:t>5</a:t>
            </a:r>
          </a:p>
        </p:txBody>
      </p:sp>
      <p:sp>
        <p:nvSpPr>
          <p:cNvPr id="23" name="TextBox 22"/>
          <p:cNvSpPr txBox="1"/>
          <p:nvPr/>
        </p:nvSpPr>
        <p:spPr>
          <a:xfrm>
            <a:off x="7452360" y="5029200"/>
            <a:ext cx="4434840" cy="365760"/>
          </a:xfrm>
          <a:prstGeom prst="rect">
            <a:avLst/>
          </a:prstGeom>
          <a:noFill/>
        </p:spPr>
        <p:txBody>
          <a:bodyPr wrap="square">
            <a:spAutoFit/>
          </a:bodyPr>
          <a:lstStyle/>
          <a:p>
            <a:pPr algn="l"/>
            <a:r>
              <a:rPr sz="1600" b="1" i="0">
                <a:solidFill>
                  <a:srgbClr val="F39C12"/>
                </a:solidFill>
                <a:latin typeface="Calibri"/>
              </a:rPr>
              <a:t>Structurée</a:t>
            </a:r>
          </a:p>
        </p:txBody>
      </p:sp>
      <p:sp>
        <p:nvSpPr>
          <p:cNvPr id="24" name="TextBox 23"/>
          <p:cNvSpPr txBox="1"/>
          <p:nvPr/>
        </p:nvSpPr>
        <p:spPr>
          <a:xfrm>
            <a:off x="7452360" y="5440680"/>
            <a:ext cx="4434840" cy="640080"/>
          </a:xfrm>
          <a:prstGeom prst="rect">
            <a:avLst/>
          </a:prstGeom>
          <a:noFill/>
        </p:spPr>
        <p:txBody>
          <a:bodyPr wrap="square">
            <a:spAutoFit/>
          </a:bodyPr>
          <a:lstStyle/>
          <a:p>
            <a:pPr algn="l"/>
            <a:r>
              <a:rPr sz="1250" b="0" i="0">
                <a:solidFill>
                  <a:srgbClr val="2C3E50"/>
                </a:solidFill>
                <a:latin typeface="Calibri"/>
              </a:rPr>
              <a:t>Pour franchir le cap suivant : faire auditer le reporting.</a:t>
            </a:r>
          </a:p>
        </p:txBody>
      </p:sp>
      <p:sp>
        <p:nvSpPr>
          <p:cNvPr id="25" name="TextBox 24"/>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TRAJECTOIRE</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028" b="1" i="0">
                <a:solidFill>
                  <a:srgbClr val="FFFFFF"/>
                </a:solidFill>
                <a:latin typeface="Calibri"/>
              </a:rPr>
              <a:t>Une trajectoire ESG mesurée exercice après exercice</a:t>
            </a:r>
          </a:p>
        </p:txBody>
      </p:sp>
      <p:pic>
        <p:nvPicPr>
          <p:cNvPr id="7" name="Picture 6" descr="image.png"/>
          <p:cNvPicPr>
            <a:picLocks noChangeAspect="1"/>
          </p:cNvPicPr>
          <p:nvPr/>
        </p:nvPicPr>
        <p:blipFill>
          <a:blip r:embed="rId2"/>
          <a:stretch>
            <a:fillRect/>
          </a:stretch>
        </p:blipFill>
        <p:spPr>
          <a:xfrm>
            <a:off x="1188720" y="1463040"/>
            <a:ext cx="9784080" cy="5208916"/>
          </a:xfrm>
          <a:prstGeom prst="rect">
            <a:avLst/>
          </a:prstGeom>
        </p:spPr>
      </p:pic>
      <p:sp>
        <p:nvSpPr>
          <p:cNvPr id="8" name="TextBox 7"/>
          <p:cNvSpPr txBox="1"/>
          <p:nvPr/>
        </p:nvSpPr>
        <p:spPr>
          <a:xfrm>
            <a:off x="1188720" y="6309360"/>
            <a:ext cx="9784080" cy="320040"/>
          </a:xfrm>
          <a:prstGeom prst="rect">
            <a:avLst/>
          </a:prstGeom>
          <a:noFill/>
        </p:spPr>
        <p:txBody>
          <a:bodyPr wrap="square">
            <a:spAutoFit/>
          </a:bodyPr>
          <a:lstStyle/>
          <a:p>
            <a:pPr algn="l"/>
            <a:r>
              <a:rPr sz="1000" b="0" i="1">
                <a:solidFill>
                  <a:srgbClr val="6B7C93"/>
                </a:solidFill>
                <a:latin typeface="Calibri"/>
              </a:rPr>
              <a:t>Évolution pluriannuelle du score ESG (global et par pilier)</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POSITIONNEMENT</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340" b="1" i="0">
                <a:solidFill>
                  <a:srgbClr val="FFFFFF"/>
                </a:solidFill>
                <a:latin typeface="Calibri"/>
              </a:rPr>
              <a:t>Couverture des exigences de reporting</a:t>
            </a:r>
          </a:p>
        </p:txBody>
      </p:sp>
      <p:sp>
        <p:nvSpPr>
          <p:cNvPr id="7" name="Rectangle 6"/>
          <p:cNvSpPr/>
          <p:nvPr/>
        </p:nvSpPr>
        <p:spPr>
          <a:xfrm>
            <a:off x="274320" y="1325880"/>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389888"/>
            <a:ext cx="4846320" cy="502920"/>
          </a:xfrm>
          <a:prstGeom prst="rect">
            <a:avLst/>
          </a:prstGeom>
          <a:noFill/>
        </p:spPr>
        <p:txBody>
          <a:bodyPr wrap="square">
            <a:spAutoFit/>
          </a:bodyPr>
          <a:lstStyle/>
          <a:p>
            <a:pPr algn="l"/>
            <a:r>
              <a:rPr sz="1250" b="1" i="0">
                <a:solidFill>
                  <a:srgbClr val="2C3E50"/>
                </a:solidFill>
                <a:latin typeface="Calibri"/>
              </a:rPr>
              <a:t>Bilan GES Scopes 1 &amp; 2</a:t>
            </a:r>
          </a:p>
        </p:txBody>
      </p:sp>
      <p:sp>
        <p:nvSpPr>
          <p:cNvPr id="9" name="TextBox 8"/>
          <p:cNvSpPr txBox="1"/>
          <p:nvPr/>
        </p:nvSpPr>
        <p:spPr>
          <a:xfrm>
            <a:off x="5349240" y="1472184"/>
            <a:ext cx="1737360" cy="365760"/>
          </a:xfrm>
          <a:prstGeom prst="rect">
            <a:avLst/>
          </a:prstGeom>
          <a:noFill/>
        </p:spPr>
        <p:txBody>
          <a:bodyPr wrap="square">
            <a:spAutoFit/>
          </a:bodyPr>
          <a:lstStyle/>
          <a:p>
            <a:pPr algn="l"/>
            <a:r>
              <a:rPr sz="1000" b="0" i="0">
                <a:solidFill>
                  <a:srgbClr val="6B7C93"/>
                </a:solidFill>
                <a:latin typeface="Calibri"/>
              </a:rPr>
              <a:t>ESRS E1-6</a:t>
            </a:r>
          </a:p>
        </p:txBody>
      </p:sp>
      <p:sp>
        <p:nvSpPr>
          <p:cNvPr id="10" name="Rounded Rectangle 9"/>
          <p:cNvSpPr/>
          <p:nvPr/>
        </p:nvSpPr>
        <p:spPr>
          <a:xfrm>
            <a:off x="7178040" y="145389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Calibri"/>
              </a:rPr>
              <a:t>Publié</a:t>
            </a:r>
          </a:p>
        </p:txBody>
      </p:sp>
      <p:sp>
        <p:nvSpPr>
          <p:cNvPr id="12" name="TextBox 11"/>
          <p:cNvSpPr txBox="1"/>
          <p:nvPr/>
        </p:nvSpPr>
        <p:spPr>
          <a:xfrm>
            <a:off x="8961120" y="1389888"/>
            <a:ext cx="2926080" cy="530352"/>
          </a:xfrm>
          <a:prstGeom prst="rect">
            <a:avLst/>
          </a:prstGeom>
          <a:noFill/>
        </p:spPr>
        <p:txBody>
          <a:bodyPr wrap="square">
            <a:spAutoFit/>
          </a:bodyPr>
          <a:lstStyle/>
          <a:p>
            <a:pPr algn="l"/>
            <a:r>
              <a:rPr sz="1000" b="0" i="0">
                <a:solidFill>
                  <a:srgbClr val="2C3E50"/>
                </a:solidFill>
                <a:latin typeface="Calibri"/>
              </a:rPr>
              <a:t>Émissions mesurées et publiées</a:t>
            </a:r>
          </a:p>
        </p:txBody>
      </p:sp>
      <p:sp>
        <p:nvSpPr>
          <p:cNvPr id="13" name="TextBox 12"/>
          <p:cNvSpPr txBox="1"/>
          <p:nvPr/>
        </p:nvSpPr>
        <p:spPr>
          <a:xfrm>
            <a:off x="457200" y="2011680"/>
            <a:ext cx="4846320" cy="502920"/>
          </a:xfrm>
          <a:prstGeom prst="rect">
            <a:avLst/>
          </a:prstGeom>
          <a:noFill/>
        </p:spPr>
        <p:txBody>
          <a:bodyPr wrap="square">
            <a:spAutoFit/>
          </a:bodyPr>
          <a:lstStyle/>
          <a:p>
            <a:pPr algn="l"/>
            <a:r>
              <a:rPr sz="1250" b="1" i="0">
                <a:solidFill>
                  <a:srgbClr val="2C3E50"/>
                </a:solidFill>
                <a:latin typeface="Calibri"/>
              </a:rPr>
              <a:t>Émissions de la chaîne de valeur (Scope 3)</a:t>
            </a:r>
          </a:p>
        </p:txBody>
      </p:sp>
      <p:sp>
        <p:nvSpPr>
          <p:cNvPr id="14" name="TextBox 13"/>
          <p:cNvSpPr txBox="1"/>
          <p:nvPr/>
        </p:nvSpPr>
        <p:spPr>
          <a:xfrm>
            <a:off x="5349240" y="2093976"/>
            <a:ext cx="1737360" cy="365760"/>
          </a:xfrm>
          <a:prstGeom prst="rect">
            <a:avLst/>
          </a:prstGeom>
          <a:noFill/>
        </p:spPr>
        <p:txBody>
          <a:bodyPr wrap="square">
            <a:spAutoFit/>
          </a:bodyPr>
          <a:lstStyle/>
          <a:p>
            <a:pPr algn="l"/>
            <a:r>
              <a:rPr sz="1000" b="0" i="0">
                <a:solidFill>
                  <a:srgbClr val="6B7C93"/>
                </a:solidFill>
                <a:latin typeface="Calibri"/>
              </a:rPr>
              <a:t>ESRS E1-6</a:t>
            </a:r>
          </a:p>
        </p:txBody>
      </p:sp>
      <p:sp>
        <p:nvSpPr>
          <p:cNvPr id="15" name="Rounded Rectangle 14"/>
          <p:cNvSpPr/>
          <p:nvPr/>
        </p:nvSpPr>
        <p:spPr>
          <a:xfrm>
            <a:off x="7178040" y="2075688"/>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Calibri"/>
              </a:rPr>
              <a:t>Publié</a:t>
            </a:r>
          </a:p>
        </p:txBody>
      </p:sp>
      <p:sp>
        <p:nvSpPr>
          <p:cNvPr id="17" name="TextBox 16"/>
          <p:cNvSpPr txBox="1"/>
          <p:nvPr/>
        </p:nvSpPr>
        <p:spPr>
          <a:xfrm>
            <a:off x="8961120" y="2011680"/>
            <a:ext cx="2926080" cy="530352"/>
          </a:xfrm>
          <a:prstGeom prst="rect">
            <a:avLst/>
          </a:prstGeom>
          <a:noFill/>
        </p:spPr>
        <p:txBody>
          <a:bodyPr wrap="square">
            <a:spAutoFit/>
          </a:bodyPr>
          <a:lstStyle/>
          <a:p>
            <a:pPr algn="l"/>
            <a:r>
              <a:rPr sz="1000" b="0" i="0">
                <a:solidFill>
                  <a:srgbClr val="2C3E50"/>
                </a:solidFill>
                <a:latin typeface="Calibri"/>
              </a:rPr>
              <a:t>Scope 3 mesuré et publié</a:t>
            </a:r>
          </a:p>
        </p:txBody>
      </p:sp>
      <p:sp>
        <p:nvSpPr>
          <p:cNvPr id="18" name="Rectangle 17"/>
          <p:cNvSpPr/>
          <p:nvPr/>
        </p:nvSpPr>
        <p:spPr>
          <a:xfrm>
            <a:off x="274320" y="2569464"/>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633472"/>
            <a:ext cx="4846320" cy="502920"/>
          </a:xfrm>
          <a:prstGeom prst="rect">
            <a:avLst/>
          </a:prstGeom>
          <a:noFill/>
        </p:spPr>
        <p:txBody>
          <a:bodyPr wrap="square">
            <a:spAutoFit/>
          </a:bodyPr>
          <a:lstStyle/>
          <a:p>
            <a:pPr algn="l"/>
            <a:r>
              <a:rPr sz="1250" b="1" i="0">
                <a:solidFill>
                  <a:srgbClr val="2C3E50"/>
                </a:solidFill>
                <a:latin typeface="Calibri"/>
              </a:rPr>
              <a:t>Vérification du reporting par un tiers</a:t>
            </a:r>
          </a:p>
        </p:txBody>
      </p:sp>
      <p:sp>
        <p:nvSpPr>
          <p:cNvPr id="20" name="TextBox 19"/>
          <p:cNvSpPr txBox="1"/>
          <p:nvPr/>
        </p:nvSpPr>
        <p:spPr>
          <a:xfrm>
            <a:off x="5349240" y="2715768"/>
            <a:ext cx="1737360" cy="365760"/>
          </a:xfrm>
          <a:prstGeom prst="rect">
            <a:avLst/>
          </a:prstGeom>
          <a:noFill/>
        </p:spPr>
        <p:txBody>
          <a:bodyPr wrap="square">
            <a:spAutoFit/>
          </a:bodyPr>
          <a:lstStyle/>
          <a:p>
            <a:pPr algn="l"/>
            <a:r>
              <a:rPr sz="1000" b="0" i="0">
                <a:solidFill>
                  <a:srgbClr val="6B7C93"/>
                </a:solidFill>
                <a:latin typeface="Calibri"/>
              </a:rPr>
              <a:t>CSRD (assurance limitée)</a:t>
            </a:r>
          </a:p>
        </p:txBody>
      </p:sp>
      <p:sp>
        <p:nvSpPr>
          <p:cNvPr id="21" name="Rounded Rectangle 20"/>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Calibri"/>
              </a:rPr>
              <a:t>Non publié</a:t>
            </a:r>
          </a:p>
        </p:txBody>
      </p:sp>
      <p:sp>
        <p:nvSpPr>
          <p:cNvPr id="23" name="TextBox 22"/>
          <p:cNvSpPr txBox="1"/>
          <p:nvPr/>
        </p:nvSpPr>
        <p:spPr>
          <a:xfrm>
            <a:off x="8961120" y="2633472"/>
            <a:ext cx="2926080" cy="530352"/>
          </a:xfrm>
          <a:prstGeom prst="rect">
            <a:avLst/>
          </a:prstGeom>
          <a:noFill/>
        </p:spPr>
        <p:txBody>
          <a:bodyPr wrap="square">
            <a:spAutoFit/>
          </a:bodyPr>
          <a:lstStyle/>
          <a:p>
            <a:pPr algn="l"/>
            <a:r>
              <a:rPr sz="1000" b="0" i="0">
                <a:solidFill>
                  <a:srgbClr val="2C3E50"/>
                </a:solidFill>
                <a:latin typeface="Calibri"/>
              </a:rPr>
              <a:t>Aucune assurance externe à date</a:t>
            </a:r>
          </a:p>
        </p:txBody>
      </p:sp>
      <p:sp>
        <p:nvSpPr>
          <p:cNvPr id="24" name="TextBox 23"/>
          <p:cNvSpPr txBox="1"/>
          <p:nvPr/>
        </p:nvSpPr>
        <p:spPr>
          <a:xfrm>
            <a:off x="457200" y="3255264"/>
            <a:ext cx="4846320" cy="502920"/>
          </a:xfrm>
          <a:prstGeom prst="rect">
            <a:avLst/>
          </a:prstGeom>
          <a:noFill/>
        </p:spPr>
        <p:txBody>
          <a:bodyPr wrap="square">
            <a:spAutoFit/>
          </a:bodyPr>
          <a:lstStyle/>
          <a:p>
            <a:pPr algn="l"/>
            <a:r>
              <a:rPr sz="1250" b="1" i="0">
                <a:solidFill>
                  <a:srgbClr val="2C3E50"/>
                </a:solidFill>
                <a:latin typeface="Calibri"/>
              </a:rPr>
              <a:t>Supervision de la durabilité par la gouvernance</a:t>
            </a:r>
          </a:p>
        </p:txBody>
      </p:sp>
      <p:sp>
        <p:nvSpPr>
          <p:cNvPr id="25" name="TextBox 24"/>
          <p:cNvSpPr txBox="1"/>
          <p:nvPr/>
        </p:nvSpPr>
        <p:spPr>
          <a:xfrm>
            <a:off x="5349240" y="3337560"/>
            <a:ext cx="1737360" cy="365760"/>
          </a:xfrm>
          <a:prstGeom prst="rect">
            <a:avLst/>
          </a:prstGeom>
          <a:noFill/>
        </p:spPr>
        <p:txBody>
          <a:bodyPr wrap="square">
            <a:spAutoFit/>
          </a:bodyPr>
          <a:lstStyle/>
          <a:p>
            <a:pPr algn="l"/>
            <a:r>
              <a:rPr sz="1000" b="0" i="0">
                <a:solidFill>
                  <a:srgbClr val="6B7C93"/>
                </a:solidFill>
                <a:latin typeface="Calibri"/>
              </a:rPr>
              <a:t>ESRS 2 GOV-1</a:t>
            </a:r>
          </a:p>
        </p:txBody>
      </p:sp>
      <p:sp>
        <p:nvSpPr>
          <p:cNvPr id="26" name="Rounded Rectangle 25"/>
          <p:cNvSpPr/>
          <p:nvPr/>
        </p:nvSpPr>
        <p:spPr>
          <a:xfrm>
            <a:off x="7178040" y="3319272"/>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Calibri"/>
              </a:rPr>
              <a:t>Publié</a:t>
            </a:r>
          </a:p>
        </p:txBody>
      </p:sp>
      <p:sp>
        <p:nvSpPr>
          <p:cNvPr id="28" name="TextBox 27"/>
          <p:cNvSpPr txBox="1"/>
          <p:nvPr/>
        </p:nvSpPr>
        <p:spPr>
          <a:xfrm>
            <a:off x="8961120" y="3255264"/>
            <a:ext cx="2926080" cy="530352"/>
          </a:xfrm>
          <a:prstGeom prst="rect">
            <a:avLst/>
          </a:prstGeom>
          <a:noFill/>
        </p:spPr>
        <p:txBody>
          <a:bodyPr wrap="square">
            <a:spAutoFit/>
          </a:bodyPr>
          <a:lstStyle/>
          <a:p>
            <a:pPr algn="l"/>
            <a:r>
              <a:rPr sz="1000" b="0" i="0">
                <a:solidFill>
                  <a:srgbClr val="2C3E50"/>
                </a:solidFill>
                <a:latin typeface="Calibri"/>
              </a:rPr>
              <a:t>Comité de durabilité en place</a:t>
            </a:r>
          </a:p>
        </p:txBody>
      </p:sp>
      <p:sp>
        <p:nvSpPr>
          <p:cNvPr id="29" name="Rectangle 28"/>
          <p:cNvSpPr/>
          <p:nvPr/>
        </p:nvSpPr>
        <p:spPr>
          <a:xfrm>
            <a:off x="274320" y="3813048"/>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877056"/>
            <a:ext cx="4846320" cy="502920"/>
          </a:xfrm>
          <a:prstGeom prst="rect">
            <a:avLst/>
          </a:prstGeom>
          <a:noFill/>
        </p:spPr>
        <p:txBody>
          <a:bodyPr wrap="square">
            <a:spAutoFit/>
          </a:bodyPr>
          <a:lstStyle/>
          <a:p>
            <a:pPr algn="l"/>
            <a:r>
              <a:rPr sz="1250" b="1" i="0">
                <a:solidFill>
                  <a:srgbClr val="2C3E50"/>
                </a:solidFill>
                <a:latin typeface="Calibri"/>
              </a:rPr>
              <a:t>Indépendance du conseil (AFEP-MEDEF, appliquer ou expliquer)</a:t>
            </a:r>
          </a:p>
        </p:txBody>
      </p:sp>
      <p:sp>
        <p:nvSpPr>
          <p:cNvPr id="31" name="TextBox 30"/>
          <p:cNvSpPr txBox="1"/>
          <p:nvPr/>
        </p:nvSpPr>
        <p:spPr>
          <a:xfrm>
            <a:off x="5349240" y="3959352"/>
            <a:ext cx="1737360" cy="365760"/>
          </a:xfrm>
          <a:prstGeom prst="rect">
            <a:avLst/>
          </a:prstGeom>
          <a:noFill/>
        </p:spPr>
        <p:txBody>
          <a:bodyPr wrap="square">
            <a:spAutoFit/>
          </a:bodyPr>
          <a:lstStyle/>
          <a:p>
            <a:pPr algn="l"/>
            <a:r>
              <a:rPr sz="1000" b="0" i="0">
                <a:solidFill>
                  <a:srgbClr val="6B7C93"/>
                </a:solidFill>
                <a:latin typeface="Calibri"/>
              </a:rPr>
              <a:t>AFEP-MEDEF</a:t>
            </a:r>
          </a:p>
        </p:txBody>
      </p:sp>
      <p:sp>
        <p:nvSpPr>
          <p:cNvPr id="32" name="Rounded Rectangle 31"/>
          <p:cNvSpPr/>
          <p:nvPr/>
        </p:nvSpPr>
        <p:spPr>
          <a:xfrm>
            <a:off x="7178040" y="3941064"/>
            <a:ext cx="1600200" cy="36576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Calibri"/>
              </a:rPr>
              <a:t>Sous le seuil</a:t>
            </a:r>
          </a:p>
        </p:txBody>
      </p:sp>
      <p:sp>
        <p:nvSpPr>
          <p:cNvPr id="34" name="TextBox 33"/>
          <p:cNvSpPr txBox="1"/>
          <p:nvPr/>
        </p:nvSpPr>
        <p:spPr>
          <a:xfrm>
            <a:off x="8961120" y="3877056"/>
            <a:ext cx="2926080" cy="530352"/>
          </a:xfrm>
          <a:prstGeom prst="rect">
            <a:avLst/>
          </a:prstGeom>
          <a:noFill/>
        </p:spPr>
        <p:txBody>
          <a:bodyPr wrap="square">
            <a:spAutoFit/>
          </a:bodyPr>
          <a:lstStyle/>
          <a:p>
            <a:pPr algn="l"/>
            <a:r>
              <a:rPr sz="1000" b="0" i="0">
                <a:solidFill>
                  <a:srgbClr val="2C3E50"/>
                </a:solidFill>
                <a:latin typeface="Calibri"/>
              </a:rPr>
              <a:t>45 % d'administrateurs indépendants</a:t>
            </a:r>
          </a:p>
        </p:txBody>
      </p:sp>
      <p:sp>
        <p:nvSpPr>
          <p:cNvPr id="35" name="TextBox 34"/>
          <p:cNvSpPr txBox="1"/>
          <p:nvPr/>
        </p:nvSpPr>
        <p:spPr>
          <a:xfrm>
            <a:off x="457200" y="4498848"/>
            <a:ext cx="4846320" cy="502920"/>
          </a:xfrm>
          <a:prstGeom prst="rect">
            <a:avLst/>
          </a:prstGeom>
          <a:noFill/>
        </p:spPr>
        <p:txBody>
          <a:bodyPr wrap="square">
            <a:spAutoFit/>
          </a:bodyPr>
          <a:lstStyle/>
          <a:p>
            <a:pPr algn="l"/>
            <a:r>
              <a:rPr sz="1250" b="1" i="0">
                <a:solidFill>
                  <a:srgbClr val="2C3E50"/>
                </a:solidFill>
                <a:latin typeface="Calibri"/>
              </a:rPr>
              <a:t>Publication des indicateurs Taxonomie UE</a:t>
            </a:r>
          </a:p>
        </p:txBody>
      </p:sp>
      <p:sp>
        <p:nvSpPr>
          <p:cNvPr id="36" name="TextBox 35"/>
          <p:cNvSpPr txBox="1"/>
          <p:nvPr/>
        </p:nvSpPr>
        <p:spPr>
          <a:xfrm>
            <a:off x="5349240" y="4581144"/>
            <a:ext cx="1737360" cy="365760"/>
          </a:xfrm>
          <a:prstGeom prst="rect">
            <a:avLst/>
          </a:prstGeom>
          <a:noFill/>
        </p:spPr>
        <p:txBody>
          <a:bodyPr wrap="square">
            <a:spAutoFit/>
          </a:bodyPr>
          <a:lstStyle/>
          <a:p>
            <a:pPr algn="l"/>
            <a:r>
              <a:rPr sz="1000" b="0" i="0">
                <a:solidFill>
                  <a:srgbClr val="6B7C93"/>
                </a:solidFill>
                <a:latin typeface="Calibri"/>
              </a:rPr>
              <a:t>Règlement (UE) 2020/852</a:t>
            </a:r>
          </a:p>
        </p:txBody>
      </p:sp>
      <p:sp>
        <p:nvSpPr>
          <p:cNvPr id="37" name="Rounded Rectangle 36"/>
          <p:cNvSpPr/>
          <p:nvPr/>
        </p:nvSpPr>
        <p:spPr>
          <a:xfrm>
            <a:off x="7178040" y="456285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Calibri"/>
              </a:rPr>
              <a:t>Publié</a:t>
            </a:r>
          </a:p>
        </p:txBody>
      </p:sp>
      <p:sp>
        <p:nvSpPr>
          <p:cNvPr id="39" name="TextBox 38"/>
          <p:cNvSpPr txBox="1"/>
          <p:nvPr/>
        </p:nvSpPr>
        <p:spPr>
          <a:xfrm>
            <a:off x="8961120" y="4498848"/>
            <a:ext cx="2926080" cy="530352"/>
          </a:xfrm>
          <a:prstGeom prst="rect">
            <a:avLst/>
          </a:prstGeom>
          <a:noFill/>
        </p:spPr>
        <p:txBody>
          <a:bodyPr wrap="square">
            <a:spAutoFit/>
          </a:bodyPr>
          <a:lstStyle/>
          <a:p>
            <a:pPr algn="l"/>
            <a:r>
              <a:rPr sz="1000" b="0" i="0">
                <a:solidFill>
                  <a:srgbClr val="2C3E50"/>
                </a:solidFill>
                <a:latin typeface="Calibri"/>
              </a:rPr>
              <a:t>Parts alignées publiées (CA/CapEx/OpEx)</a:t>
            </a:r>
          </a:p>
        </p:txBody>
      </p:sp>
      <p:sp>
        <p:nvSpPr>
          <p:cNvPr id="40" name="Rectangle 39"/>
          <p:cNvSpPr/>
          <p:nvPr/>
        </p:nvSpPr>
        <p:spPr>
          <a:xfrm>
            <a:off x="274320" y="5056632"/>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7200" y="5120640"/>
            <a:ext cx="4846320" cy="502920"/>
          </a:xfrm>
          <a:prstGeom prst="rect">
            <a:avLst/>
          </a:prstGeom>
          <a:noFill/>
        </p:spPr>
        <p:txBody>
          <a:bodyPr wrap="square">
            <a:spAutoFit/>
          </a:bodyPr>
          <a:lstStyle/>
          <a:p>
            <a:pPr algn="l"/>
            <a:r>
              <a:rPr sz="1250" b="1" i="0">
                <a:solidFill>
                  <a:srgbClr val="2C3E50"/>
                </a:solidFill>
                <a:latin typeface="Calibri"/>
              </a:rPr>
              <a:t>Objectifs climatiques chiffrés</a:t>
            </a:r>
          </a:p>
        </p:txBody>
      </p:sp>
      <p:sp>
        <p:nvSpPr>
          <p:cNvPr id="42" name="TextBox 41"/>
          <p:cNvSpPr txBox="1"/>
          <p:nvPr/>
        </p:nvSpPr>
        <p:spPr>
          <a:xfrm>
            <a:off x="5349240" y="5202936"/>
            <a:ext cx="1737360" cy="365760"/>
          </a:xfrm>
          <a:prstGeom prst="rect">
            <a:avLst/>
          </a:prstGeom>
          <a:noFill/>
        </p:spPr>
        <p:txBody>
          <a:bodyPr wrap="square">
            <a:spAutoFit/>
          </a:bodyPr>
          <a:lstStyle/>
          <a:p>
            <a:pPr algn="l"/>
            <a:r>
              <a:rPr sz="1000" b="0" i="0">
                <a:solidFill>
                  <a:srgbClr val="6B7C93"/>
                </a:solidFill>
                <a:latin typeface="Calibri"/>
              </a:rPr>
              <a:t>ESRS E1-4</a:t>
            </a:r>
          </a:p>
        </p:txBody>
      </p:sp>
      <p:sp>
        <p:nvSpPr>
          <p:cNvPr id="43" name="Rounded Rectangle 42"/>
          <p:cNvSpPr/>
          <p:nvPr/>
        </p:nvSpPr>
        <p:spPr>
          <a:xfrm>
            <a:off x="7178040" y="5184648"/>
            <a:ext cx="1600200" cy="36576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78040" y="5239512"/>
            <a:ext cx="1600200" cy="274320"/>
          </a:xfrm>
          <a:prstGeom prst="rect">
            <a:avLst/>
          </a:prstGeom>
          <a:noFill/>
        </p:spPr>
        <p:txBody>
          <a:bodyPr wrap="square">
            <a:spAutoFit/>
          </a:bodyPr>
          <a:lstStyle/>
          <a:p>
            <a:pPr algn="ctr"/>
            <a:r>
              <a:rPr sz="1050" b="1" i="0">
                <a:solidFill>
                  <a:srgbClr val="FFFFFF"/>
                </a:solidFill>
                <a:latin typeface="Calibri"/>
              </a:rPr>
              <a:t>Non couvert par ce reporting</a:t>
            </a:r>
          </a:p>
        </p:txBody>
      </p:sp>
      <p:sp>
        <p:nvSpPr>
          <p:cNvPr id="45" name="TextBox 44"/>
          <p:cNvSpPr txBox="1"/>
          <p:nvPr/>
        </p:nvSpPr>
        <p:spPr>
          <a:xfrm>
            <a:off x="8961120" y="5120640"/>
            <a:ext cx="2926080" cy="530352"/>
          </a:xfrm>
          <a:prstGeom prst="rect">
            <a:avLst/>
          </a:prstGeom>
          <a:noFill/>
        </p:spPr>
        <p:txBody>
          <a:bodyPr wrap="square">
            <a:spAutoFit/>
          </a:bodyPr>
          <a:lstStyle/>
          <a:p>
            <a:pPr algn="l"/>
            <a:r>
              <a:rPr sz="1000" b="0" i="0">
                <a:solidFill>
                  <a:srgbClr val="2C3E50"/>
                </a:solidFill>
                <a:latin typeface="Calibri"/>
              </a:rPr>
              <a:t>Cibles climatiques non documentées dans ce reporting</a:t>
            </a:r>
          </a:p>
        </p:txBody>
      </p:sp>
      <p:sp>
        <p:nvSpPr>
          <p:cNvPr id="46" name="TextBox 45"/>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F39C12"/>
                </a:solidFill>
                <a:latin typeface="Calibri"/>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FFFFF"/>
                </a:solidFill>
                <a:latin typeface="Calibr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AEC6E8"/>
                </a:solidFill>
                <a:latin typeface="Calibri"/>
              </a:rPr>
              <a:t>des émissions relèvent du Scope 3</a:t>
            </a:r>
          </a:p>
        </p:txBody>
      </p:sp>
      <p:sp>
        <p:nvSpPr>
          <p:cNvPr id="7" name="Rectangle 6"/>
          <p:cNvSpPr/>
          <p:nvPr/>
        </p:nvSpPr>
        <p:spPr>
          <a:xfrm>
            <a:off x="5271516" y="5623560"/>
            <a:ext cx="1645920" cy="4572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FFFFF"/>
                </a:solidFill>
                <a:latin typeface="Calibr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F39C12"/>
                </a:solidFill>
                <a:latin typeface="Calibr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Calibri"/>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Calibri"/>
              </a:rPr>
              <a:t>70</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Calibr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6B7C93"/>
                </a:solidFill>
                <a:latin typeface="Calibri"/>
              </a:rPr>
              <a:t>INDICATEURS CLÉS</a:t>
            </a:r>
          </a:p>
        </p:txBody>
      </p:sp>
      <p:sp>
        <p:nvSpPr>
          <p:cNvPr id="10" name="Rectangle 9"/>
          <p:cNvSpPr/>
          <p:nvPr/>
        </p:nvSpPr>
        <p:spPr>
          <a:xfrm>
            <a:off x="4526280" y="932688"/>
            <a:ext cx="1280160" cy="4114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7AE60"/>
                </a:solidFill>
                <a:latin typeface="Calibri"/>
              </a:rPr>
              <a:t>8,200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6B7C93"/>
                </a:solidFill>
                <a:latin typeface="Calibri"/>
              </a:rPr>
              <a:t>Émissions CO2 totales</a:t>
            </a:r>
          </a:p>
        </p:txBody>
      </p:sp>
      <p:sp>
        <p:nvSpPr>
          <p:cNvPr id="17" name="Rounded Rectangle 16"/>
          <p:cNvSpPr/>
          <p:nvPr/>
        </p:nvSpPr>
        <p:spPr>
          <a:xfrm>
            <a:off x="832104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7AE60"/>
                </a:solidFill>
                <a:latin typeface="Calibri"/>
              </a:rPr>
              <a:t>42%</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6B7C93"/>
                </a:solidFill>
                <a:latin typeface="Calibri"/>
              </a:rPr>
              <a:t>Énergie renouvelable</a:t>
            </a:r>
          </a:p>
        </p:txBody>
      </p:sp>
      <p:sp>
        <p:nvSpPr>
          <p:cNvPr id="23" name="Rounded Rectangle 22"/>
          <p:cNvSpPr/>
          <p:nvPr/>
        </p:nvSpPr>
        <p:spPr>
          <a:xfrm>
            <a:off x="452628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7AE60"/>
                </a:solidFill>
                <a:latin typeface="Calibri"/>
              </a:rPr>
              <a:t>21,500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6B7C93"/>
                </a:solidFill>
                <a:latin typeface="Calibri"/>
              </a:rPr>
              <a:t>Consommation (MWh)</a:t>
            </a:r>
          </a:p>
        </p:txBody>
      </p:sp>
      <p:sp>
        <p:nvSpPr>
          <p:cNvPr id="29" name="Rounded Rectangle 28"/>
          <p:cNvSpPr/>
          <p:nvPr/>
        </p:nvSpPr>
        <p:spPr>
          <a:xfrm>
            <a:off x="832104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7AE60"/>
                </a:solidFill>
                <a:latin typeface="Calibri"/>
              </a:rPr>
              <a:t>120,000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6B7C93"/>
                </a:solidFill>
                <a:latin typeface="Calibri"/>
              </a:rPr>
              <a:t>Eau prélevée (m3)</a:t>
            </a:r>
          </a:p>
        </p:txBody>
      </p:sp>
      <p:sp>
        <p:nvSpPr>
          <p:cNvPr id="35" name="Rounded Rectangle 34"/>
          <p:cNvSpPr/>
          <p:nvPr/>
        </p:nvSpPr>
        <p:spPr>
          <a:xfrm>
            <a:off x="4526280" y="4434840"/>
            <a:ext cx="7360920" cy="1847088"/>
          </a:xfrm>
          <a:prstGeom prst="roundRect">
            <a:avLst/>
          </a:prstGeom>
          <a:solidFill>
            <a:srgbClr val="EBF2FB"/>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7AE60"/>
                </a:solidFill>
                <a:latin typeface="Calibr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2C3E50"/>
                </a:solidFill>
                <a:latin typeface="Calibri"/>
              </a:rPr>
              <a:t>Performance environnementale solide ; l'intensité carbone reste le principal levier de création de valeur durable.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F39C12"/>
                </a:solidFill>
                <a:latin typeface="Calibr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Calibri"/>
              </a:rPr>
              <a:t>La sécurité au travail (TF 6.2), priorité à traiter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Calibri"/>
              </a:rPr>
              <a:t>55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Calibr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6B7C93"/>
                </a:solidFill>
                <a:latin typeface="Calibri"/>
              </a:rPr>
              <a:t>INDICATEURS CLÉS</a:t>
            </a:r>
          </a:p>
        </p:txBody>
      </p:sp>
      <p:sp>
        <p:nvSpPr>
          <p:cNvPr id="10" name="Rectangle 9"/>
          <p:cNvSpPr/>
          <p:nvPr/>
        </p:nvSpPr>
        <p:spPr>
          <a:xfrm>
            <a:off x="4526280" y="932688"/>
            <a:ext cx="1280160" cy="411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E86C1"/>
                </a:solidFill>
                <a:latin typeface="Calibri"/>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6B7C93"/>
                </a:solidFill>
                <a:latin typeface="Calibri"/>
              </a:rPr>
              <a:t>Effectif total</a:t>
            </a:r>
          </a:p>
        </p:txBody>
      </p:sp>
      <p:sp>
        <p:nvSpPr>
          <p:cNvPr id="17" name="Rounded Rectangle 16"/>
          <p:cNvSpPr/>
          <p:nvPr/>
        </p:nvSpPr>
        <p:spPr>
          <a:xfrm>
            <a:off x="832104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E86C1"/>
                </a:solidFill>
                <a:latin typeface="Calibri"/>
              </a:rPr>
              <a:t>34%</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6B7C93"/>
                </a:solidFill>
                <a:latin typeface="Calibri"/>
              </a:rPr>
              <a:t>Femmes dans l'effectif</a:t>
            </a:r>
          </a:p>
        </p:txBody>
      </p:sp>
      <p:sp>
        <p:nvSpPr>
          <p:cNvPr id="23" name="Rounded Rectangle 22"/>
          <p:cNvSpPr/>
          <p:nvPr/>
        </p:nvSpPr>
        <p:spPr>
          <a:xfrm>
            <a:off x="452628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E86C1"/>
                </a:solidFill>
                <a:latin typeface="Calibri"/>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6B7C93"/>
                </a:solidFill>
                <a:latin typeface="Calibri"/>
              </a:rPr>
              <a:t>Formation / an</a:t>
            </a:r>
          </a:p>
        </p:txBody>
      </p:sp>
      <p:sp>
        <p:nvSpPr>
          <p:cNvPr id="29" name="Rounded Rectangle 28"/>
          <p:cNvSpPr/>
          <p:nvPr/>
        </p:nvSpPr>
        <p:spPr>
          <a:xfrm>
            <a:off x="832104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E86C1"/>
                </a:solidFill>
                <a:latin typeface="Calibri"/>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6B7C93"/>
                </a:solidFill>
                <a:latin typeface="Calibri"/>
              </a:rPr>
              <a:t>Taux fréquence accidents</a:t>
            </a:r>
          </a:p>
        </p:txBody>
      </p:sp>
      <p:sp>
        <p:nvSpPr>
          <p:cNvPr id="35" name="Rounded Rectangle 34"/>
          <p:cNvSpPr/>
          <p:nvPr/>
        </p:nvSpPr>
        <p:spPr>
          <a:xfrm>
            <a:off x="4526280" y="4434840"/>
            <a:ext cx="7360920" cy="1847088"/>
          </a:xfrm>
          <a:prstGeom prst="roundRect">
            <a:avLst/>
          </a:prstGeom>
          <a:solidFill>
            <a:srgbClr val="EBF2FB"/>
          </a:solidFill>
          <a:ln w="1905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E86C1"/>
                </a:solidFill>
                <a:latin typeface="Calibr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2C3E50"/>
                </a:solidFill>
                <a:latin typeface="Calibri"/>
              </a:rPr>
              <a:t>Performance sociale en construction : parité et sécurité au travail appellent des objectifs chiffrés pour fidéliser les talents.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F39C12"/>
                </a:solidFill>
                <a:latin typeface="Calibr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Calibri"/>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Calibri"/>
              </a:rPr>
              <a:t>75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Calibr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6B7C93"/>
                </a:solidFill>
                <a:latin typeface="Calibri"/>
              </a:rPr>
              <a:t>INDICATEURS CLÉS</a:t>
            </a:r>
          </a:p>
        </p:txBody>
      </p:sp>
      <p:sp>
        <p:nvSpPr>
          <p:cNvPr id="10" name="Rectangle 9"/>
          <p:cNvSpPr/>
          <p:nvPr/>
        </p:nvSpPr>
        <p:spPr>
          <a:xfrm>
            <a:off x="4526280" y="932688"/>
            <a:ext cx="1280160" cy="41148"/>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8E44AD"/>
                </a:solidFill>
                <a:latin typeface="Calibri"/>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6B7C93"/>
                </a:solidFill>
                <a:latin typeface="Calibri"/>
              </a:rPr>
              <a:t>Membres du Conseil</a:t>
            </a:r>
          </a:p>
        </p:txBody>
      </p:sp>
      <p:sp>
        <p:nvSpPr>
          <p:cNvPr id="17" name="Rounded Rectangle 16"/>
          <p:cNvSpPr/>
          <p:nvPr/>
        </p:nvSpPr>
        <p:spPr>
          <a:xfrm>
            <a:off x="832104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8E44AD"/>
                </a:solidFill>
                <a:latin typeface="Calibri"/>
              </a:rPr>
              <a:t>44%</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6B7C93"/>
                </a:solidFill>
                <a:latin typeface="Calibri"/>
              </a:rPr>
              <a:t>Femmes au CA</a:t>
            </a:r>
          </a:p>
        </p:txBody>
      </p:sp>
      <p:sp>
        <p:nvSpPr>
          <p:cNvPr id="23" name="Rounded Rectangle 22"/>
          <p:cNvSpPr/>
          <p:nvPr/>
        </p:nvSpPr>
        <p:spPr>
          <a:xfrm>
            <a:off x="452628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8E44AD"/>
                </a:solidFill>
                <a:latin typeface="Calibri"/>
              </a:rPr>
              <a:t>45%</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6B7C93"/>
                </a:solidFill>
                <a:latin typeface="Calibri"/>
              </a:rPr>
              <a:t>Administrateurs indépendants</a:t>
            </a:r>
          </a:p>
        </p:txBody>
      </p:sp>
      <p:sp>
        <p:nvSpPr>
          <p:cNvPr id="29" name="Rounded Rectangle 28"/>
          <p:cNvSpPr/>
          <p:nvPr/>
        </p:nvSpPr>
        <p:spPr>
          <a:xfrm>
            <a:off x="832104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8E44AD"/>
                </a:solidFill>
                <a:latin typeface="Calibri"/>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6B7C93"/>
                </a:solidFill>
                <a:latin typeface="Calibri"/>
              </a:rPr>
              <a:t>Audit ESG indépendant</a:t>
            </a:r>
          </a:p>
        </p:txBody>
      </p:sp>
      <p:sp>
        <p:nvSpPr>
          <p:cNvPr id="35" name="Rounded Rectangle 34"/>
          <p:cNvSpPr/>
          <p:nvPr/>
        </p:nvSpPr>
        <p:spPr>
          <a:xfrm>
            <a:off x="4526280" y="4434840"/>
            <a:ext cx="7360920" cy="1847088"/>
          </a:xfrm>
          <a:prstGeom prst="roundRect">
            <a:avLst/>
          </a:prstGeom>
          <a:solidFill>
            <a:srgbClr val="EBF2FB"/>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8E44AD"/>
                </a:solidFill>
                <a:latin typeface="Calibr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2C3E50"/>
                </a:solidFill>
                <a:latin typeface="Calibri"/>
              </a:rPr>
              <a:t>Gouvernance exemplaire : indépendance, audit et supervision ESG inspirent confiance aux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PRIORISATION DES ENJEUX ESG</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Le changement climatique concentre les enjeux ESG prioritaires</a:t>
            </a:r>
          </a:p>
        </p:txBody>
      </p:sp>
      <p:pic>
        <p:nvPicPr>
          <p:cNvPr id="7" name="Picture 6" descr="image.png"/>
          <p:cNvPicPr>
            <a:picLocks noChangeAspect="1"/>
          </p:cNvPicPr>
          <p:nvPr/>
        </p:nvPicPr>
        <p:blipFill>
          <a:blip r:embed="rId2"/>
          <a:stretch>
            <a:fillRect/>
          </a:stretch>
        </p:blipFill>
        <p:spPr>
          <a:xfrm>
            <a:off x="320040" y="1600200"/>
            <a:ext cx="7394055" cy="4480560"/>
          </a:xfrm>
          <a:prstGeom prst="rect">
            <a:avLst/>
          </a:prstGeom>
        </p:spPr>
      </p:pic>
      <p:sp>
        <p:nvSpPr>
          <p:cNvPr id="8" name="Rounded Rectangle 7"/>
          <p:cNvSpPr/>
          <p:nvPr/>
        </p:nvSpPr>
        <p:spPr>
          <a:xfrm>
            <a:off x="8549640" y="1828800"/>
            <a:ext cx="3337560" cy="4023360"/>
          </a:xfrm>
          <a:prstGeom prst="roundRect">
            <a:avLst/>
          </a:prstGeom>
          <a:solidFill>
            <a:srgbClr val="EBF2FB"/>
          </a:solidFill>
          <a:ln w="15875">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49640" y="1828800"/>
            <a:ext cx="82296" cy="402336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23960" y="2011680"/>
            <a:ext cx="2880360" cy="365760"/>
          </a:xfrm>
          <a:prstGeom prst="rect">
            <a:avLst/>
          </a:prstGeom>
          <a:noFill/>
        </p:spPr>
        <p:txBody>
          <a:bodyPr wrap="square">
            <a:spAutoFit/>
          </a:bodyPr>
          <a:lstStyle/>
          <a:p>
            <a:pPr algn="l"/>
            <a:r>
              <a:rPr sz="1200" b="1" i="0">
                <a:solidFill>
                  <a:srgbClr val="F39C12"/>
                </a:solidFill>
                <a:latin typeface="Calibri"/>
              </a:rPr>
              <a:t>LECTURE MÉTIER</a:t>
            </a:r>
          </a:p>
        </p:txBody>
      </p:sp>
      <p:sp>
        <p:nvSpPr>
          <p:cNvPr id="11" name="TextBox 10"/>
          <p:cNvSpPr txBox="1"/>
          <p:nvPr/>
        </p:nvSpPr>
        <p:spPr>
          <a:xfrm>
            <a:off x="8823960" y="2468880"/>
            <a:ext cx="2834640" cy="3200400"/>
          </a:xfrm>
          <a:prstGeom prst="rect">
            <a:avLst/>
          </a:prstGeom>
          <a:noFill/>
        </p:spPr>
        <p:txBody>
          <a:bodyPr wrap="square">
            <a:spAutoFit/>
          </a:bodyPr>
          <a:lstStyle/>
          <a:p>
            <a:pPr algn="l"/>
            <a:r>
              <a:rPr sz="1350" b="0" i="0">
                <a:solidFill>
                  <a:srgbClr val="2C3E50"/>
                </a:solidFill>
                <a:latin typeface="Calibri"/>
              </a:rPr>
              <a:t>Enjeux positionnés selon leur exposition estimée et leur sensibilité économique, à partir des données déclarées.</a:t>
            </a:r>
          </a:p>
        </p:txBody>
      </p:sp>
      <p:sp>
        <p:nvSpPr>
          <p:cNvPr id="12" name="TextBox 11"/>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ALIGNEMENT TAXONOMIE EUROPÉENNE</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52 % des investissements (CapEx) déjà alignés à la Taxonomie UE</a:t>
            </a:r>
          </a:p>
        </p:txBody>
      </p:sp>
      <p:sp>
        <p:nvSpPr>
          <p:cNvPr id="7" name="TextBox 6"/>
          <p:cNvSpPr txBox="1"/>
          <p:nvPr/>
        </p:nvSpPr>
        <p:spPr>
          <a:xfrm>
            <a:off x="411480" y="1554480"/>
            <a:ext cx="4937760" cy="1737360"/>
          </a:xfrm>
          <a:prstGeom prst="rect">
            <a:avLst/>
          </a:prstGeom>
          <a:noFill/>
        </p:spPr>
        <p:txBody>
          <a:bodyPr wrap="square">
            <a:spAutoFit/>
          </a:bodyPr>
          <a:lstStyle/>
          <a:p>
            <a:pPr algn="l"/>
            <a:r>
              <a:rPr sz="9600" b="1" i="0">
                <a:solidFill>
                  <a:srgbClr val="27AE60"/>
                </a:solidFill>
                <a:latin typeface="Calibri"/>
              </a:rPr>
              <a:t>52%</a:t>
            </a:r>
          </a:p>
        </p:txBody>
      </p:sp>
      <p:sp>
        <p:nvSpPr>
          <p:cNvPr id="8" name="TextBox 7"/>
          <p:cNvSpPr txBox="1"/>
          <p:nvPr/>
        </p:nvSpPr>
        <p:spPr>
          <a:xfrm>
            <a:off x="548640" y="3429000"/>
            <a:ext cx="4846320" cy="822960"/>
          </a:xfrm>
          <a:prstGeom prst="rect">
            <a:avLst/>
          </a:prstGeom>
          <a:noFill/>
        </p:spPr>
        <p:txBody>
          <a:bodyPr wrap="square">
            <a:spAutoFit/>
          </a:bodyPr>
          <a:lstStyle/>
          <a:p>
            <a:pPr algn="l"/>
            <a:r>
              <a:rPr sz="1500" b="1" i="0">
                <a:solidFill>
                  <a:srgbClr val="2C3E50"/>
                </a:solidFill>
                <a:latin typeface="Calibri"/>
              </a:rPr>
              <a:t>Part maximale d'activités alignées à la Taxonomie UE</a:t>
            </a:r>
          </a:p>
        </p:txBody>
      </p:sp>
      <p:sp>
        <p:nvSpPr>
          <p:cNvPr id="9" name="Rounded Rectangle 8"/>
          <p:cNvSpPr/>
          <p:nvPr/>
        </p:nvSpPr>
        <p:spPr>
          <a:xfrm>
            <a:off x="502920" y="4297680"/>
            <a:ext cx="4892040" cy="2103120"/>
          </a:xfrm>
          <a:prstGeom prst="roundRect">
            <a:avLst/>
          </a:prstGeom>
          <a:solidFill>
            <a:srgbClr val="EBF2FB"/>
          </a:solidFill>
          <a:ln w="15875">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4297680"/>
            <a:ext cx="82296" cy="2103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462272"/>
            <a:ext cx="4389120" cy="365760"/>
          </a:xfrm>
          <a:prstGeom prst="rect">
            <a:avLst/>
          </a:prstGeom>
          <a:noFill/>
        </p:spPr>
        <p:txBody>
          <a:bodyPr wrap="square">
            <a:spAutoFit/>
          </a:bodyPr>
          <a:lstStyle/>
          <a:p>
            <a:pPr algn="l"/>
            <a:r>
              <a:rPr sz="1150" b="1" i="0">
                <a:solidFill>
                  <a:srgbClr val="27AE60"/>
                </a:solidFill>
                <a:latin typeface="Calibri"/>
              </a:rPr>
              <a:t>LECTURE MÉTIER</a:t>
            </a:r>
          </a:p>
        </p:txBody>
      </p:sp>
      <p:sp>
        <p:nvSpPr>
          <p:cNvPr id="12" name="TextBox 11"/>
          <p:cNvSpPr txBox="1"/>
          <p:nvPr/>
        </p:nvSpPr>
        <p:spPr>
          <a:xfrm>
            <a:off x="777240" y="4828032"/>
            <a:ext cx="4434840" cy="1463040"/>
          </a:xfrm>
          <a:prstGeom prst="rect">
            <a:avLst/>
          </a:prstGeom>
          <a:noFill/>
        </p:spPr>
        <p:txBody>
          <a:bodyPr wrap="square">
            <a:spAutoFit/>
          </a:bodyPr>
          <a:lstStyle/>
          <a:p>
            <a:pPr algn="l"/>
            <a:r>
              <a:rPr sz="1300" b="0" i="0">
                <a:solidFill>
                  <a:srgbClr val="2C3E50"/>
                </a:solidFill>
                <a:latin typeface="Calibr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3" name="Picture 12" descr="image.png"/>
          <p:cNvPicPr>
            <a:picLocks noChangeAspect="1"/>
          </p:cNvPicPr>
          <p:nvPr/>
        </p:nvPicPr>
        <p:blipFill>
          <a:blip r:embed="rId2"/>
          <a:stretch>
            <a:fillRect/>
          </a:stretch>
        </p:blipFill>
        <p:spPr>
          <a:xfrm>
            <a:off x="5760720" y="2286000"/>
            <a:ext cx="6126480" cy="2728414"/>
          </a:xfrm>
          <a:prstGeom prst="rect">
            <a:avLst/>
          </a:prstGeom>
        </p:spPr>
      </p:pic>
      <p:sp>
        <p:nvSpPr>
          <p:cNvPr id="14" name="TextBox 13"/>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ANALYSE STRATÉGIQUE ESG</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028" b="1" i="0">
                <a:solidFill>
                  <a:srgbClr val="FFFFFF"/>
                </a:solidFill>
                <a:latin typeface="Calibri"/>
              </a:rPr>
              <a:t>5 forces établies, 5 leviers de progression</a:t>
            </a:r>
          </a:p>
        </p:txBody>
      </p:sp>
      <p:sp>
        <p:nvSpPr>
          <p:cNvPr id="7" name="Rectangle 6"/>
          <p:cNvSpPr/>
          <p:nvPr/>
        </p:nvSpPr>
        <p:spPr>
          <a:xfrm>
            <a:off x="274320" y="1143000"/>
            <a:ext cx="5669280" cy="5257800"/>
          </a:xfrm>
          <a:prstGeom prst="rect">
            <a:avLst/>
          </a:prstGeom>
          <a:solidFill>
            <a:srgbClr val="EBF2FB"/>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25880"/>
            <a:ext cx="1188720" cy="914400"/>
          </a:xfrm>
          <a:prstGeom prst="rect">
            <a:avLst/>
          </a:prstGeom>
          <a:noFill/>
        </p:spPr>
        <p:txBody>
          <a:bodyPr wrap="square">
            <a:spAutoFit/>
          </a:bodyPr>
          <a:lstStyle/>
          <a:p>
            <a:pPr algn="l"/>
            <a:r>
              <a:rPr sz="4600" b="1" i="0">
                <a:solidFill>
                  <a:srgbClr val="27AE60"/>
                </a:solidFill>
                <a:latin typeface="Calibri"/>
              </a:rPr>
              <a:t>5</a:t>
            </a:r>
          </a:p>
        </p:txBody>
      </p:sp>
      <p:sp>
        <p:nvSpPr>
          <p:cNvPr id="9" name="TextBox 8"/>
          <p:cNvSpPr txBox="1"/>
          <p:nvPr/>
        </p:nvSpPr>
        <p:spPr>
          <a:xfrm>
            <a:off x="1600200" y="1572768"/>
            <a:ext cx="4206240" cy="640080"/>
          </a:xfrm>
          <a:prstGeom prst="rect">
            <a:avLst/>
          </a:prstGeom>
          <a:noFill/>
        </p:spPr>
        <p:txBody>
          <a:bodyPr wrap="square">
            <a:spAutoFit/>
          </a:bodyPr>
          <a:lstStyle/>
          <a:p>
            <a:pPr algn="l"/>
            <a:r>
              <a:rPr sz="1500" b="1" i="0">
                <a:solidFill>
                  <a:srgbClr val="2C3E50"/>
                </a:solidFill>
                <a:latin typeface="Calibri"/>
              </a:rPr>
              <a:t>POINTS FORTS</a:t>
            </a:r>
          </a:p>
        </p:txBody>
      </p:sp>
      <p:sp>
        <p:nvSpPr>
          <p:cNvPr id="10" name="Rectangle 9"/>
          <p:cNvSpPr/>
          <p:nvPr/>
        </p:nvSpPr>
        <p:spPr>
          <a:xfrm>
            <a:off x="548640" y="2423160"/>
            <a:ext cx="5120640" cy="1828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2770632"/>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697480"/>
            <a:ext cx="4800600" cy="658368"/>
          </a:xfrm>
          <a:prstGeom prst="rect">
            <a:avLst/>
          </a:prstGeom>
          <a:noFill/>
        </p:spPr>
        <p:txBody>
          <a:bodyPr wrap="square">
            <a:spAutoFit/>
          </a:bodyPr>
          <a:lstStyle/>
          <a:p>
            <a:pPr algn="l"/>
            <a:r>
              <a:rPr sz="1250" b="0" i="0">
                <a:solidFill>
                  <a:srgbClr val="2C3E50"/>
                </a:solidFill>
                <a:latin typeface="Calibri"/>
              </a:rPr>
              <a:t>Excellente performance environnementale globale</a:t>
            </a:r>
          </a:p>
        </p:txBody>
      </p:sp>
      <p:sp>
        <p:nvSpPr>
          <p:cNvPr id="13" name="Oval 12"/>
          <p:cNvSpPr/>
          <p:nvPr/>
        </p:nvSpPr>
        <p:spPr>
          <a:xfrm>
            <a:off x="566928" y="3483864"/>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410712"/>
            <a:ext cx="4800600" cy="658368"/>
          </a:xfrm>
          <a:prstGeom prst="rect">
            <a:avLst/>
          </a:prstGeom>
          <a:noFill/>
        </p:spPr>
        <p:txBody>
          <a:bodyPr wrap="square">
            <a:spAutoFit/>
          </a:bodyPr>
          <a:lstStyle/>
          <a:p>
            <a:pPr algn="l"/>
            <a:r>
              <a:rPr sz="1250" b="0" i="0">
                <a:solidFill>
                  <a:srgbClr val="2C3E50"/>
                </a:solidFill>
                <a:latin typeface="Calibri"/>
              </a:rPr>
              <a:t>Comité de durabilité opérationnel au niveau du CA</a:t>
            </a:r>
          </a:p>
        </p:txBody>
      </p:sp>
      <p:sp>
        <p:nvSpPr>
          <p:cNvPr id="15" name="Oval 14"/>
          <p:cNvSpPr/>
          <p:nvPr/>
        </p:nvSpPr>
        <p:spPr>
          <a:xfrm>
            <a:off x="566928" y="4197096"/>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4123944"/>
            <a:ext cx="4800600" cy="658368"/>
          </a:xfrm>
          <a:prstGeom prst="rect">
            <a:avLst/>
          </a:prstGeom>
          <a:noFill/>
        </p:spPr>
        <p:txBody>
          <a:bodyPr wrap="square">
            <a:spAutoFit/>
          </a:bodyPr>
          <a:lstStyle/>
          <a:p>
            <a:pPr algn="l"/>
            <a:r>
              <a:rPr sz="1250" b="0" i="0">
                <a:solidFill>
                  <a:srgbClr val="2C3E50"/>
                </a:solidFill>
                <a:latin typeface="Calibri"/>
              </a:rPr>
              <a:t>Parité exemplaire au Conseil d'Administration (44%)</a:t>
            </a:r>
          </a:p>
        </p:txBody>
      </p:sp>
      <p:sp>
        <p:nvSpPr>
          <p:cNvPr id="17" name="Oval 16"/>
          <p:cNvSpPr/>
          <p:nvPr/>
        </p:nvSpPr>
        <p:spPr>
          <a:xfrm>
            <a:off x="566928" y="4910328"/>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4837176"/>
            <a:ext cx="4800600" cy="658368"/>
          </a:xfrm>
          <a:prstGeom prst="rect">
            <a:avLst/>
          </a:prstGeom>
          <a:noFill/>
        </p:spPr>
        <p:txBody>
          <a:bodyPr wrap="square">
            <a:spAutoFit/>
          </a:bodyPr>
          <a:lstStyle/>
          <a:p>
            <a:pPr algn="l"/>
            <a:r>
              <a:rPr sz="1250" b="0" i="0">
                <a:solidFill>
                  <a:srgbClr val="2C3E50"/>
                </a:solidFill>
                <a:latin typeface="Calibri"/>
              </a:rPr>
              <a:t>Gouvernance de haute qualité et transparente</a:t>
            </a:r>
          </a:p>
        </p:txBody>
      </p:sp>
      <p:sp>
        <p:nvSpPr>
          <p:cNvPr id="19" name="Oval 18"/>
          <p:cNvSpPr/>
          <p:nvPr/>
        </p:nvSpPr>
        <p:spPr>
          <a:xfrm>
            <a:off x="566928" y="5623560"/>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550408"/>
            <a:ext cx="4800600" cy="658368"/>
          </a:xfrm>
          <a:prstGeom prst="rect">
            <a:avLst/>
          </a:prstGeom>
          <a:noFill/>
        </p:spPr>
        <p:txBody>
          <a:bodyPr wrap="square">
            <a:spAutoFit/>
          </a:bodyPr>
          <a:lstStyle/>
          <a:p>
            <a:pPr algn="l"/>
            <a:r>
              <a:rPr sz="1250" b="0" i="0">
                <a:solidFill>
                  <a:srgbClr val="2C3E50"/>
                </a:solidFill>
                <a:latin typeface="Calibri"/>
              </a:rPr>
              <a:t>Reporting complet des émissions Scope 1, 2 et 3</a:t>
            </a:r>
          </a:p>
        </p:txBody>
      </p:sp>
      <p:sp>
        <p:nvSpPr>
          <p:cNvPr id="21" name="Rectangle 20"/>
          <p:cNvSpPr/>
          <p:nvPr/>
        </p:nvSpPr>
        <p:spPr>
          <a:xfrm>
            <a:off x="6245352" y="1143000"/>
            <a:ext cx="5669280" cy="5257800"/>
          </a:xfrm>
          <a:prstGeom prst="rect">
            <a:avLst/>
          </a:prstGeom>
          <a:solidFill>
            <a:srgbClr val="EBF2FB"/>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Calibri"/>
              </a:rPr>
              <a:t>5</a:t>
            </a:r>
          </a:p>
        </p:txBody>
      </p:sp>
      <p:sp>
        <p:nvSpPr>
          <p:cNvPr id="23" name="TextBox 22"/>
          <p:cNvSpPr txBox="1"/>
          <p:nvPr/>
        </p:nvSpPr>
        <p:spPr>
          <a:xfrm>
            <a:off x="7571232" y="1572768"/>
            <a:ext cx="4206240" cy="640080"/>
          </a:xfrm>
          <a:prstGeom prst="rect">
            <a:avLst/>
          </a:prstGeom>
          <a:noFill/>
        </p:spPr>
        <p:txBody>
          <a:bodyPr wrap="square">
            <a:spAutoFit/>
          </a:bodyPr>
          <a:lstStyle/>
          <a:p>
            <a:pPr algn="l"/>
            <a:r>
              <a:rPr sz="1500" b="1" i="0">
                <a:solidFill>
                  <a:srgbClr val="2C3E50"/>
                </a:solidFill>
                <a:latin typeface="Calibri"/>
              </a:rPr>
              <a:t>AXES D'AMÉLIORATION</a:t>
            </a:r>
          </a:p>
        </p:txBody>
      </p:sp>
      <p:sp>
        <p:nvSpPr>
          <p:cNvPr id="24" name="Rectangle 23"/>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67144" y="2697480"/>
            <a:ext cx="4800600" cy="658368"/>
          </a:xfrm>
          <a:prstGeom prst="rect">
            <a:avLst/>
          </a:prstGeom>
          <a:noFill/>
        </p:spPr>
        <p:txBody>
          <a:bodyPr wrap="square">
            <a:spAutoFit/>
          </a:bodyPr>
          <a:lstStyle/>
          <a:p>
            <a:pPr algn="l"/>
            <a:r>
              <a:rPr sz="1250" b="0" i="0">
                <a:solidFill>
                  <a:srgbClr val="2C3E50"/>
                </a:solidFill>
                <a:latin typeface="Calibri"/>
              </a:rPr>
              <a:t>Énergie renouvelable à renforcer (actuellement 42%, objectif 50%)</a:t>
            </a:r>
          </a:p>
        </p:txBody>
      </p:sp>
      <p:sp>
        <p:nvSpPr>
          <p:cNvPr id="27" name="Oval 26"/>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67144" y="3410712"/>
            <a:ext cx="4800600" cy="658368"/>
          </a:xfrm>
          <a:prstGeom prst="rect">
            <a:avLst/>
          </a:prstGeom>
          <a:noFill/>
        </p:spPr>
        <p:txBody>
          <a:bodyPr wrap="square">
            <a:spAutoFit/>
          </a:bodyPr>
          <a:lstStyle/>
          <a:p>
            <a:pPr algn="l"/>
            <a:r>
              <a:rPr sz="1250" b="0" i="0">
                <a:solidFill>
                  <a:srgbClr val="2C3E50"/>
                </a:solidFill>
                <a:latin typeface="Calibri"/>
              </a:rPr>
              <a:t>Déséquilibre de genre dans les effectifs (34% de femmes)</a:t>
            </a:r>
          </a:p>
        </p:txBody>
      </p:sp>
      <p:sp>
        <p:nvSpPr>
          <p:cNvPr id="29" name="Oval 28"/>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67144" y="4123944"/>
            <a:ext cx="4800600" cy="658368"/>
          </a:xfrm>
          <a:prstGeom prst="rect">
            <a:avLst/>
          </a:prstGeom>
          <a:noFill/>
        </p:spPr>
        <p:txBody>
          <a:bodyPr wrap="square">
            <a:spAutoFit/>
          </a:bodyPr>
          <a:lstStyle/>
          <a:p>
            <a:pPr algn="l"/>
            <a:r>
              <a:rPr sz="1250" b="0" i="0">
                <a:solidFill>
                  <a:srgbClr val="2C3E50"/>
                </a:solidFill>
                <a:latin typeface="Calibri"/>
              </a:rPr>
              <a:t>Taux de fréquence des accidents élevé (TF 6.2)</a:t>
            </a:r>
          </a:p>
        </p:txBody>
      </p:sp>
      <p:sp>
        <p:nvSpPr>
          <p:cNvPr id="31" name="Oval 30"/>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67144" y="4837176"/>
            <a:ext cx="4800600" cy="658368"/>
          </a:xfrm>
          <a:prstGeom prst="rect">
            <a:avLst/>
          </a:prstGeom>
          <a:noFill/>
        </p:spPr>
        <p:txBody>
          <a:bodyPr wrap="square">
            <a:spAutoFit/>
          </a:bodyPr>
          <a:lstStyle/>
          <a:p>
            <a:pPr algn="l"/>
            <a:r>
              <a:rPr sz="1250" b="0" i="0">
                <a:solidFill>
                  <a:srgbClr val="2C3E50"/>
                </a:solidFill>
                <a:latin typeface="Calibri"/>
              </a:rPr>
              <a:t>Une violation de données — cybersécurité à renforcer</a:t>
            </a:r>
          </a:p>
        </p:txBody>
      </p:sp>
      <p:sp>
        <p:nvSpPr>
          <p:cNvPr id="33" name="Oval 32"/>
          <p:cNvSpPr/>
          <p:nvPr/>
        </p:nvSpPr>
        <p:spPr>
          <a:xfrm>
            <a:off x="6537960" y="5623560"/>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67144" y="5550408"/>
            <a:ext cx="4800600" cy="658368"/>
          </a:xfrm>
          <a:prstGeom prst="rect">
            <a:avLst/>
          </a:prstGeom>
          <a:noFill/>
        </p:spPr>
        <p:txBody>
          <a:bodyPr wrap="square">
            <a:spAutoFit/>
          </a:bodyPr>
          <a:lstStyle/>
          <a:p>
            <a:pPr algn="l"/>
            <a:r>
              <a:rPr sz="1250" b="0" i="0">
                <a:solidFill>
                  <a:srgbClr val="2C3E50"/>
                </a:solidFill>
                <a:latin typeface="Calibri"/>
              </a:rPr>
              <a:t>Absence d'audit ESG indépendant</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RISQUES &amp; OPPORTUNITÉS</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Où se concentrent vos risques et vos leviers de valeur</a:t>
            </a:r>
          </a:p>
        </p:txBody>
      </p:sp>
      <p:sp>
        <p:nvSpPr>
          <p:cNvPr id="7" name="Rectangle 6"/>
          <p:cNvSpPr/>
          <p:nvPr/>
        </p:nvSpPr>
        <p:spPr>
          <a:xfrm>
            <a:off x="274320" y="1143000"/>
            <a:ext cx="5669280" cy="5257800"/>
          </a:xfrm>
          <a:prstGeom prst="rect">
            <a:avLst/>
          </a:prstGeom>
          <a:solidFill>
            <a:srgbClr val="EBF2FB"/>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Calibri"/>
              </a:rPr>
              <a:t>!</a:t>
            </a:r>
          </a:p>
        </p:txBody>
      </p:sp>
      <p:sp>
        <p:nvSpPr>
          <p:cNvPr id="10" name="TextBox 9"/>
          <p:cNvSpPr txBox="1"/>
          <p:nvPr/>
        </p:nvSpPr>
        <p:spPr>
          <a:xfrm>
            <a:off x="1234440" y="1481328"/>
            <a:ext cx="4572000" cy="548640"/>
          </a:xfrm>
          <a:prstGeom prst="rect">
            <a:avLst/>
          </a:prstGeom>
          <a:noFill/>
        </p:spPr>
        <p:txBody>
          <a:bodyPr wrap="square">
            <a:spAutoFit/>
          </a:bodyPr>
          <a:lstStyle/>
          <a:p>
            <a:pPr algn="l"/>
            <a:r>
              <a:rPr sz="1600" b="1" i="0">
                <a:solidFill>
                  <a:srgbClr val="2C3E50"/>
                </a:solidFill>
                <a:latin typeface="Calibri"/>
              </a:rPr>
              <a:t>RISQUES MAJEURS</a:t>
            </a:r>
          </a:p>
        </p:txBody>
      </p:sp>
      <p:sp>
        <p:nvSpPr>
          <p:cNvPr id="11" name="Rectangle 10"/>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Calibri"/>
              </a:rPr>
              <a:t>Fiabilité</a:t>
            </a:r>
          </a:p>
        </p:txBody>
      </p:sp>
      <p:sp>
        <p:nvSpPr>
          <p:cNvPr id="14" name="Oval 13"/>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Calibri"/>
              </a:rPr>
              <a:t>P1</a:t>
            </a:r>
          </a:p>
        </p:txBody>
      </p:sp>
      <p:sp>
        <p:nvSpPr>
          <p:cNvPr id="16" name="TextBox 15"/>
          <p:cNvSpPr txBox="1"/>
          <p:nvPr/>
        </p:nvSpPr>
        <p:spPr>
          <a:xfrm>
            <a:off x="548640" y="2816352"/>
            <a:ext cx="5120640" cy="548640"/>
          </a:xfrm>
          <a:prstGeom prst="rect">
            <a:avLst/>
          </a:prstGeom>
          <a:noFill/>
        </p:spPr>
        <p:txBody>
          <a:bodyPr wrap="square">
            <a:spAutoFit/>
          </a:bodyPr>
          <a:lstStyle/>
          <a:p>
            <a:pPr algn="l"/>
            <a:r>
              <a:rPr sz="1250" b="0" i="0">
                <a:solidFill>
                  <a:srgbClr val="2C3E50"/>
                </a:solidFill>
                <a:latin typeface="Calibri"/>
              </a:rPr>
              <a:t>Reporting non audité : crédibilité limitée auprès des investisseurs</a:t>
            </a:r>
          </a:p>
        </p:txBody>
      </p:sp>
      <p:sp>
        <p:nvSpPr>
          <p:cNvPr id="17" name="Rounded Rectangle 16"/>
          <p:cNvSpPr/>
          <p:nvPr/>
        </p:nvSpPr>
        <p:spPr>
          <a:xfrm>
            <a:off x="548640" y="3429000"/>
            <a:ext cx="1463040"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447288"/>
            <a:ext cx="1463040" cy="237744"/>
          </a:xfrm>
          <a:prstGeom prst="rect">
            <a:avLst/>
          </a:prstGeom>
          <a:noFill/>
        </p:spPr>
        <p:txBody>
          <a:bodyPr wrap="square">
            <a:spAutoFit/>
          </a:bodyPr>
          <a:lstStyle/>
          <a:p>
            <a:pPr algn="ctr"/>
            <a:r>
              <a:rPr sz="950" b="1" i="0">
                <a:solidFill>
                  <a:srgbClr val="FFFFFF"/>
                </a:solidFill>
                <a:latin typeface="Calibri"/>
              </a:rPr>
              <a:t>Opérationnel</a:t>
            </a:r>
          </a:p>
        </p:txBody>
      </p:sp>
      <p:sp>
        <p:nvSpPr>
          <p:cNvPr id="19" name="Oval 18"/>
          <p:cNvSpPr/>
          <p:nvPr/>
        </p:nvSpPr>
        <p:spPr>
          <a:xfrm>
            <a:off x="5257800" y="342900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Calibri"/>
              </a:rPr>
              <a:t>P1</a:t>
            </a:r>
          </a:p>
        </p:txBody>
      </p:sp>
      <p:sp>
        <p:nvSpPr>
          <p:cNvPr id="21" name="TextBox 20"/>
          <p:cNvSpPr txBox="1"/>
          <p:nvPr/>
        </p:nvSpPr>
        <p:spPr>
          <a:xfrm>
            <a:off x="548640" y="3776472"/>
            <a:ext cx="5120640" cy="548640"/>
          </a:xfrm>
          <a:prstGeom prst="rect">
            <a:avLst/>
          </a:prstGeom>
          <a:noFill/>
        </p:spPr>
        <p:txBody>
          <a:bodyPr wrap="square">
            <a:spAutoFit/>
          </a:bodyPr>
          <a:lstStyle/>
          <a:p>
            <a:pPr algn="l"/>
            <a:r>
              <a:rPr sz="1250" b="0" i="0">
                <a:solidFill>
                  <a:srgbClr val="2C3E50"/>
                </a:solidFill>
                <a:latin typeface="Calibri"/>
              </a:rPr>
              <a:t>Sinistralité élevée : risque humain et social</a:t>
            </a:r>
          </a:p>
        </p:txBody>
      </p:sp>
      <p:sp>
        <p:nvSpPr>
          <p:cNvPr id="22" name="Rounded Rectangle 21"/>
          <p:cNvSpPr/>
          <p:nvPr/>
        </p:nvSpPr>
        <p:spPr>
          <a:xfrm>
            <a:off x="548640" y="438912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407408"/>
            <a:ext cx="1261872" cy="237744"/>
          </a:xfrm>
          <a:prstGeom prst="rect">
            <a:avLst/>
          </a:prstGeom>
          <a:noFill/>
        </p:spPr>
        <p:txBody>
          <a:bodyPr wrap="square">
            <a:spAutoFit/>
          </a:bodyPr>
          <a:lstStyle/>
          <a:p>
            <a:pPr algn="ctr"/>
            <a:r>
              <a:rPr sz="950" b="1" i="0">
                <a:solidFill>
                  <a:srgbClr val="FFFFFF"/>
                </a:solidFill>
                <a:latin typeface="Calibri"/>
              </a:rPr>
              <a:t>Transition</a:t>
            </a:r>
          </a:p>
        </p:txBody>
      </p:sp>
      <p:sp>
        <p:nvSpPr>
          <p:cNvPr id="24" name="Oval 23"/>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Calibri"/>
              </a:rPr>
              <a:t>P2</a:t>
            </a:r>
          </a:p>
        </p:txBody>
      </p:sp>
      <p:sp>
        <p:nvSpPr>
          <p:cNvPr id="26" name="TextBox 25"/>
          <p:cNvSpPr txBox="1"/>
          <p:nvPr/>
        </p:nvSpPr>
        <p:spPr>
          <a:xfrm>
            <a:off x="548640" y="4736592"/>
            <a:ext cx="5120640" cy="548640"/>
          </a:xfrm>
          <a:prstGeom prst="rect">
            <a:avLst/>
          </a:prstGeom>
          <a:noFill/>
        </p:spPr>
        <p:txBody>
          <a:bodyPr wrap="square">
            <a:spAutoFit/>
          </a:bodyPr>
          <a:lstStyle/>
          <a:p>
            <a:pPr algn="l"/>
            <a:r>
              <a:rPr sz="1250" b="0" i="0">
                <a:solidFill>
                  <a:srgbClr val="2C3E50"/>
                </a:solidFill>
                <a:latin typeface="Calibri"/>
              </a:rPr>
              <a:t>Intensité carbone élevée : marge exposée à la tarification du carbone</a:t>
            </a:r>
          </a:p>
        </p:txBody>
      </p:sp>
      <p:sp>
        <p:nvSpPr>
          <p:cNvPr id="27" name="Rounded Rectangle 26"/>
          <p:cNvSpPr/>
          <p:nvPr/>
        </p:nvSpPr>
        <p:spPr>
          <a:xfrm>
            <a:off x="548640" y="5349240"/>
            <a:ext cx="1563624"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5367528"/>
            <a:ext cx="1563624" cy="237744"/>
          </a:xfrm>
          <a:prstGeom prst="rect">
            <a:avLst/>
          </a:prstGeom>
          <a:noFill/>
        </p:spPr>
        <p:txBody>
          <a:bodyPr wrap="square">
            <a:spAutoFit/>
          </a:bodyPr>
          <a:lstStyle/>
          <a:p>
            <a:pPr algn="ctr"/>
            <a:r>
              <a:rPr sz="950" b="1" i="0">
                <a:solidFill>
                  <a:srgbClr val="FFFFFF"/>
                </a:solidFill>
                <a:latin typeface="Calibri"/>
              </a:rPr>
              <a:t>Réglementaire</a:t>
            </a:r>
          </a:p>
        </p:txBody>
      </p:sp>
      <p:sp>
        <p:nvSpPr>
          <p:cNvPr id="29" name="Oval 28"/>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Calibri"/>
              </a:rPr>
              <a:t>P2</a:t>
            </a:r>
          </a:p>
        </p:txBody>
      </p:sp>
      <p:sp>
        <p:nvSpPr>
          <p:cNvPr id="31" name="TextBox 30"/>
          <p:cNvSpPr txBox="1"/>
          <p:nvPr/>
        </p:nvSpPr>
        <p:spPr>
          <a:xfrm>
            <a:off x="548640" y="5696712"/>
            <a:ext cx="5120640" cy="548640"/>
          </a:xfrm>
          <a:prstGeom prst="rect">
            <a:avLst/>
          </a:prstGeom>
          <a:noFill/>
        </p:spPr>
        <p:txBody>
          <a:bodyPr wrap="square">
            <a:spAutoFit/>
          </a:bodyPr>
          <a:lstStyle/>
          <a:p>
            <a:pPr algn="l"/>
            <a:r>
              <a:rPr sz="1250" b="0" i="0">
                <a:solidFill>
                  <a:srgbClr val="2C3E50"/>
                </a:solidFill>
                <a:latin typeface="Calibri"/>
              </a:rPr>
              <a:t>Parité sous la cible : risque réglementaire et d'attractivité</a:t>
            </a:r>
          </a:p>
        </p:txBody>
      </p:sp>
      <p:sp>
        <p:nvSpPr>
          <p:cNvPr id="32" name="Rectangle 31"/>
          <p:cNvSpPr/>
          <p:nvPr/>
        </p:nvSpPr>
        <p:spPr>
          <a:xfrm>
            <a:off x="6245352" y="1143000"/>
            <a:ext cx="5669280" cy="5257800"/>
          </a:xfrm>
          <a:prstGeom prst="rect">
            <a:avLst/>
          </a:prstGeom>
          <a:solidFill>
            <a:srgbClr val="EBF2FB"/>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19672" y="1371600"/>
            <a:ext cx="566928" cy="566928"/>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Calibri"/>
              </a:rPr>
              <a:t>+</a:t>
            </a:r>
          </a:p>
        </p:txBody>
      </p:sp>
      <p:sp>
        <p:nvSpPr>
          <p:cNvPr id="35" name="TextBox 34"/>
          <p:cNvSpPr txBox="1"/>
          <p:nvPr/>
        </p:nvSpPr>
        <p:spPr>
          <a:xfrm>
            <a:off x="7205472" y="1481328"/>
            <a:ext cx="4572000" cy="548640"/>
          </a:xfrm>
          <a:prstGeom prst="rect">
            <a:avLst/>
          </a:prstGeom>
          <a:noFill/>
        </p:spPr>
        <p:txBody>
          <a:bodyPr wrap="square">
            <a:spAutoFit/>
          </a:bodyPr>
          <a:lstStyle/>
          <a:p>
            <a:pPr algn="l"/>
            <a:r>
              <a:rPr sz="1600" b="1" i="0">
                <a:solidFill>
                  <a:srgbClr val="2C3E50"/>
                </a:solidFill>
                <a:latin typeface="Calibri"/>
              </a:rPr>
              <a:t>OPPORTUNITÉS MAJEURES</a:t>
            </a:r>
          </a:p>
        </p:txBody>
      </p:sp>
      <p:sp>
        <p:nvSpPr>
          <p:cNvPr id="36" name="Rectangle 35"/>
          <p:cNvSpPr/>
          <p:nvPr/>
        </p:nvSpPr>
        <p:spPr>
          <a:xfrm>
            <a:off x="6519672" y="2194560"/>
            <a:ext cx="5120640" cy="1828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519672" y="2468880"/>
            <a:ext cx="1362456"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Calibri"/>
              </a:rPr>
              <a:t>Financement</a:t>
            </a:r>
          </a:p>
        </p:txBody>
      </p:sp>
      <p:sp>
        <p:nvSpPr>
          <p:cNvPr id="39" name="TextBox 38"/>
          <p:cNvSpPr txBox="1"/>
          <p:nvPr/>
        </p:nvSpPr>
        <p:spPr>
          <a:xfrm>
            <a:off x="6519672" y="2816352"/>
            <a:ext cx="5120640" cy="548640"/>
          </a:xfrm>
          <a:prstGeom prst="rect">
            <a:avLst/>
          </a:prstGeom>
          <a:noFill/>
        </p:spPr>
        <p:txBody>
          <a:bodyPr wrap="square">
            <a:spAutoFit/>
          </a:bodyPr>
          <a:lstStyle/>
          <a:p>
            <a:pPr algn="l"/>
            <a:r>
              <a:rPr sz="1250" b="0" i="0">
                <a:solidFill>
                  <a:srgbClr val="2C3E50"/>
                </a:solidFill>
                <a:latin typeface="Calibri"/>
              </a:rPr>
              <a:t>Gouvernance solide : accès facilité aux financements ESG (green bonds, prêts indexés)</a:t>
            </a:r>
          </a:p>
        </p:txBody>
      </p:sp>
      <p:sp>
        <p:nvSpPr>
          <p:cNvPr id="40" name="Rounded Rectangle 39"/>
          <p:cNvSpPr/>
          <p:nvPr/>
        </p:nvSpPr>
        <p:spPr>
          <a:xfrm>
            <a:off x="6519672" y="3429000"/>
            <a:ext cx="1362456"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Calibri"/>
              </a:rPr>
              <a:t>Financement</a:t>
            </a:r>
          </a:p>
        </p:txBody>
      </p:sp>
      <p:sp>
        <p:nvSpPr>
          <p:cNvPr id="42" name="TextBox 41"/>
          <p:cNvSpPr txBox="1"/>
          <p:nvPr/>
        </p:nvSpPr>
        <p:spPr>
          <a:xfrm>
            <a:off x="6519672" y="3776472"/>
            <a:ext cx="5120640" cy="548640"/>
          </a:xfrm>
          <a:prstGeom prst="rect">
            <a:avLst/>
          </a:prstGeom>
          <a:noFill/>
        </p:spPr>
        <p:txBody>
          <a:bodyPr wrap="square">
            <a:spAutoFit/>
          </a:bodyPr>
          <a:lstStyle/>
          <a:p>
            <a:pPr algn="l"/>
            <a:r>
              <a:rPr sz="1250" b="0" i="0">
                <a:solidFill>
                  <a:srgbClr val="2C3E50"/>
                </a:solidFill>
                <a:latin typeface="Calibri"/>
              </a:rPr>
              <a:t>Activités alignées Taxonomie : éligibilité aux financements verts</a:t>
            </a:r>
          </a:p>
        </p:txBody>
      </p:sp>
      <p:sp>
        <p:nvSpPr>
          <p:cNvPr id="43" name="Rounded Rectangle 42"/>
          <p:cNvSpPr/>
          <p:nvPr/>
        </p:nvSpPr>
        <p:spPr>
          <a:xfrm>
            <a:off x="6519672" y="4389120"/>
            <a:ext cx="758952"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Calibri"/>
              </a:rPr>
              <a:t>Coûts</a:t>
            </a:r>
          </a:p>
        </p:txBody>
      </p:sp>
      <p:sp>
        <p:nvSpPr>
          <p:cNvPr id="45" name="TextBox 44"/>
          <p:cNvSpPr txBox="1"/>
          <p:nvPr/>
        </p:nvSpPr>
        <p:spPr>
          <a:xfrm>
            <a:off x="6519672" y="4736592"/>
            <a:ext cx="5120640" cy="548640"/>
          </a:xfrm>
          <a:prstGeom prst="rect">
            <a:avLst/>
          </a:prstGeom>
          <a:noFill/>
        </p:spPr>
        <p:txBody>
          <a:bodyPr wrap="square">
            <a:spAutoFit/>
          </a:bodyPr>
          <a:lstStyle/>
          <a:p>
            <a:pPr algn="l"/>
            <a:r>
              <a:rPr sz="1250" b="0" i="0">
                <a:solidFill>
                  <a:srgbClr val="2C3E50"/>
                </a:solidFill>
                <a:latin typeface="Calibri"/>
              </a:rPr>
              <a:t>Mix renouvelable engagé : réduction des coûts énergétiques à terme</a:t>
            </a:r>
          </a:p>
        </p:txBody>
      </p:sp>
      <p:sp>
        <p:nvSpPr>
          <p:cNvPr id="46" name="Rounded Rectangle 45"/>
          <p:cNvSpPr/>
          <p:nvPr/>
        </p:nvSpPr>
        <p:spPr>
          <a:xfrm>
            <a:off x="6519672" y="5349240"/>
            <a:ext cx="960120"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Calibri"/>
              </a:rPr>
              <a:t>Talents</a:t>
            </a:r>
          </a:p>
        </p:txBody>
      </p:sp>
      <p:sp>
        <p:nvSpPr>
          <p:cNvPr id="48" name="TextBox 47"/>
          <p:cNvSpPr txBox="1"/>
          <p:nvPr/>
        </p:nvSpPr>
        <p:spPr>
          <a:xfrm>
            <a:off x="6519672" y="5696712"/>
            <a:ext cx="5120640" cy="548640"/>
          </a:xfrm>
          <a:prstGeom prst="rect">
            <a:avLst/>
          </a:prstGeom>
          <a:noFill/>
        </p:spPr>
        <p:txBody>
          <a:bodyPr wrap="square">
            <a:spAutoFit/>
          </a:bodyPr>
          <a:lstStyle/>
          <a:p>
            <a:pPr algn="l"/>
            <a:r>
              <a:rPr sz="1250" b="0" i="0">
                <a:solidFill>
                  <a:srgbClr val="2C3E50"/>
                </a:solidFill>
                <a:latin typeface="Calibri"/>
              </a:rPr>
              <a:t>Politique sociale : marque employeur et rétention des talents renforcées</a:t>
            </a:r>
          </a:p>
        </p:txBody>
      </p:sp>
      <p:sp>
        <p:nvSpPr>
          <p:cNvPr id="49" name="TextBox 4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BF2FB"/>
                </a:solidFill>
                <a:latin typeface="Calibri"/>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FFFFF"/>
                </a:solidFill>
                <a:latin typeface="Calibri"/>
              </a:rPr>
              <a:t>PLAN D'ACTION</a:t>
            </a:r>
          </a:p>
        </p:txBody>
      </p:sp>
      <p:sp>
        <p:nvSpPr>
          <p:cNvPr id="6" name="Rectangle 5"/>
          <p:cNvSpPr/>
          <p:nvPr/>
        </p:nvSpPr>
        <p:spPr>
          <a:xfrm>
            <a:off x="685800" y="3977639"/>
            <a:ext cx="2011680" cy="73152"/>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AEC6E8"/>
                </a:solidFill>
                <a:latin typeface="Calibr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PRIORISATION</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028" b="1" i="0">
                <a:solidFill>
                  <a:srgbClr val="FFFFFF"/>
                </a:solidFill>
                <a:latin typeface="Calibri"/>
              </a:rPr>
              <a:t>Par où commencer : l'effort au regard de l'impact</a:t>
            </a:r>
          </a:p>
        </p:txBody>
      </p:sp>
      <p:pic>
        <p:nvPicPr>
          <p:cNvPr id="7" name="Picture 6" descr="image.png"/>
          <p:cNvPicPr>
            <a:picLocks noChangeAspect="1"/>
          </p:cNvPicPr>
          <p:nvPr/>
        </p:nvPicPr>
        <p:blipFill>
          <a:blip r:embed="rId2"/>
          <a:stretch>
            <a:fillRect/>
          </a:stretch>
        </p:blipFill>
        <p:spPr>
          <a:xfrm>
            <a:off x="320040" y="1463040"/>
            <a:ext cx="8412480" cy="4896447"/>
          </a:xfrm>
          <a:prstGeom prst="rect">
            <a:avLst/>
          </a:prstGeom>
        </p:spPr>
      </p:pic>
      <p:sp>
        <p:nvSpPr>
          <p:cNvPr id="8" name="Rounded Rectangle 7"/>
          <p:cNvSpPr/>
          <p:nvPr/>
        </p:nvSpPr>
        <p:spPr>
          <a:xfrm>
            <a:off x="8915400" y="1600200"/>
            <a:ext cx="2971800" cy="4206240"/>
          </a:xfrm>
          <a:prstGeom prst="roundRect">
            <a:avLst/>
          </a:prstGeom>
          <a:solidFill>
            <a:srgbClr val="EBF2FB"/>
          </a:solidFill>
          <a:ln w="15875">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915400" y="1600200"/>
            <a:ext cx="82296" cy="420624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71432" y="1783080"/>
            <a:ext cx="2514600" cy="320040"/>
          </a:xfrm>
          <a:prstGeom prst="rect">
            <a:avLst/>
          </a:prstGeom>
          <a:noFill/>
        </p:spPr>
        <p:txBody>
          <a:bodyPr wrap="square">
            <a:spAutoFit/>
          </a:bodyPr>
          <a:lstStyle/>
          <a:p>
            <a:pPr algn="l"/>
            <a:r>
              <a:rPr sz="1200" b="1" i="0">
                <a:solidFill>
                  <a:srgbClr val="F39C12"/>
                </a:solidFill>
                <a:latin typeface="Calibri"/>
              </a:rPr>
              <a:t>LECTURE MÉTIER</a:t>
            </a:r>
          </a:p>
        </p:txBody>
      </p:sp>
      <p:sp>
        <p:nvSpPr>
          <p:cNvPr id="11" name="TextBox 10"/>
          <p:cNvSpPr txBox="1"/>
          <p:nvPr/>
        </p:nvSpPr>
        <p:spPr>
          <a:xfrm>
            <a:off x="9171432" y="2194560"/>
            <a:ext cx="2514600" cy="3474720"/>
          </a:xfrm>
          <a:prstGeom prst="rect">
            <a:avLst/>
          </a:prstGeom>
          <a:noFill/>
        </p:spPr>
        <p:txBody>
          <a:bodyPr wrap="square">
            <a:spAutoFit/>
          </a:bodyPr>
          <a:lstStyle/>
          <a:p>
            <a:pPr algn="l"/>
            <a:r>
              <a:rPr sz="1300" b="0" i="0">
                <a:solidFill>
                  <a:srgbClr val="2C3E50"/>
                </a:solidFill>
                <a:latin typeface="Calibr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2" name="TextBox 11"/>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82880"/>
            <a:ext cx="11612880" cy="713232"/>
          </a:xfrm>
          <a:prstGeom prst="rect">
            <a:avLst/>
          </a:prstGeom>
          <a:noFill/>
        </p:spPr>
        <p:txBody>
          <a:bodyPr wrap="square">
            <a:spAutoFit/>
          </a:bodyPr>
          <a:lstStyle/>
          <a:p>
            <a:pPr algn="l"/>
            <a:r>
              <a:rPr sz="2600" b="1" i="0">
                <a:solidFill>
                  <a:srgbClr val="FFFFFF"/>
                </a:solidFill>
                <a:latin typeface="Calibri"/>
              </a:rPr>
              <a:t>Recommandations Prioritaires</a:t>
            </a: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6B7C93"/>
                </a:solidFill>
                <a:latin typeface="Calibr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BF2FB"/>
          </a:solidFill>
          <a:ln w="15875">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Calibri"/>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2C3E50"/>
                </a:solidFill>
                <a:latin typeface="Calibri"/>
              </a:rPr>
              <a:t>Augmenter la part d'énergie renouvelable à 50%</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6B7C93"/>
                </a:solidFill>
                <a:latin typeface="Calibr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Calibri"/>
              </a:rPr>
              <a:t>2027</a:t>
            </a:r>
          </a:p>
        </p:txBody>
      </p:sp>
      <p:sp>
        <p:nvSpPr>
          <p:cNvPr id="14" name="Rectangle 13"/>
          <p:cNvSpPr/>
          <p:nvPr/>
        </p:nvSpPr>
        <p:spPr>
          <a:xfrm>
            <a:off x="548640" y="2843784"/>
            <a:ext cx="11064240" cy="932688"/>
          </a:xfrm>
          <a:prstGeom prst="rect">
            <a:avLst/>
          </a:prstGeom>
          <a:solidFill>
            <a:srgbClr val="EBF2FB"/>
          </a:solidFill>
          <a:ln w="15875">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Calibri"/>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2C3E50"/>
                </a:solidFill>
                <a:latin typeface="Calibri"/>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6B7C93"/>
                </a:solidFill>
                <a:latin typeface="Calibr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Calibri"/>
              </a:rPr>
              <a:t>2026</a:t>
            </a:r>
          </a:p>
        </p:txBody>
      </p:sp>
      <p:sp>
        <p:nvSpPr>
          <p:cNvPr id="21" name="Rectangle 20"/>
          <p:cNvSpPr/>
          <p:nvPr/>
        </p:nvSpPr>
        <p:spPr>
          <a:xfrm>
            <a:off x="548640" y="3904488"/>
            <a:ext cx="11064240" cy="932688"/>
          </a:xfrm>
          <a:prstGeom prst="rect">
            <a:avLst/>
          </a:prstGeom>
          <a:solidFill>
            <a:srgbClr val="EBF2FB"/>
          </a:solidFill>
          <a:ln w="15875">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Calibri"/>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2C3E50"/>
                </a:solidFill>
                <a:latin typeface="Calibri"/>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6B7C93"/>
                </a:solidFill>
                <a:latin typeface="Calibri"/>
              </a:rPr>
              <a:t>Apporte l'assurance d'un tiers désormais requise par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Calibri"/>
              </a:rPr>
              <a:t>Annuel</a:t>
            </a:r>
          </a:p>
        </p:txBody>
      </p:sp>
      <p:sp>
        <p:nvSpPr>
          <p:cNvPr id="28" name="Rectangle 27"/>
          <p:cNvSpPr/>
          <p:nvPr/>
        </p:nvSpPr>
        <p:spPr>
          <a:xfrm>
            <a:off x="548640" y="4965192"/>
            <a:ext cx="11064240" cy="932688"/>
          </a:xfrm>
          <a:prstGeom prst="rect">
            <a:avLst/>
          </a:prstGeom>
          <a:solidFill>
            <a:srgbClr val="EBF2FB"/>
          </a:solidFill>
          <a:ln w="15875">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Calibri"/>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2C3E50"/>
                </a:solidFill>
                <a:latin typeface="Calibri"/>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6B7C93"/>
                </a:solidFill>
                <a:latin typeface="Calibr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Calibr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FEUILLE DE ROUTE 12 MOIS</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340" b="1" i="0">
                <a:solidFill>
                  <a:srgbClr val="FFFFFF"/>
                </a:solidFill>
                <a:latin typeface="Calibri"/>
              </a:rPr>
              <a:t>Un plan d'action ESG sur 12 mois</a:t>
            </a:r>
          </a:p>
        </p:txBody>
      </p:sp>
      <p:sp>
        <p:nvSpPr>
          <p:cNvPr id="7" name="Rounded Rectangle 6"/>
          <p:cNvSpPr/>
          <p:nvPr/>
        </p:nvSpPr>
        <p:spPr>
          <a:xfrm>
            <a:off x="320040" y="1371600"/>
            <a:ext cx="3703320" cy="822960"/>
          </a:xfrm>
          <a:prstGeom prst="round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63040"/>
            <a:ext cx="3246120" cy="411480"/>
          </a:xfrm>
          <a:prstGeom prst="rect">
            <a:avLst/>
          </a:prstGeom>
          <a:noFill/>
        </p:spPr>
        <p:txBody>
          <a:bodyPr wrap="square">
            <a:spAutoFit/>
          </a:bodyPr>
          <a:lstStyle/>
          <a:p>
            <a:pPr algn="l"/>
            <a:r>
              <a:rPr sz="1900" b="1" i="0">
                <a:solidFill>
                  <a:srgbClr val="F39C12"/>
                </a:solidFill>
                <a:latin typeface="Calibri"/>
              </a:rPr>
              <a:t>0-3 mois</a:t>
            </a:r>
          </a:p>
        </p:txBody>
      </p:sp>
      <p:sp>
        <p:nvSpPr>
          <p:cNvPr id="9" name="TextBox 8"/>
          <p:cNvSpPr txBox="1"/>
          <p:nvPr/>
        </p:nvSpPr>
        <p:spPr>
          <a:xfrm>
            <a:off x="548640" y="1874519"/>
            <a:ext cx="3246120" cy="320040"/>
          </a:xfrm>
          <a:prstGeom prst="rect">
            <a:avLst/>
          </a:prstGeom>
          <a:noFill/>
        </p:spPr>
        <p:txBody>
          <a:bodyPr wrap="square">
            <a:spAutoFit/>
          </a:bodyPr>
          <a:lstStyle/>
          <a:p>
            <a:pPr algn="l"/>
            <a:r>
              <a:rPr sz="1100" b="0" i="0">
                <a:solidFill>
                  <a:srgbClr val="AEC6E8"/>
                </a:solidFill>
                <a:latin typeface="Calibri"/>
              </a:rPr>
              <a:t>Quick wins &amp; fondations</a:t>
            </a:r>
          </a:p>
        </p:txBody>
      </p:sp>
      <p:sp>
        <p:nvSpPr>
          <p:cNvPr id="10" name="Rounded Rectangle 9"/>
          <p:cNvSpPr/>
          <p:nvPr/>
        </p:nvSpPr>
        <p:spPr>
          <a:xfrm>
            <a:off x="320040" y="2377440"/>
            <a:ext cx="3703320" cy="822960"/>
          </a:xfrm>
          <a:prstGeom prst="roundRect">
            <a:avLst/>
          </a:prstGeom>
          <a:solidFill>
            <a:srgbClr val="EBF2FB"/>
          </a:solidFill>
          <a:ln w="127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 y="2487168"/>
            <a:ext cx="64008" cy="60350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2487168"/>
            <a:ext cx="3291840" cy="548640"/>
          </a:xfrm>
          <a:prstGeom prst="rect">
            <a:avLst/>
          </a:prstGeom>
          <a:noFill/>
        </p:spPr>
        <p:txBody>
          <a:bodyPr wrap="square">
            <a:spAutoFit/>
          </a:bodyPr>
          <a:lstStyle/>
          <a:p>
            <a:pPr algn="l"/>
            <a:r>
              <a:rPr sz="1200" b="1" i="0">
                <a:solidFill>
                  <a:srgbClr val="2C3E50"/>
                </a:solidFill>
                <a:latin typeface="Calibri"/>
              </a:rPr>
              <a:t>Commander un audit ESG indépendant annuel</a:t>
            </a:r>
          </a:p>
        </p:txBody>
      </p:sp>
      <p:sp>
        <p:nvSpPr>
          <p:cNvPr id="13" name="Rounded Rectangle 12"/>
          <p:cNvSpPr/>
          <p:nvPr/>
        </p:nvSpPr>
        <p:spPr>
          <a:xfrm>
            <a:off x="2862072" y="2907792"/>
            <a:ext cx="1051560" cy="237744"/>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2072" y="2926080"/>
            <a:ext cx="1051560" cy="201168"/>
          </a:xfrm>
          <a:prstGeom prst="rect">
            <a:avLst/>
          </a:prstGeom>
          <a:noFill/>
        </p:spPr>
        <p:txBody>
          <a:bodyPr wrap="square">
            <a:spAutoFit/>
          </a:bodyPr>
          <a:lstStyle/>
          <a:p>
            <a:pPr algn="ctr"/>
            <a:r>
              <a:rPr sz="850" b="1" i="0">
                <a:solidFill>
                  <a:srgbClr val="1B3A6B"/>
                </a:solidFill>
                <a:latin typeface="Calibri"/>
              </a:rPr>
              <a:t>QUICK WIN</a:t>
            </a:r>
          </a:p>
        </p:txBody>
      </p:sp>
      <p:sp>
        <p:nvSpPr>
          <p:cNvPr id="15" name="Rounded Rectangle 14"/>
          <p:cNvSpPr/>
          <p:nvPr/>
        </p:nvSpPr>
        <p:spPr>
          <a:xfrm>
            <a:off x="4279392" y="1371600"/>
            <a:ext cx="3703320" cy="822960"/>
          </a:xfrm>
          <a:prstGeom prst="round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7992" y="1463040"/>
            <a:ext cx="3246120" cy="411480"/>
          </a:xfrm>
          <a:prstGeom prst="rect">
            <a:avLst/>
          </a:prstGeom>
          <a:noFill/>
        </p:spPr>
        <p:txBody>
          <a:bodyPr wrap="square">
            <a:spAutoFit/>
          </a:bodyPr>
          <a:lstStyle/>
          <a:p>
            <a:pPr algn="l"/>
            <a:r>
              <a:rPr sz="1900" b="1" i="0">
                <a:solidFill>
                  <a:srgbClr val="F39C12"/>
                </a:solidFill>
                <a:latin typeface="Calibri"/>
              </a:rPr>
              <a:t>3-6 mois</a:t>
            </a:r>
          </a:p>
        </p:txBody>
      </p:sp>
      <p:sp>
        <p:nvSpPr>
          <p:cNvPr id="17" name="TextBox 16"/>
          <p:cNvSpPr txBox="1"/>
          <p:nvPr/>
        </p:nvSpPr>
        <p:spPr>
          <a:xfrm>
            <a:off x="4507992" y="1874519"/>
            <a:ext cx="3246120" cy="320040"/>
          </a:xfrm>
          <a:prstGeom prst="rect">
            <a:avLst/>
          </a:prstGeom>
          <a:noFill/>
        </p:spPr>
        <p:txBody>
          <a:bodyPr wrap="square">
            <a:spAutoFit/>
          </a:bodyPr>
          <a:lstStyle/>
          <a:p>
            <a:pPr algn="l"/>
            <a:r>
              <a:rPr sz="1100" b="0" i="0">
                <a:solidFill>
                  <a:srgbClr val="AEC6E8"/>
                </a:solidFill>
                <a:latin typeface="Calibri"/>
              </a:rPr>
              <a:t>Structuration</a:t>
            </a:r>
          </a:p>
        </p:txBody>
      </p:sp>
      <p:sp>
        <p:nvSpPr>
          <p:cNvPr id="18" name="Rounded Rectangle 17"/>
          <p:cNvSpPr/>
          <p:nvPr/>
        </p:nvSpPr>
        <p:spPr>
          <a:xfrm>
            <a:off x="4279392" y="2377440"/>
            <a:ext cx="3703320" cy="822960"/>
          </a:xfrm>
          <a:prstGeom prst="roundRect">
            <a:avLst/>
          </a:prstGeom>
          <a:solidFill>
            <a:srgbClr val="EBF2FB"/>
          </a:solidFill>
          <a:ln w="1270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487168"/>
            <a:ext cx="64008" cy="60350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2487168"/>
            <a:ext cx="3291840" cy="548640"/>
          </a:xfrm>
          <a:prstGeom prst="rect">
            <a:avLst/>
          </a:prstGeom>
          <a:noFill/>
        </p:spPr>
        <p:txBody>
          <a:bodyPr wrap="square">
            <a:spAutoFit/>
          </a:bodyPr>
          <a:lstStyle/>
          <a:p>
            <a:pPr algn="l"/>
            <a:r>
              <a:rPr sz="1200" b="1" i="0">
                <a:solidFill>
                  <a:srgbClr val="2C3E50"/>
                </a:solidFill>
                <a:latin typeface="Calibri"/>
              </a:rPr>
              <a:t>Définir des objectifs chiffrés de parité femme-homme</a:t>
            </a:r>
          </a:p>
        </p:txBody>
      </p:sp>
      <p:sp>
        <p:nvSpPr>
          <p:cNvPr id="21" name="Rounded Rectangle 20"/>
          <p:cNvSpPr/>
          <p:nvPr/>
        </p:nvSpPr>
        <p:spPr>
          <a:xfrm>
            <a:off x="6821424" y="2907792"/>
            <a:ext cx="1051560" cy="237744"/>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926080"/>
            <a:ext cx="1051560" cy="201168"/>
          </a:xfrm>
          <a:prstGeom prst="rect">
            <a:avLst/>
          </a:prstGeom>
          <a:noFill/>
        </p:spPr>
        <p:txBody>
          <a:bodyPr wrap="square">
            <a:spAutoFit/>
          </a:bodyPr>
          <a:lstStyle/>
          <a:p>
            <a:pPr algn="ctr"/>
            <a:r>
              <a:rPr sz="850" b="1" i="0">
                <a:solidFill>
                  <a:srgbClr val="1B3A6B"/>
                </a:solidFill>
                <a:latin typeface="Calibri"/>
              </a:rPr>
              <a:t>QUICK WIN</a:t>
            </a:r>
          </a:p>
        </p:txBody>
      </p:sp>
      <p:sp>
        <p:nvSpPr>
          <p:cNvPr id="23" name="Rounded Rectangle 22"/>
          <p:cNvSpPr/>
          <p:nvPr/>
        </p:nvSpPr>
        <p:spPr>
          <a:xfrm>
            <a:off x="4279392" y="3310128"/>
            <a:ext cx="3703320" cy="822960"/>
          </a:xfrm>
          <a:prstGeom prst="roundRect">
            <a:avLst/>
          </a:prstGeom>
          <a:solidFill>
            <a:srgbClr val="EBF2FB"/>
          </a:solidFill>
          <a:ln w="127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79392" y="3419856"/>
            <a:ext cx="64008" cy="60350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5424" y="3419856"/>
            <a:ext cx="3291840" cy="548640"/>
          </a:xfrm>
          <a:prstGeom prst="rect">
            <a:avLst/>
          </a:prstGeom>
          <a:noFill/>
        </p:spPr>
        <p:txBody>
          <a:bodyPr wrap="square">
            <a:spAutoFit/>
          </a:bodyPr>
          <a:lstStyle/>
          <a:p>
            <a:pPr algn="l"/>
            <a:r>
              <a:rPr sz="1200" b="1" i="0">
                <a:solidFill>
                  <a:srgbClr val="2C3E50"/>
                </a:solidFill>
                <a:latin typeface="Calibri"/>
              </a:rPr>
              <a:t>Aligner la stratégie ESG sur les ODD &amp; la TCFD</a:t>
            </a:r>
          </a:p>
        </p:txBody>
      </p:sp>
      <p:sp>
        <p:nvSpPr>
          <p:cNvPr id="26" name="Rounded Rectangle 25"/>
          <p:cNvSpPr/>
          <p:nvPr/>
        </p:nvSpPr>
        <p:spPr>
          <a:xfrm>
            <a:off x="8238744" y="1371600"/>
            <a:ext cx="3703320" cy="822960"/>
          </a:xfrm>
          <a:prstGeom prst="round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67344" y="1463040"/>
            <a:ext cx="3246120" cy="411480"/>
          </a:xfrm>
          <a:prstGeom prst="rect">
            <a:avLst/>
          </a:prstGeom>
          <a:noFill/>
        </p:spPr>
        <p:txBody>
          <a:bodyPr wrap="square">
            <a:spAutoFit/>
          </a:bodyPr>
          <a:lstStyle/>
          <a:p>
            <a:pPr algn="l"/>
            <a:r>
              <a:rPr sz="1900" b="1" i="0">
                <a:solidFill>
                  <a:srgbClr val="F39C12"/>
                </a:solidFill>
                <a:latin typeface="Calibri"/>
              </a:rPr>
              <a:t>6-12 mois</a:t>
            </a:r>
          </a:p>
        </p:txBody>
      </p:sp>
      <p:sp>
        <p:nvSpPr>
          <p:cNvPr id="28" name="TextBox 27"/>
          <p:cNvSpPr txBox="1"/>
          <p:nvPr/>
        </p:nvSpPr>
        <p:spPr>
          <a:xfrm>
            <a:off x="8467344" y="1874519"/>
            <a:ext cx="3246120" cy="320040"/>
          </a:xfrm>
          <a:prstGeom prst="rect">
            <a:avLst/>
          </a:prstGeom>
          <a:noFill/>
        </p:spPr>
        <p:txBody>
          <a:bodyPr wrap="square">
            <a:spAutoFit/>
          </a:bodyPr>
          <a:lstStyle/>
          <a:p>
            <a:pPr algn="l"/>
            <a:r>
              <a:rPr sz="1100" b="0" i="0">
                <a:solidFill>
                  <a:srgbClr val="AEC6E8"/>
                </a:solidFill>
                <a:latin typeface="Calibri"/>
              </a:rPr>
              <a:t>Deploiement</a:t>
            </a:r>
          </a:p>
        </p:txBody>
      </p:sp>
      <p:sp>
        <p:nvSpPr>
          <p:cNvPr id="29" name="Rounded Rectangle 28"/>
          <p:cNvSpPr/>
          <p:nvPr/>
        </p:nvSpPr>
        <p:spPr>
          <a:xfrm>
            <a:off x="8238744" y="2377440"/>
            <a:ext cx="3703320" cy="822960"/>
          </a:xfrm>
          <a:prstGeom prst="roundRect">
            <a:avLst/>
          </a:prstGeom>
          <a:solidFill>
            <a:srgbClr val="EBF2FB"/>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38744" y="2487168"/>
            <a:ext cx="64008" cy="60350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94776" y="2487168"/>
            <a:ext cx="3291840" cy="548640"/>
          </a:xfrm>
          <a:prstGeom prst="rect">
            <a:avLst/>
          </a:prstGeom>
          <a:noFill/>
        </p:spPr>
        <p:txBody>
          <a:bodyPr wrap="square">
            <a:spAutoFit/>
          </a:bodyPr>
          <a:lstStyle/>
          <a:p>
            <a:pPr algn="l"/>
            <a:r>
              <a:rPr sz="1200" b="1" i="0">
                <a:solidFill>
                  <a:srgbClr val="2C3E50"/>
                </a:solidFill>
                <a:latin typeface="Calibri"/>
              </a:rPr>
              <a:t>Augmenter la part d'énergie renouvelable à 50%</a:t>
            </a:r>
          </a:p>
        </p:txBody>
      </p:sp>
      <p:sp>
        <p:nvSpPr>
          <p:cNvPr id="32" name="TextBox 31"/>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FFFFF"/>
                </a:solidFill>
                <a:latin typeface="Calibri"/>
              </a:rPr>
              <a:t>Conclusion &amp; Engagements</a:t>
            </a:r>
          </a:p>
        </p:txBody>
      </p:sp>
      <p:sp>
        <p:nvSpPr>
          <p:cNvPr id="5" name="Rectangle 4"/>
          <p:cNvSpPr/>
          <p:nvPr/>
        </p:nvSpPr>
        <p:spPr>
          <a:xfrm>
            <a:off x="621792" y="1481328"/>
            <a:ext cx="164592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FFFFF"/>
                </a:solidFill>
                <a:latin typeface="Calibri"/>
              </a:rPr>
              <a:t>Acme Industries affiche un profil ESG solide (66/100, A), porté par la gouvernance (75/100) ; le social (55/100)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F39C12"/>
                </a:solidFill>
                <a:latin typeface="Calibr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F39C12"/>
                </a:solidFill>
                <a:latin typeface="Calibri"/>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FFFFF"/>
                </a:solidFill>
                <a:latin typeface="Calibri"/>
              </a:rPr>
              <a:t>Augmenter la part d'énergie renouvelable à 50%</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AEC6E8"/>
                </a:solidFill>
                <a:latin typeface="Calibr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F39C12"/>
                </a:solidFill>
                <a:latin typeface="Calibri"/>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FFFFF"/>
                </a:solidFill>
                <a:latin typeface="Calibr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AEC6E8"/>
                </a:solidFill>
                <a:latin typeface="Calibr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F39C12"/>
                </a:solidFill>
                <a:latin typeface="Calibri"/>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FFFFF"/>
                </a:solidFill>
                <a:latin typeface="Calibr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AEC6E8"/>
                </a:solidFill>
                <a:latin typeface="Calibr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AEC6E8"/>
                </a:solidFill>
                <a:latin typeface="Calibr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