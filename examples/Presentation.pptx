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d'Acme Industries fait ressortir 2 enjeux et un point d'appui. Les enjeux repérés relèvent surtout du pilier de gouvernance : l'intégrité et la sécurité de l'information et le pilotage de la démarche. C'est là que le plan d'action doit porter en premier.</a:t>
            </a:r>
          </a:p>
          <a:p/>
          <a:p>
            <a:r>
              <a:t>Les points d'appui sont la maîtrise des risques professionnels : ce sont eux qui donnent de la crédibilité au plan d'action.</a:t>
            </a:r>
          </a:p>
          <a:p/>
          <a:p>
            <a:r>
              <a:t>Des incidents d'intégrité déclarés. Une violation de données a été déclarée sur l'exercice. Chaque violation de données entame la confiance des clients.</a:t>
            </a:r>
          </a:p>
          <a:p/>
          <a:p>
            <a:r>
              <a:t>Des données ESG non vérifiées. Les indicateurs publiés n'ont été contrôlés par aucun tiers. Les chiffres publiés restent exposés à la contestation des partenaires financiers et des grands clients, qui accordent davantage de crédit à une information vérifiée.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a:t>
            </a:r>
          </a:p>
          <a:p/>
          <a:p>
            <a:r>
              <a:t>Le plan d'action retient un levier pour ce pilier : augmenter la part d'énergie renouvelable à 50 % (objectif : 50 % d'énergie renouvelable dans le mix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a:p/>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a:t>
            </a:r>
          </a:p>
          <a:p/>
          <a:p>
            <a:r>
              <a:t>Le plan d'action retient un levier pour ce pilier : définir des objectifs chiffrés de parité femme-homme (objectif : cible de mixité définie et suivie annuellement ; échéance : 2026).</a:t>
            </a:r>
          </a:p>
          <a:p/>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a:p/>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Le positionnement ci-dessous compare les trois piliers entre eux, sans référence externe : il indique où se concentre la marge de progression de l'entreprise.</a:t>
            </a:r>
          </a:p>
          <a:p/>
          <a:p>
            <a:r>
              <a:t>Le tableau ci-dessous examine 6 exigences de reporting du référentiel CSRD / ESRS : 4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capitaliser : un taux de fréquence de 6,2, bien en dessous de la moyenne nationale. Un acquis à protéger et à faire valoir auprès des clients et des candidats.</a:t>
            </a:r>
          </a:p>
          <a:p/>
          <a:p>
            <a:r>
              <a:t>À traiter en priorité : des incidents d'intégrité déclarés. Chaque violation de données entame la confiance des clients.</a:t>
            </a:r>
          </a:p>
          <a:p/>
          <a:p>
            <a:r>
              <a:t>Sans action, les tendances observées cette année se prolongeront.</a:t>
            </a:r>
          </a:p>
          <a:p/>
          <a:p>
            <a:r>
              <a:t>Pour l'intégrité et la sécurité de l'information, chaque nouvel incident sera lu comme le signe d'un défaut de contrôle, avec des conséquences croissantes sur la réputation et les relations d'affaires.</a:t>
            </a:r>
          </a:p>
          <a:p/>
          <a:p>
            <a:r>
              <a:t>Pour le pilotage de la démarche, la démarche restera dépendante de quelques personnes et difficile à rendre crédible à l'extérieur.</a:t>
            </a:r>
          </a:p>
          <a:p/>
          <a:p>
            <a:r>
              <a:t>Ces décisions permettent d'engager le plan sans attendre les chantiers structurants :</a:t>
            </a:r>
          </a:p>
          <a:p/>
          <a:p>
            <a:r>
              <a:t>Analyser les causes de chaque incident et vérifier que le dispositif d'alerte, les contrôles internes et la sensibilisation couvrent les situations rencontrées.</a:t>
            </a:r>
          </a:p>
          <a:p/>
          <a:p>
            <a:r>
              <a:t>Faire revoir par un tiers deux ou trois indicateurs clés avant la prochaine publication.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+14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5715000" y="3703320"/>
            <a:ext cx="1554480" cy="292608"/>
          </a:xfrm>
          <a:prstGeom prst="rect">
            <a:avLst/>
          </a:prstGeom>
          <a:noFill/>
        </p:spPr>
        <p:txBody>
          <a:bodyPr wrap="square">
            <a:spAutoFit/>
          </a:bodyPr>
          <a:lstStyle/>
          <a:p>
            <a:pPr algn="r"/>
            <a:r>
              <a:rPr sz="1000" b="0" i="0">
                <a:solidFill>
                  <a:srgbClr val="5F6B64"/>
                </a:solidFill>
                <a:latin typeface="Segoe UI"/>
              </a:rPr>
              <a:t>3/4 indic.</a:t>
            </a:r>
          </a:p>
        </p:txBody>
      </p:sp>
      <p:sp>
        <p:nvSpPr>
          <p:cNvPr id="18" name="TextBox 17"/>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9" name="Rounded Rectangle 18"/>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2" name="TextBox 21"/>
          <p:cNvSpPr txBox="1"/>
          <p:nvPr/>
        </p:nvSpPr>
        <p:spPr>
          <a:xfrm>
            <a:off x="5715000" y="4544568"/>
            <a:ext cx="1554480" cy="292608"/>
          </a:xfrm>
          <a:prstGeom prst="rect">
            <a:avLst/>
          </a:prstGeom>
          <a:noFill/>
        </p:spPr>
        <p:txBody>
          <a:bodyPr wrap="square">
            <a:spAutoFit/>
          </a:bodyPr>
          <a:lstStyle/>
          <a:p>
            <a:pPr algn="r"/>
            <a:r>
              <a:rPr sz="1000" b="0" i="0">
                <a:solidFill>
                  <a:srgbClr val="5F6B64"/>
                </a:solidFill>
                <a:latin typeface="Segoe UI"/>
              </a:rPr>
              <a:t>4/6 indic.</a:t>
            </a:r>
          </a:p>
        </p:txBody>
      </p:sp>
      <p:sp>
        <p:nvSpPr>
          <p:cNvPr id="23" name="TextBox 22"/>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4" name="Rounded Rectangle 23"/>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7" name="TextBox 26"/>
          <p:cNvSpPr txBox="1"/>
          <p:nvPr/>
        </p:nvSpPr>
        <p:spPr>
          <a:xfrm>
            <a:off x="5715000" y="5385816"/>
            <a:ext cx="1554480" cy="292608"/>
          </a:xfrm>
          <a:prstGeom prst="rect">
            <a:avLst/>
          </a:prstGeom>
          <a:noFill/>
        </p:spPr>
        <p:txBody>
          <a:bodyPr wrap="square">
            <a:spAutoFit/>
          </a:bodyPr>
          <a:lstStyle/>
          <a:p>
            <a:pPr algn="r"/>
            <a:r>
              <a:rPr sz="1000" b="0" i="0">
                <a:solidFill>
                  <a:srgbClr val="5F6B64"/>
                </a:solidFill>
                <a:latin typeface="Segoe UI"/>
              </a:rPr>
              <a:t>6/8 indic.</a:t>
            </a:r>
          </a:p>
        </p:txBody>
      </p:sp>
      <p:sp>
        <p:nvSpPr>
          <p:cNvPr id="28" name="TextBox 27"/>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9" name="Rounded Rectangle 28"/>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enjeux structurants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566928" cy="457200"/>
          </a:xfrm>
          <a:prstGeom prst="rect">
            <a:avLst/>
          </a:prstGeom>
          <a:noFill/>
        </p:spPr>
        <p:txBody>
          <a:bodyPr wrap="square">
            <a:spAutoFit/>
          </a:bodyPr>
          <a:lstStyle/>
          <a:p>
            <a:pPr algn="ctr"/>
            <a:r>
              <a:rPr sz="2000" b="1" i="0">
                <a:solidFill>
                  <a:srgbClr val="FFFFFF"/>
                </a:solidFill>
                <a:latin typeface="Georgia"/>
              </a:rPr>
              <a:t>1</a:t>
            </a:r>
          </a:p>
        </p:txBody>
      </p:sp>
      <p:sp>
        <p:nvSpPr>
          <p:cNvPr id="8" name="TextBox 7"/>
          <p:cNvSpPr txBox="1"/>
          <p:nvPr/>
        </p:nvSpPr>
        <p:spPr>
          <a:xfrm>
            <a:off x="1143000" y="1371600"/>
            <a:ext cx="4837176" cy="822960"/>
          </a:xfrm>
          <a:prstGeom prst="rect">
            <a:avLst/>
          </a:prstGeom>
          <a:noFill/>
        </p:spPr>
        <p:txBody>
          <a:bodyPr wrap="square">
            <a:spAutoFit/>
          </a:bodyPr>
          <a:lstStyle/>
          <a:p>
            <a:pPr algn="l"/>
            <a:r>
              <a:rPr sz="1400" b="1" i="0">
                <a:solidFill>
                  <a:srgbClr val="1E2B26"/>
                </a:solidFill>
                <a:latin typeface="Segoe UI"/>
              </a:rPr>
              <a:t>Des incidents d'intégrité déclarés</a:t>
            </a:r>
          </a:p>
        </p:txBody>
      </p:sp>
      <p:sp>
        <p:nvSpPr>
          <p:cNvPr id="9" name="Rectangle 8"/>
          <p:cNvSpPr/>
          <p:nvPr/>
        </p:nvSpPr>
        <p:spPr>
          <a:xfrm>
            <a:off x="457200"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12" name="TextBox 11"/>
          <p:cNvSpPr txBox="1"/>
          <p:nvPr/>
        </p:nvSpPr>
        <p:spPr>
          <a:xfrm>
            <a:off x="640080" y="2770632"/>
            <a:ext cx="5248656" cy="1508760"/>
          </a:xfrm>
          <a:prstGeom prst="rect">
            <a:avLst/>
          </a:prstGeom>
          <a:noFill/>
        </p:spPr>
        <p:txBody>
          <a:bodyPr wrap="square">
            <a:spAutoFit/>
          </a:bodyPr>
          <a:lstStyle/>
          <a:p>
            <a:pPr algn="l"/>
            <a:r>
              <a:rPr sz="1100" b="0" i="0">
                <a:solidFill>
                  <a:srgbClr val="1E2B26"/>
                </a:solidFill>
                <a:latin typeface="Segoe UI"/>
              </a:rPr>
              <a:t>Une violation de données a été déclarée sur l'exercice.</a:t>
            </a:r>
          </a:p>
        </p:txBody>
      </p:sp>
      <p:sp>
        <p:nvSpPr>
          <p:cNvPr id="13" name="Rectangle 12"/>
          <p:cNvSpPr/>
          <p:nvPr/>
        </p:nvSpPr>
        <p:spPr>
          <a:xfrm>
            <a:off x="457200"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16" name="TextBox 15"/>
          <p:cNvSpPr txBox="1"/>
          <p:nvPr/>
        </p:nvSpPr>
        <p:spPr>
          <a:xfrm>
            <a:off x="640080" y="4919472"/>
            <a:ext cx="5248656" cy="1417320"/>
          </a:xfrm>
          <a:prstGeom prst="rect">
            <a:avLst/>
          </a:prstGeom>
          <a:noFill/>
        </p:spPr>
        <p:txBody>
          <a:bodyPr wrap="square">
            <a:spAutoFit/>
          </a:bodyPr>
          <a:lstStyle/>
          <a:p>
            <a:pPr algn="l"/>
            <a:r>
              <a:rPr sz="1100" b="0" i="0">
                <a:solidFill>
                  <a:srgbClr val="1E2B26"/>
                </a:solidFill>
                <a:latin typeface="Segoe UI"/>
              </a:rPr>
              <a:t>Chaque violation de données entame la confiance des clients.</a:t>
            </a:r>
          </a:p>
        </p:txBody>
      </p:sp>
      <p:sp>
        <p:nvSpPr>
          <p:cNvPr id="17" name="Oval 16"/>
          <p:cNvSpPr/>
          <p:nvPr/>
        </p:nvSpPr>
        <p:spPr>
          <a:xfrm>
            <a:off x="6208776"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8776" y="1463040"/>
            <a:ext cx="566928" cy="457200"/>
          </a:xfrm>
          <a:prstGeom prst="rect">
            <a:avLst/>
          </a:prstGeom>
          <a:noFill/>
        </p:spPr>
        <p:txBody>
          <a:bodyPr wrap="square">
            <a:spAutoFit/>
          </a:bodyPr>
          <a:lstStyle/>
          <a:p>
            <a:pPr algn="ctr"/>
            <a:r>
              <a:rPr sz="2000" b="1" i="0">
                <a:solidFill>
                  <a:srgbClr val="FFFFFF"/>
                </a:solidFill>
                <a:latin typeface="Georgia"/>
              </a:rPr>
              <a:t>2</a:t>
            </a:r>
          </a:p>
        </p:txBody>
      </p:sp>
      <p:sp>
        <p:nvSpPr>
          <p:cNvPr id="19" name="TextBox 18"/>
          <p:cNvSpPr txBox="1"/>
          <p:nvPr/>
        </p:nvSpPr>
        <p:spPr>
          <a:xfrm>
            <a:off x="6894576" y="1371600"/>
            <a:ext cx="4837176" cy="822960"/>
          </a:xfrm>
          <a:prstGeom prst="rect">
            <a:avLst/>
          </a:prstGeom>
          <a:noFill/>
        </p:spPr>
        <p:txBody>
          <a:bodyPr wrap="square">
            <a:spAutoFit/>
          </a:bodyPr>
          <a:lstStyle/>
          <a:p>
            <a:pPr algn="l"/>
            <a:r>
              <a:rPr sz="1400" b="1" i="0">
                <a:solidFill>
                  <a:srgbClr val="1E2B26"/>
                </a:solidFill>
                <a:latin typeface="Segoe UI"/>
              </a:rPr>
              <a:t>Des données ESG non vérifiées</a:t>
            </a:r>
          </a:p>
        </p:txBody>
      </p:sp>
      <p:sp>
        <p:nvSpPr>
          <p:cNvPr id="20" name="Rectangle 19"/>
          <p:cNvSpPr/>
          <p:nvPr/>
        </p:nvSpPr>
        <p:spPr>
          <a:xfrm>
            <a:off x="6208776"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23" name="TextBox 22"/>
          <p:cNvSpPr txBox="1"/>
          <p:nvPr/>
        </p:nvSpPr>
        <p:spPr>
          <a:xfrm>
            <a:off x="6391656" y="2770632"/>
            <a:ext cx="5248656" cy="1508760"/>
          </a:xfrm>
          <a:prstGeom prst="rect">
            <a:avLst/>
          </a:prstGeom>
          <a:noFill/>
        </p:spPr>
        <p:txBody>
          <a:bodyPr wrap="square">
            <a:spAutoFit/>
          </a:bodyPr>
          <a:lstStyle/>
          <a:p>
            <a:pPr algn="l"/>
            <a:r>
              <a:rPr sz="1100" b="0" i="0">
                <a:solidFill>
                  <a:srgbClr val="1E2B26"/>
                </a:solidFill>
                <a:latin typeface="Segoe UI"/>
              </a:rPr>
              <a:t>Les indicateurs publiés n'ont été contrôlés par aucun tiers.</a:t>
            </a:r>
          </a:p>
        </p:txBody>
      </p:sp>
      <p:sp>
        <p:nvSpPr>
          <p:cNvPr id="24" name="Rectangle 23"/>
          <p:cNvSpPr/>
          <p:nvPr/>
        </p:nvSpPr>
        <p:spPr>
          <a:xfrm>
            <a:off x="6208776"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6"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27" name="TextBox 26"/>
          <p:cNvSpPr txBox="1"/>
          <p:nvPr/>
        </p:nvSpPr>
        <p:spPr>
          <a:xfrm>
            <a:off x="6391656" y="4919472"/>
            <a:ext cx="5248656" cy="1417320"/>
          </a:xfrm>
          <a:prstGeom prst="rect">
            <a:avLst/>
          </a:prstGeom>
          <a:noFill/>
        </p:spPr>
        <p:txBody>
          <a:bodyPr wrap="square">
            <a:spAutoFit/>
          </a:bodyPr>
          <a:lstStyle/>
          <a:p>
            <a:pPr algn="l"/>
            <a:r>
              <a:rPr sz="1100" b="0" i="0">
                <a:solidFill>
                  <a:srgbClr val="1E2B26"/>
                </a:solidFill>
                <a:latin typeface="Segoe UI"/>
              </a:rPr>
              <a:t>Les chiffres publiés restent exposés à la contestation des partenaires financiers et des grands clients, qui accordent davantage de crédit à une information vérifiée.</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Non couvert par ce reporting</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Cibles climatiques non documentées dans ce reporting</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3/4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environnementaux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512794"/>
          </a:xfrm>
          <a:prstGeom prst="rect">
            <a:avLst/>
          </a:prstGeom>
        </p:spPr>
      </p:pic>
      <p:pic>
        <p:nvPicPr>
          <p:cNvPr id="7" name="Picture 6" descr="image.png"/>
          <p:cNvPicPr>
            <a:picLocks noChangeAspect="1"/>
          </p:cNvPicPr>
          <p:nvPr/>
        </p:nvPicPr>
        <p:blipFill>
          <a:blip r:embed="rId3"/>
          <a:stretch>
            <a:fillRect/>
          </a:stretch>
        </p:blipFill>
        <p:spPr>
          <a:xfrm>
            <a:off x="1088615" y="3067274"/>
            <a:ext cx="4040689" cy="2377440"/>
          </a:xfrm>
          <a:prstGeom prst="rect">
            <a:avLst/>
          </a:prstGeom>
        </p:spPr>
      </p:pic>
      <p:sp>
        <p:nvSpPr>
          <p:cNvPr id="8" name="Rectangle 7"/>
          <p:cNvSpPr/>
          <p:nvPr/>
        </p:nvSpPr>
        <p:spPr>
          <a:xfrm>
            <a:off x="6126480" y="1371600"/>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2F6B4F"/>
                </a:solidFill>
                <a:latin typeface="Segoe UI"/>
              </a:rPr>
              <a:t>Où se forme l'empreinte carbone</a:t>
            </a:r>
          </a:p>
        </p:txBody>
      </p:sp>
      <p:sp>
        <p:nvSpPr>
          <p:cNvPr id="11" name="TextBox 10"/>
          <p:cNvSpPr txBox="1"/>
          <p:nvPr/>
        </p:nvSpPr>
        <p:spPr>
          <a:xfrm>
            <a:off x="6309360" y="1810512"/>
            <a:ext cx="5422392" cy="683514"/>
          </a:xfrm>
          <a:prstGeom prst="rect">
            <a:avLst/>
          </a:prstGeom>
          <a:noFill/>
        </p:spPr>
        <p:txBody>
          <a:bodyPr wrap="square">
            <a:spAutoFit/>
          </a:bodyPr>
          <a:lstStyle/>
          <a:p>
            <a:pPr algn="l"/>
            <a:r>
              <a:rPr sz="1050" b="0" i="0">
                <a:solidFill>
                  <a:srgbClr val="1E2B26"/>
                </a:solidFill>
                <a:latin typeface="Segoe UI"/>
              </a:rPr>
              <a:t>L'entreprise ne peut la réduire seule : elle dépend des choix de ses fournisseurs, de la conception de ses offres et de l'usage qu'en font ses clients.</a:t>
            </a:r>
          </a:p>
        </p:txBody>
      </p:sp>
      <p:sp>
        <p:nvSpPr>
          <p:cNvPr id="12" name="Rectangle 11"/>
          <p:cNvSpPr/>
          <p:nvPr/>
        </p:nvSpPr>
        <p:spPr>
          <a:xfrm>
            <a:off x="6126480" y="2667762"/>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667762"/>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740914"/>
            <a:ext cx="5422392" cy="365760"/>
          </a:xfrm>
          <a:prstGeom prst="rect">
            <a:avLst/>
          </a:prstGeom>
          <a:noFill/>
        </p:spPr>
        <p:txBody>
          <a:bodyPr wrap="square">
            <a:spAutoFit/>
          </a:bodyPr>
          <a:lstStyle/>
          <a:p>
            <a:pPr algn="l"/>
            <a:r>
              <a:rPr sz="1250" b="1" i="0">
                <a:solidFill>
                  <a:srgbClr val="2F6B4F"/>
                </a:solidFill>
                <a:latin typeface="Segoe UI"/>
              </a:rPr>
              <a:t>Intensité carbone : ce que dit le ratio</a:t>
            </a:r>
          </a:p>
        </p:txBody>
      </p:sp>
      <p:sp>
        <p:nvSpPr>
          <p:cNvPr id="15" name="TextBox 14"/>
          <p:cNvSpPr txBox="1"/>
          <p:nvPr/>
        </p:nvSpPr>
        <p:spPr>
          <a:xfrm>
            <a:off x="6309360" y="3106674"/>
            <a:ext cx="5422392" cy="683514"/>
          </a:xfrm>
          <a:prstGeom prst="rect">
            <a:avLst/>
          </a:prstGeom>
          <a:noFill/>
        </p:spPr>
        <p:txBody>
          <a:bodyPr wrap="square">
            <a:spAutoFit/>
          </a:bodyPr>
          <a:lstStyle/>
          <a:p>
            <a:pPr algn="l"/>
            <a:r>
              <a:rPr sz="1050" b="0" i="0">
                <a:solidFill>
                  <a:srgbClr val="1E2B26"/>
                </a:solidFill>
                <a:latin typeface="Segoe UI"/>
              </a:rPr>
              <a:t>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p:txBody>
      </p:sp>
      <p:sp>
        <p:nvSpPr>
          <p:cNvPr id="16" name="Rectangle 15"/>
          <p:cNvSpPr/>
          <p:nvPr/>
        </p:nvSpPr>
        <p:spPr>
          <a:xfrm>
            <a:off x="6126480" y="3963924"/>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963924"/>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037076"/>
            <a:ext cx="5422392" cy="365760"/>
          </a:xfrm>
          <a:prstGeom prst="rect">
            <a:avLst/>
          </a:prstGeom>
          <a:noFill/>
        </p:spPr>
        <p:txBody>
          <a:bodyPr wrap="square">
            <a:spAutoFit/>
          </a:bodyPr>
          <a:lstStyle/>
          <a:p>
            <a:pPr algn="l"/>
            <a:r>
              <a:rPr sz="1250" b="1" i="0">
                <a:solidFill>
                  <a:srgbClr val="2F6B4F"/>
                </a:solidFill>
                <a:latin typeface="Segoe UI"/>
              </a:rPr>
              <a:t>Énergie : sobriété, efficacité, origine</a:t>
            </a:r>
          </a:p>
        </p:txBody>
      </p:sp>
      <p:sp>
        <p:nvSpPr>
          <p:cNvPr id="19" name="TextBox 18"/>
          <p:cNvSpPr txBox="1"/>
          <p:nvPr/>
        </p:nvSpPr>
        <p:spPr>
          <a:xfrm>
            <a:off x="6309360" y="4402836"/>
            <a:ext cx="5422392" cy="683514"/>
          </a:xfrm>
          <a:prstGeom prst="rect">
            <a:avLst/>
          </a:prstGeom>
          <a:noFill/>
        </p:spPr>
        <p:txBody>
          <a:bodyPr wrap="square">
            <a:spAutoFit/>
          </a:bodyPr>
          <a:lstStyle/>
          <a:p>
            <a:pPr algn="l"/>
            <a:r>
              <a:rPr sz="1050" b="0" i="0">
                <a:solidFill>
                  <a:srgbClr val="1E2B26"/>
                </a:solidFill>
                <a:latin typeface="Segoe UI"/>
              </a:rPr>
              <a:t>Dans l'industrie, les gisements d'efficacité se cachent souvent dans les utilités — air comprimé, froid, vapeur — et dans les moteurs, où la variation de vitesse et la chasse aux fuites produisent des gains rapides.</a:t>
            </a:r>
          </a:p>
        </p:txBody>
      </p:sp>
      <p:sp>
        <p:nvSpPr>
          <p:cNvPr id="20" name="Rectangle 19"/>
          <p:cNvSpPr/>
          <p:nvPr/>
        </p:nvSpPr>
        <p:spPr>
          <a:xfrm>
            <a:off x="6126480" y="5260086"/>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260086"/>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333238"/>
            <a:ext cx="5422392" cy="365760"/>
          </a:xfrm>
          <a:prstGeom prst="rect">
            <a:avLst/>
          </a:prstGeom>
          <a:noFill/>
        </p:spPr>
        <p:txBody>
          <a:bodyPr wrap="square">
            <a:spAutoFit/>
          </a:bodyPr>
          <a:lstStyle/>
          <a:p>
            <a:pPr algn="l"/>
            <a:r>
              <a:rPr sz="1250" b="1" i="0">
                <a:solidFill>
                  <a:srgbClr val="2F6B4F"/>
                </a:solidFill>
                <a:latin typeface="Segoe UI"/>
              </a:rPr>
              <a:t>Déchets et ressources</a:t>
            </a:r>
          </a:p>
        </p:txBody>
      </p:sp>
      <p:sp>
        <p:nvSpPr>
          <p:cNvPr id="23" name="TextBox 22"/>
          <p:cNvSpPr txBox="1"/>
          <p:nvPr/>
        </p:nvSpPr>
        <p:spPr>
          <a:xfrm>
            <a:off x="6309360" y="5698998"/>
            <a:ext cx="5422392" cy="683514"/>
          </a:xfrm>
          <a:prstGeom prst="rect">
            <a:avLst/>
          </a:prstGeom>
          <a:noFill/>
        </p:spPr>
        <p:txBody>
          <a:bodyPr wrap="square">
            <a:spAutoFit/>
          </a:bodyPr>
          <a:lstStyle/>
          <a:p>
            <a:pPr algn="l"/>
            <a:r>
              <a:rPr sz="1050" b="0" i="0">
                <a:solidFill>
                  <a:srgbClr val="1E2B26"/>
                </a:solidFill>
                <a:latin typeface="Segoe UI"/>
              </a:rPr>
              <a:t>Le tri et les filières sont en place. L'enjeu suivant est la réduction à la source, car un déchet bien recyclé reste une matière achetée puis perdue.</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4/6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la diversité et la formation sont les leviers pour transformer la conformité en avantage compétitif.</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sociaux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835508"/>
          </a:xfrm>
          <a:prstGeom prst="rect">
            <a:avLst/>
          </a:prstGeom>
        </p:spPr>
      </p:pic>
      <p:pic>
        <p:nvPicPr>
          <p:cNvPr id="7" name="Picture 6" descr="image.png"/>
          <p:cNvPicPr>
            <a:picLocks noChangeAspect="1"/>
          </p:cNvPicPr>
          <p:nvPr/>
        </p:nvPicPr>
        <p:blipFill>
          <a:blip r:embed="rId3"/>
          <a:stretch>
            <a:fillRect/>
          </a:stretch>
        </p:blipFill>
        <p:spPr>
          <a:xfrm>
            <a:off x="365760" y="3389988"/>
            <a:ext cx="5486400" cy="1418132"/>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3D6A8A"/>
                </a:solidFill>
                <a:latin typeface="Segoe UI"/>
              </a:rPr>
              <a:t>Santé et sécurité au travail</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Ce résultat témoigne d'une prévention installée. Il doit être protégé : un bon taux de fréquence peut coexister avec des risques graves mais rares, ou avec des troubles musculosquelettiques qui ne se traduisent pas immédiatement en arrêts.</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3D6A8A"/>
                </a:solidFill>
                <a:latin typeface="Segoe UI"/>
              </a:rPr>
              <a:t>Fidélisation et compétences</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Aucun des deux indicateurs n'appelle d'alerte, sans que l'un ou l'autre constitue un avantage distinctif. Les suivre par métier et par site permettrait de repérer les poches de fragilité que la moyenne masque.</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3D6A8A"/>
                </a:solidFill>
                <a:latin typeface="Segoe UI"/>
              </a:rPr>
              <a:t>Mixité des équipes</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L'industrie reste un secteur historiquement très masculin, en particulier dans les métiers de la production et de la maintenance.</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6/8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de gouvernance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202834"/>
          </a:xfrm>
          <a:prstGeom prst="rect">
            <a:avLst/>
          </a:prstGeom>
        </p:spPr>
      </p:pic>
      <p:pic>
        <p:nvPicPr>
          <p:cNvPr id="7" name="Picture 6" descr="image.png"/>
          <p:cNvPicPr>
            <a:picLocks noChangeAspect="1"/>
          </p:cNvPicPr>
          <p:nvPr/>
        </p:nvPicPr>
        <p:blipFill>
          <a:blip r:embed="rId3"/>
          <a:stretch>
            <a:fillRect/>
          </a:stretch>
        </p:blipFill>
        <p:spPr>
          <a:xfrm>
            <a:off x="365760" y="2757314"/>
            <a:ext cx="5486400" cy="1860297"/>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6B5B86"/>
                </a:solidFill>
                <a:latin typeface="Segoe UI"/>
              </a:rPr>
              <a:t>Pilotage de la démarche de durabilité</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6B5B86"/>
                </a:solidFill>
                <a:latin typeface="Segoe UI"/>
              </a:rPr>
              <a:t>Le conseil d'administration</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Le conseil compte 9 membres, dont 4 indépendants (45 %) et 4 femmes (44 %). Cette taille permet de réunir des compétences variées sans alourdir les délibérations.</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6B5B86"/>
                </a:solidFill>
                <a:latin typeface="Segoe UI"/>
              </a:rPr>
              <a:t>Éthique, intégrité et sécurité de l'information</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Une violation de données a été déclarée. Chaque incident expose l'entreprise à des coûts de remédiation, à une perte de confiance des clients et, le cas échéant, à des obligations de notification.</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en place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objectif 50 %)</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Dépendance énergie fossile : exposition à la hausse des prix</a:t>
            </a:r>
          </a:p>
        </p:txBody>
      </p:sp>
      <p:sp>
        <p:nvSpPr>
          <p:cNvPr id="21" name="Rounded Rectangle 20"/>
          <p:cNvSpPr/>
          <p:nvPr/>
        </p:nvSpPr>
        <p:spPr>
          <a:xfrm>
            <a:off x="548640" y="4389120"/>
            <a:ext cx="859536"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859536" cy="237744"/>
          </a:xfrm>
          <a:prstGeom prst="rect">
            <a:avLst/>
          </a:prstGeom>
          <a:noFill/>
        </p:spPr>
        <p:txBody>
          <a:bodyPr wrap="square">
            <a:spAutoFit/>
          </a:bodyPr>
          <a:lstStyle/>
          <a:p>
            <a:pPr algn="ctr"/>
            <a:r>
              <a:rPr sz="950" b="1" i="0">
                <a:solidFill>
                  <a:srgbClr val="FFFFFF"/>
                </a:solidFill>
                <a:latin typeface="Segoe UI"/>
              </a:rPr>
              <a:t>Social</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Mixité de l'effectif déséquilibrée : risque d'attractivité employeur</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50 %</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indépendant, exigée des entreprises soumises à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50 %</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90 premiers jours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6675120" cy="548640"/>
          </a:xfrm>
          <a:prstGeom prst="rect">
            <a:avLst/>
          </a:prstGeom>
          <a:noFill/>
        </p:spPr>
        <p:txBody>
          <a:bodyPr wrap="square">
            <a:spAutoFit/>
          </a:bodyPr>
          <a:lstStyle/>
          <a:p>
            <a:pPr algn="l"/>
            <a:r>
              <a:rPr sz="1300" b="0" i="0">
                <a:solidFill>
                  <a:srgbClr val="5F6B64"/>
                </a:solidFill>
                <a:latin typeface="Segoe UI"/>
              </a:rPr>
              <a:t>Ces décisions permettent d'engager le plan sans attendre les chantiers structurants :</a:t>
            </a:r>
          </a:p>
        </p:txBody>
      </p:sp>
      <p:sp>
        <p:nvSpPr>
          <p:cNvPr id="7" name="Oval 6"/>
          <p:cNvSpPr/>
          <p:nvPr/>
        </p:nvSpPr>
        <p:spPr>
          <a:xfrm>
            <a:off x="457200" y="201168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057400"/>
            <a:ext cx="548640" cy="457200"/>
          </a:xfrm>
          <a:prstGeom prst="rect">
            <a:avLst/>
          </a:prstGeom>
          <a:noFill/>
        </p:spPr>
        <p:txBody>
          <a:bodyPr wrap="square">
            <a:spAutoFit/>
          </a:bodyPr>
          <a:lstStyle/>
          <a:p>
            <a:pPr algn="ctr"/>
            <a:r>
              <a:rPr sz="2000" b="1" i="0">
                <a:solidFill>
                  <a:srgbClr val="FFFFFF"/>
                </a:solidFill>
                <a:latin typeface="Georgia"/>
              </a:rPr>
              <a:t>1</a:t>
            </a:r>
          </a:p>
        </p:txBody>
      </p:sp>
      <p:sp>
        <p:nvSpPr>
          <p:cNvPr id="9" name="TextBox 8"/>
          <p:cNvSpPr txBox="1"/>
          <p:nvPr/>
        </p:nvSpPr>
        <p:spPr>
          <a:xfrm>
            <a:off x="1188720" y="1993392"/>
            <a:ext cx="5943600" cy="1371600"/>
          </a:xfrm>
          <a:prstGeom prst="rect">
            <a:avLst/>
          </a:prstGeom>
          <a:noFill/>
        </p:spPr>
        <p:txBody>
          <a:bodyPr wrap="square">
            <a:spAutoFit/>
          </a:bodyPr>
          <a:lstStyle/>
          <a:p>
            <a:pPr algn="l"/>
            <a:r>
              <a:rPr sz="1300" b="0" i="0">
                <a:solidFill>
                  <a:srgbClr val="1E2B26"/>
                </a:solidFill>
                <a:latin typeface="Segoe UI"/>
              </a:rPr>
              <a:t>Analyser les causes de chaque incident et vérifier que le dispositif d'alerte, les contrôles internes et la sensibilisation couvrent les situations rencontrées.</a:t>
            </a:r>
          </a:p>
        </p:txBody>
      </p:sp>
      <p:sp>
        <p:nvSpPr>
          <p:cNvPr id="10" name="Oval 9"/>
          <p:cNvSpPr/>
          <p:nvPr/>
        </p:nvSpPr>
        <p:spPr>
          <a:xfrm>
            <a:off x="457200" y="347472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520440"/>
            <a:ext cx="548640" cy="457200"/>
          </a:xfrm>
          <a:prstGeom prst="rect">
            <a:avLst/>
          </a:prstGeom>
          <a:noFill/>
        </p:spPr>
        <p:txBody>
          <a:bodyPr wrap="square">
            <a:spAutoFit/>
          </a:bodyPr>
          <a:lstStyle/>
          <a:p>
            <a:pPr algn="ctr"/>
            <a:r>
              <a:rPr sz="2000" b="1" i="0">
                <a:solidFill>
                  <a:srgbClr val="FFFFFF"/>
                </a:solidFill>
                <a:latin typeface="Georgia"/>
              </a:rPr>
              <a:t>2</a:t>
            </a:r>
          </a:p>
        </p:txBody>
      </p:sp>
      <p:sp>
        <p:nvSpPr>
          <p:cNvPr id="12" name="TextBox 11"/>
          <p:cNvSpPr txBox="1"/>
          <p:nvPr/>
        </p:nvSpPr>
        <p:spPr>
          <a:xfrm>
            <a:off x="1188720" y="3456432"/>
            <a:ext cx="5943600" cy="1371600"/>
          </a:xfrm>
          <a:prstGeom prst="rect">
            <a:avLst/>
          </a:prstGeom>
          <a:noFill/>
        </p:spPr>
        <p:txBody>
          <a:bodyPr wrap="square">
            <a:spAutoFit/>
          </a:bodyPr>
          <a:lstStyle/>
          <a:p>
            <a:pPr algn="l"/>
            <a:r>
              <a:rPr sz="1300" b="0" i="0">
                <a:solidFill>
                  <a:srgbClr val="1E2B26"/>
                </a:solidFill>
                <a:latin typeface="Segoe UI"/>
              </a:rPr>
              <a:t>Faire revoir par un tiers deux ou trois indicateurs clés avant la prochaine publication.</a:t>
            </a:r>
          </a:p>
        </p:txBody>
      </p:sp>
      <p:sp>
        <p:nvSpPr>
          <p:cNvPr id="13" name="Rectangle 12"/>
          <p:cNvSpPr/>
          <p:nvPr/>
        </p:nvSpPr>
        <p:spPr>
          <a:xfrm>
            <a:off x="7543800" y="1371600"/>
            <a:ext cx="4251960" cy="502920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371600"/>
            <a:ext cx="73152" cy="50292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508760"/>
            <a:ext cx="3840480" cy="411480"/>
          </a:xfrm>
          <a:prstGeom prst="rect">
            <a:avLst/>
          </a:prstGeom>
          <a:noFill/>
        </p:spPr>
        <p:txBody>
          <a:bodyPr wrap="square">
            <a:spAutoFit/>
          </a:bodyPr>
          <a:lstStyle/>
          <a:p>
            <a:pPr algn="l"/>
            <a:r>
              <a:rPr sz="1400" b="1" i="0">
                <a:solidFill>
                  <a:srgbClr val="2E5A4B"/>
                </a:solidFill>
                <a:latin typeface="Segoe UI"/>
              </a:rPr>
              <a:t>Si rien ne change d'ici 2030</a:t>
            </a:r>
          </a:p>
        </p:txBody>
      </p:sp>
      <p:sp>
        <p:nvSpPr>
          <p:cNvPr id="16" name="TextBox 15"/>
          <p:cNvSpPr txBox="1"/>
          <p:nvPr/>
        </p:nvSpPr>
        <p:spPr>
          <a:xfrm>
            <a:off x="7818120" y="2011680"/>
            <a:ext cx="3840480" cy="4297680"/>
          </a:xfrm>
          <a:prstGeom prst="rect">
            <a:avLst/>
          </a:prstGeom>
          <a:noFill/>
        </p:spPr>
        <p:txBody>
          <a:bodyPr wrap="square">
            <a:spAutoFit/>
          </a:bodyPr>
          <a:lstStyle/>
          <a:p>
            <a:pPr algn="l"/>
            <a:r>
              <a:rPr sz="1150" b="0" i="0">
                <a:solidFill>
                  <a:srgbClr val="1E2B26"/>
                </a:solidFill>
                <a:latin typeface="Segoe UI"/>
              </a:rPr>
              <a:t>Pour l'intégrité et la sécurité de l'information, chaque nouvel incident sera lu comme le signe d'un défaut de contrôle, avec des conséquences croissantes sur la réputation et les relations d'affaires.
Pour le pilotage de la démarche, la démarche restera dépendante de quelques personnes et difficile à rendre crédible à l'extérieur.</a:t>
            </a:r>
          </a:p>
        </p:txBody>
      </p:sp>
      <p:sp>
        <p:nvSpPr>
          <p:cNvPr id="17" name="TextBox 16"/>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50 %</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